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52" r:id="rId2"/>
    <p:sldId id="455" r:id="rId3"/>
    <p:sldId id="444" r:id="rId4"/>
    <p:sldId id="445" r:id="rId5"/>
    <p:sldId id="446" r:id="rId6"/>
    <p:sldId id="456" r:id="rId7"/>
    <p:sldId id="457" r:id="rId8"/>
    <p:sldId id="447" r:id="rId9"/>
    <p:sldId id="448" r:id="rId10"/>
    <p:sldId id="449" r:id="rId11"/>
    <p:sldId id="458" r:id="rId12"/>
    <p:sldId id="451" r:id="rId13"/>
    <p:sldId id="452" r:id="rId14"/>
    <p:sldId id="459" r:id="rId15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5pPr>
    <a:lvl6pPr marL="22860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6pPr>
    <a:lvl7pPr marL="27432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7pPr>
    <a:lvl8pPr marL="32004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8pPr>
    <a:lvl9pPr marL="36576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336600"/>
    <a:srgbClr val="666633"/>
    <a:srgbClr val="646464"/>
    <a:srgbClr val="323232"/>
    <a:srgbClr val="003232"/>
    <a:srgbClr val="FF9999"/>
    <a:srgbClr val="191932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0189" autoAdjust="0"/>
  </p:normalViewPr>
  <p:slideViewPr>
    <p:cSldViewPr>
      <p:cViewPr varScale="1">
        <p:scale>
          <a:sx n="66" d="100"/>
          <a:sy n="66" d="100"/>
        </p:scale>
        <p:origin x="-157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44"/>
    </p:cViewPr>
  </p:sorterViewPr>
  <p:notesViewPr>
    <p:cSldViewPr>
      <p:cViewPr>
        <p:scale>
          <a:sx n="100" d="100"/>
          <a:sy n="100" d="100"/>
        </p:scale>
        <p:origin x="-864" y="24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Your name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74C6947-A137-4DFB-8E2C-F9E5B6E57AF5}" type="datetime1">
              <a:rPr lang="en-US"/>
              <a:pPr>
                <a:defRPr/>
              </a:pPr>
              <a:t>12/16/2013</a:t>
            </a:fld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0E69996-3522-4297-9598-3C82927E52A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46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9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A38603D-4D37-4190-8AFD-940960CB69CE}" type="datetime1">
              <a:rPr lang="en-US"/>
              <a:pPr>
                <a:defRPr/>
              </a:pPr>
              <a:t>12/16/2013</a:t>
            </a:fld>
            <a:endParaRPr 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A1EA3FD-E1F2-4856-9983-755A94860B0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5397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3A9ED01-ED18-4F68-8723-24AE22B5C17E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3731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E24B1C-61D7-4926-AE9D-EF29E6C0955C}" type="slidenum">
              <a:rPr lang="ar-SA" smtClean="0"/>
              <a:pPr/>
              <a:t>1</a:t>
            </a:fld>
            <a:endParaRPr lang="en-US" smtClean="0"/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fa-IR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3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4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5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6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7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8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9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10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11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13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3A9ED01-ED18-4F68-8723-24AE22B5C17E}" type="datetime1">
              <a:rPr lang="en-US" smtClean="0"/>
              <a:pPr/>
              <a:t>12/16/2013</a:t>
            </a:fld>
            <a:endParaRPr lang="en-US" smtClean="0"/>
          </a:p>
        </p:txBody>
      </p:sp>
      <p:sp>
        <p:nvSpPr>
          <p:cNvPr id="73731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E24B1C-61D7-4926-AE9D-EF29E6C0955C}" type="slidenum">
              <a:rPr lang="ar-SA" smtClean="0"/>
              <a:pPr/>
              <a:t>14</a:t>
            </a:fld>
            <a:endParaRPr lang="en-US" smtClean="0"/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fa-IR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Arc 3"/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2743200" y="427038"/>
            <a:ext cx="6399213" cy="1524000"/>
          </a:xfrm>
        </p:spPr>
        <p:txBody>
          <a:bodyPr anchor="b"/>
          <a:lstStyle>
            <a:lvl1pPr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191000" y="1752600"/>
            <a:ext cx="45720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6E4BB-5083-427D-889F-71AA4537B9D3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C3564-4D1F-4D60-8110-108EEE6DB99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38CA-ACBC-4504-ADC0-CAA669E75AA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19400" y="1981200"/>
            <a:ext cx="2971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981200"/>
            <a:ext cx="2971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69E82-402D-467E-AC56-6FE5B5B3678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DA0CE-A904-4F2B-9D33-F7F5B0CF86D1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02D4D-7DAA-4B9D-9AED-BD2B67337C4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E8294-AB82-4198-B9F0-C509E13612B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D6148-412E-4D8C-BC2A-A1334A51E714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DC550-B673-4CAD-BD2D-87559E4A787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4C629-FF8D-45AD-A0D2-D4137616233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609600"/>
            <a:ext cx="1524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19400" y="609600"/>
            <a:ext cx="44196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625F7-4E0B-489A-B758-710384248713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819400" y="609600"/>
            <a:ext cx="6096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19400" y="19812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943600" y="19812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819400" y="41148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43600" y="41148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38657-F97C-4B69-BBA3-11D592EB288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819400" y="609600"/>
            <a:ext cx="60960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55CB5-637F-4580-939F-65B97B3AA67F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609600"/>
            <a:ext cx="6096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19400" y="1981200"/>
            <a:ext cx="2971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943600" y="19812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943600" y="41148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BA841-D39C-4919-AAEB-1523556FDBE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rc 2"/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19400" y="609600"/>
            <a:ext cx="6096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19400" y="1981200"/>
            <a:ext cx="6096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 b="0">
                <a:solidFill>
                  <a:schemeClr val="hlink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XI. PDF method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hlink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hlink"/>
                </a:solidFill>
                <a:latin typeface="+mn-lt"/>
                <a:cs typeface="Arial" charset="0"/>
              </a:defRPr>
            </a:lvl1pPr>
          </a:lstStyle>
          <a:p>
            <a:pPr>
              <a:defRPr/>
            </a:pPr>
            <a:fld id="{DA50D7D3-78DD-4D58-B511-85E8AE2B5CC5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</p:sldLayoutIdLst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  <p:bldP spid="1028" grpId="0" build="p">
        <p:tmplLst>
          <p:tmpl lvl="1">
            <p:tnLst>
              <p:par>
                <p:cTn presetID="50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5pPr>
      <a:lvl6pPr marL="4572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6pPr>
      <a:lvl7pPr marL="9144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7pPr>
      <a:lvl8pPr marL="13716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8pPr>
      <a:lvl9pPr marL="18288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kumimoji="1"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11.png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7.bin"/><Relationship Id="rId4" Type="http://schemas.openxmlformats.org/officeDocument/2006/relationships/image" Target="../media/image5.png"/><Relationship Id="rId9" Type="http://schemas.openxmlformats.org/officeDocument/2006/relationships/image" Target="../media/image7.wmf"/><Relationship Id="rId1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7.bin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4.wmf"/><Relationship Id="rId4" Type="http://schemas.openxmlformats.org/officeDocument/2006/relationships/image" Target="../media/image5.png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2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27.bin"/><Relationship Id="rId5" Type="http://schemas.openxmlformats.org/officeDocument/2006/relationships/image" Target="../media/image23.wmf"/><Relationship Id="rId10" Type="http://schemas.openxmlformats.org/officeDocument/2006/relationships/image" Target="../media/image25.wmf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D:\News\New%20works\aut\LES\CHAP%20IX\sandia1-4.avi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/>
          <p:cNvSpPr>
            <a:spLocks noChangeArrowheads="1"/>
          </p:cNvSpPr>
          <p:nvPr/>
        </p:nvSpPr>
        <p:spPr bwMode="auto">
          <a:xfrm>
            <a:off x="0" y="38862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4" name="Rectangle 54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5" name="Rectangle 57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6" name="Rectangle 58"/>
          <p:cNvSpPr>
            <a:spLocks noChangeArrowheads="1"/>
          </p:cNvSpPr>
          <p:nvPr/>
        </p:nvSpPr>
        <p:spPr bwMode="auto">
          <a:xfrm>
            <a:off x="0" y="36957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7" name="Rectangle 64"/>
          <p:cNvSpPr>
            <a:spLocks noChangeArrowheads="1"/>
          </p:cNvSpPr>
          <p:nvPr/>
        </p:nvSpPr>
        <p:spPr bwMode="auto">
          <a:xfrm>
            <a:off x="0" y="3171825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8" name="Rectangle 65"/>
          <p:cNvSpPr>
            <a:spLocks noChangeArrowheads="1"/>
          </p:cNvSpPr>
          <p:nvPr/>
        </p:nvSpPr>
        <p:spPr bwMode="auto">
          <a:xfrm>
            <a:off x="0" y="3686175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01664" y="685800"/>
            <a:ext cx="657551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Numerical Simulation</a:t>
            </a: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 of </a:t>
            </a: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Turbulent Flows</a:t>
            </a:r>
            <a:r>
              <a:rPr lang="en-US" sz="44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 - </a:t>
            </a:r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lin ang="5400000" scaled="1"/>
                  <a:tileRect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LES</a:t>
            </a:r>
            <a:endParaRPr lang="en-US" sz="4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99"/>
                  </a:gs>
                  <a:gs pos="39999">
                    <a:srgbClr val="0A128C"/>
                  </a:gs>
                  <a:gs pos="70000">
                    <a:srgbClr val="181CC7"/>
                  </a:gs>
                  <a:gs pos="88000">
                    <a:srgbClr val="7005D4"/>
                  </a:gs>
                  <a:gs pos="100000">
                    <a:srgbClr val="8C3D91"/>
                  </a:gs>
                </a:gsLst>
                <a:lin ang="5400000" scaled="0"/>
              </a:gradFill>
              <a:effectLst>
                <a:outerShdw blurRad="50800" algn="tl" rotWithShape="0">
                  <a:srgbClr val="000000"/>
                </a:outerShdw>
              </a:effectLst>
              <a:latin typeface="Cooper Black" pitchFamily="18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343400"/>
            <a:ext cx="6858000" cy="19812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360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CHAP IX. An introduction to probability density function (PDF) method</a:t>
            </a:r>
          </a:p>
        </p:txBody>
      </p:sp>
      <p:sp>
        <p:nvSpPr>
          <p:cNvPr id="12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2895600" y="36576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sz="240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Amani</a:t>
            </a:r>
            <a:endParaRPr lang="en-US" sz="24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905000"/>
            <a:ext cx="8229600" cy="5638800"/>
          </a:xfrm>
        </p:spPr>
        <p:txBody>
          <a:bodyPr/>
          <a:lstStyle/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Mass:</a:t>
            </a:r>
            <a:r>
              <a:rPr lang="en-US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Momentum (</a:t>
            </a:r>
            <a:r>
              <a:rPr lang="en-US" sz="2000" b="1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i</a:t>
            </a: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=1, 2, 3):</a:t>
            </a:r>
            <a:r>
              <a:rPr lang="en-US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Species </a:t>
            </a:r>
            <a:r>
              <a:rPr lang="en-US" sz="2000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(N species with k=1,..,N):</a:t>
            </a:r>
            <a:r>
              <a:rPr lang="en-US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endParaRPr lang="en-US" sz="2000" b="1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Total enthalpy </a:t>
            </a:r>
            <a:r>
              <a:rPr lang="en-US" sz="2000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(ht = h + </a:t>
            </a:r>
            <a:r>
              <a:rPr lang="en-US" sz="2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u</a:t>
            </a:r>
            <a:r>
              <a:rPr lang="en-US" sz="2000" baseline="-25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i</a:t>
            </a:r>
            <a:r>
              <a:rPr lang="en-US" sz="2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u</a:t>
            </a:r>
            <a:r>
              <a:rPr lang="en-US" sz="2000" baseline="-25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i</a:t>
            </a:r>
            <a:r>
              <a:rPr lang="en-US" sz="2000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/2):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sz="2000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</p:txBody>
      </p:sp>
      <p:graphicFrame>
        <p:nvGraphicFramePr>
          <p:cNvPr id="17" name="Object 11"/>
          <p:cNvGraphicFramePr>
            <a:graphicFrameLocks noChangeAspect="1"/>
          </p:cNvGraphicFramePr>
          <p:nvPr/>
        </p:nvGraphicFramePr>
        <p:xfrm>
          <a:off x="2392363" y="2209800"/>
          <a:ext cx="144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Equation" r:id="rId4" imgW="939600" imgH="469800" progId="Equation.DSMT4">
                  <p:embed/>
                </p:oleObj>
              </mc:Choice>
              <mc:Fallback>
                <p:oleObj name="Equation" r:id="rId4" imgW="939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2209800"/>
                        <a:ext cx="1447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Oval 37"/>
          <p:cNvSpPr>
            <a:spLocks noChangeArrowheads="1"/>
          </p:cNvSpPr>
          <p:nvPr/>
        </p:nvSpPr>
        <p:spPr bwMode="auto">
          <a:xfrm>
            <a:off x="4221163" y="3251200"/>
            <a:ext cx="685800" cy="3810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>
              <a:solidFill>
                <a:srgbClr val="010000"/>
              </a:solidFill>
            </a:endParaRPr>
          </a:p>
        </p:txBody>
      </p:sp>
      <p:graphicFrame>
        <p:nvGraphicFramePr>
          <p:cNvPr id="19" name="Object 53"/>
          <p:cNvGraphicFramePr>
            <a:graphicFrameLocks noChangeAspect="1"/>
          </p:cNvGraphicFramePr>
          <p:nvPr/>
        </p:nvGraphicFramePr>
        <p:xfrm>
          <a:off x="2392363" y="3263900"/>
          <a:ext cx="3060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Equation" r:id="rId6" imgW="2031840" imgH="495000" progId="Equation.DSMT4">
                  <p:embed/>
                </p:oleObj>
              </mc:Choice>
              <mc:Fallback>
                <p:oleObj name="Equation" r:id="rId6" imgW="20318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3263900"/>
                        <a:ext cx="30607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6"/>
          <p:cNvGraphicFramePr>
            <a:graphicFrameLocks noChangeAspect="1"/>
          </p:cNvGraphicFramePr>
          <p:nvPr/>
        </p:nvGraphicFramePr>
        <p:xfrm>
          <a:off x="2392363" y="4394200"/>
          <a:ext cx="507523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Equation" r:id="rId8" imgW="3429000" imgH="520560" progId="Equation.DSMT4">
                  <p:embed/>
                </p:oleObj>
              </mc:Choice>
              <mc:Fallback>
                <p:oleObj name="Equation" r:id="rId8" imgW="34290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4394200"/>
                        <a:ext cx="5075237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Oval 59"/>
          <p:cNvSpPr>
            <a:spLocks noChangeArrowheads="1"/>
          </p:cNvSpPr>
          <p:nvPr/>
        </p:nvSpPr>
        <p:spPr bwMode="auto">
          <a:xfrm>
            <a:off x="4221163" y="4394200"/>
            <a:ext cx="6858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>
              <a:solidFill>
                <a:srgbClr val="010000"/>
              </a:solidFill>
            </a:endParaRPr>
          </a:p>
        </p:txBody>
      </p:sp>
      <p:sp>
        <p:nvSpPr>
          <p:cNvPr id="22" name="Oval 60"/>
          <p:cNvSpPr>
            <a:spLocks noChangeArrowheads="1"/>
          </p:cNvSpPr>
          <p:nvPr/>
        </p:nvSpPr>
        <p:spPr bwMode="auto">
          <a:xfrm>
            <a:off x="5516563" y="4546600"/>
            <a:ext cx="4572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>
              <a:solidFill>
                <a:srgbClr val="010000"/>
              </a:solidFill>
            </a:endParaRPr>
          </a:p>
        </p:txBody>
      </p:sp>
      <p:graphicFrame>
        <p:nvGraphicFramePr>
          <p:cNvPr id="23" name="Object 63"/>
          <p:cNvGraphicFramePr>
            <a:graphicFrameLocks noChangeAspect="1"/>
          </p:cNvGraphicFramePr>
          <p:nvPr/>
        </p:nvGraphicFramePr>
        <p:xfrm>
          <a:off x="2468563" y="5461000"/>
          <a:ext cx="42672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Equation" r:id="rId10" imgW="2717640" imgH="520560" progId="Equation.DSMT4">
                  <p:embed/>
                </p:oleObj>
              </mc:Choice>
              <mc:Fallback>
                <p:oleObj name="Equation" r:id="rId10" imgW="27176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5461000"/>
                        <a:ext cx="4267200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Oval 66"/>
          <p:cNvSpPr>
            <a:spLocks noChangeArrowheads="1"/>
          </p:cNvSpPr>
          <p:nvPr/>
        </p:nvSpPr>
        <p:spPr bwMode="auto">
          <a:xfrm>
            <a:off x="4297363" y="5461000"/>
            <a:ext cx="6858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>
              <a:solidFill>
                <a:srgbClr val="010000"/>
              </a:solidFill>
            </a:endParaRPr>
          </a:p>
        </p:txBody>
      </p:sp>
      <p:sp>
        <p:nvSpPr>
          <p:cNvPr id="25" name="Oval 67"/>
          <p:cNvSpPr>
            <a:spLocks noChangeArrowheads="1"/>
          </p:cNvSpPr>
          <p:nvPr/>
        </p:nvSpPr>
        <p:spPr bwMode="auto">
          <a:xfrm>
            <a:off x="6354763" y="5689600"/>
            <a:ext cx="4572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>
              <a:solidFill>
                <a:srgbClr val="010000"/>
              </a:solidFill>
            </a:endParaRPr>
          </a:p>
        </p:txBody>
      </p:sp>
      <p:cxnSp>
        <p:nvCxnSpPr>
          <p:cNvPr id="26" name="AutoShape 68"/>
          <p:cNvCxnSpPr>
            <a:cxnSpLocks noChangeShapeType="1"/>
            <a:stCxn id="22" idx="5"/>
            <a:endCxn id="25" idx="1"/>
          </p:cNvCxnSpPr>
          <p:nvPr/>
        </p:nvCxnSpPr>
        <p:spPr bwMode="auto">
          <a:xfrm>
            <a:off x="5907088" y="4949825"/>
            <a:ext cx="514350" cy="793750"/>
          </a:xfrm>
          <a:prstGeom prst="straightConnector1">
            <a:avLst/>
          </a:prstGeom>
          <a:noFill/>
          <a:ln w="9525" cap="sq">
            <a:solidFill>
              <a:srgbClr val="FF0000"/>
            </a:solidFill>
            <a:round/>
            <a:headEnd type="triangle" w="med" len="lg"/>
            <a:tailEnd type="triangle" w="med" len="lg"/>
          </a:ln>
        </p:spPr>
      </p:cxn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152400" y="76200"/>
            <a:ext cx="7696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algn="l">
              <a:lnSpc>
                <a:spcPct val="70000"/>
              </a:lnSpc>
              <a:defRPr/>
            </a:pPr>
            <a:r>
              <a:rPr lang="en-US" sz="3200" kern="0" dirty="0" smtClean="0">
                <a:solidFill>
                  <a:srgbClr val="000099"/>
                </a:solidFill>
                <a:latin typeface="Cambria" pitchFamily="18" charset="0"/>
              </a:rPr>
              <a:t>RANS</a:t>
            </a:r>
          </a:p>
        </p:txBody>
      </p:sp>
      <p:sp>
        <p:nvSpPr>
          <p:cNvPr id="29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rgbClr val="010000"/>
              </a:buClr>
              <a:buSzPct val="75000"/>
              <a:defRPr/>
            </a:pPr>
            <a:r>
              <a:rPr lang="en-US" sz="2800" kern="0" dirty="0" smtClean="0">
                <a:solidFill>
                  <a:srgbClr val="336699">
                    <a:lumMod val="75000"/>
                  </a:srgbClr>
                </a:solidFill>
                <a:latin typeface="Cambria" pitchFamily="18" charset="0"/>
              </a:rPr>
              <a:t>Deterministic governing equations</a:t>
            </a:r>
          </a:p>
          <a:p>
            <a:pPr marL="952500" lvl="1" indent="-495300" algn="l">
              <a:spcBef>
                <a:spcPct val="20000"/>
              </a:spcBef>
              <a:buClr>
                <a:srgbClr val="010000"/>
              </a:buClr>
              <a:buSzPct val="75000"/>
              <a:defRPr/>
            </a:pPr>
            <a:endParaRPr lang="en-US" sz="2800" kern="0" dirty="0" smtClean="0">
              <a:solidFill>
                <a:srgbClr val="336699">
                  <a:lumMod val="75000"/>
                </a:srgbClr>
              </a:solidFill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rgbClr val="010000"/>
              </a:buClr>
              <a:buSzPct val="75000"/>
              <a:defRPr/>
            </a:pPr>
            <a:endParaRPr lang="en-US" sz="800" kern="0" dirty="0" smtClean="0">
              <a:solidFill>
                <a:srgbClr val="336699">
                  <a:lumMod val="75000"/>
                </a:srgbClr>
              </a:solidFill>
              <a:latin typeface="Cambria" pitchFamily="18" charset="0"/>
            </a:endParaRPr>
          </a:p>
        </p:txBody>
      </p:sp>
      <p:sp>
        <p:nvSpPr>
          <p:cNvPr id="32" name="AutoShape 21"/>
          <p:cNvSpPr>
            <a:spLocks noChangeArrowheads="1"/>
          </p:cNvSpPr>
          <p:nvPr/>
        </p:nvSpPr>
        <p:spPr bwMode="auto">
          <a:xfrm>
            <a:off x="4724400" y="2362200"/>
            <a:ext cx="1524000" cy="762000"/>
          </a:xfrm>
          <a:prstGeom prst="wedgeRoundRectCallout">
            <a:avLst>
              <a:gd name="adj1" fmla="val -39480"/>
              <a:gd name="adj2" fmla="val 68333"/>
              <a:gd name="adj3" fmla="val 16667"/>
            </a:avLst>
          </a:prstGeom>
          <a:noFill/>
          <a:ln w="25400" cap="sq" algn="ctr">
            <a:solidFill>
              <a:srgbClr val="FF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</a:rPr>
              <a:t>Reynolds stresses</a:t>
            </a:r>
            <a:endParaRPr lang="en-US" sz="2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7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1600" b="0" dirty="0" smtClean="0">
                <a:solidFill>
                  <a:srgbClr val="336699">
                    <a:lumMod val="75000"/>
                  </a:srgbClr>
                </a:solidFill>
                <a:latin typeface="Cooper Black" pitchFamily="18" charset="0"/>
                <a:ea typeface="Cambria Math" pitchFamily="18" charset="0"/>
              </a:rPr>
              <a:t>XI. PDF method</a:t>
            </a:r>
            <a:endParaRPr lang="en-US" sz="1600" b="0" dirty="0">
              <a:solidFill>
                <a:srgbClr val="336699">
                  <a:lumMod val="75000"/>
                </a:srgbClr>
              </a:solidFill>
              <a:latin typeface="Cooper Black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686994"/>
      </p:ext>
    </p:ext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4" grpId="0" animBg="1"/>
      <p:bldP spid="25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PDF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Statistical point</a:t>
            </a:r>
            <a:r>
              <a:rPr kumimoji="1" lang="en-US" sz="2800" b="1" i="0" u="none" strike="noStrike" kern="0" cap="none" spc="0" normalizeH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 of view</a:t>
            </a: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4"/>
              </a:buBlip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Any </a:t>
            </a:r>
            <a:r>
              <a:rPr lang="en-US" sz="2200" b="0" kern="0" dirty="0">
                <a:solidFill>
                  <a:srgbClr val="000099"/>
                </a:solidFill>
                <a:latin typeface="Cambria" pitchFamily="18" charset="0"/>
              </a:rPr>
              <a:t>flow property is treated as a random 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variable.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14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6200" y="2438400"/>
                <a:ext cx="8153400" cy="3581400"/>
              </a:xfrm>
            </p:spPr>
            <p:txBody>
              <a:bodyPr/>
              <a:lstStyle/>
              <a:p>
                <a:pPr marL="952500" lvl="1" indent="-495300">
                  <a:lnSpc>
                    <a:spcPct val="75000"/>
                  </a:lnSpc>
                  <a:buClr>
                    <a:schemeClr val="bg2"/>
                  </a:buClr>
                  <a:buFontTx/>
                  <a:buBlip>
                    <a:blip r:embed="rId4"/>
                  </a:buBlip>
                </a:pPr>
                <a:r>
                  <a:rPr lang="en-US" sz="2200" dirty="0" smtClean="0">
                    <a:solidFill>
                      <a:srgbClr val="000099"/>
                    </a:solidFill>
                    <a:latin typeface="Cambria" pitchFamily="18" charset="0"/>
                    <a:cs typeface="Times New Roman" pitchFamily="18" charset="0"/>
                  </a:rPr>
                  <a:t>Velocity-composition space</a:t>
                </a:r>
                <a:endParaRPr lang="en-US" sz="2200" dirty="0">
                  <a:solidFill>
                    <a:srgbClr val="000099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buClr>
                    <a:srgbClr val="CC3300"/>
                  </a:buClr>
                  <a:buFont typeface="Monotype Sorts" pitchFamily="2" charset="2"/>
                  <a:buChar char="F"/>
                </a:pPr>
                <a:endParaRPr lang="en-US" sz="2000" dirty="0" smtClean="0">
                  <a:solidFill>
                    <a:srgbClr val="000099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buClr>
                    <a:srgbClr val="CC3300"/>
                  </a:buClr>
                  <a:buFont typeface="Monotype Sorts" pitchFamily="2" charset="2"/>
                  <a:buChar char="F"/>
                </a:pPr>
                <a:endParaRPr lang="en-US" sz="2000" dirty="0" smtClean="0">
                  <a:solidFill>
                    <a:srgbClr val="000099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buClr>
                    <a:srgbClr val="CC3300"/>
                  </a:buClr>
                  <a:buFont typeface="Monotype Sorts" pitchFamily="2" charset="2"/>
                  <a:buChar char="F"/>
                </a:pPr>
                <a:endParaRPr lang="en-US" sz="2000" dirty="0" smtClean="0">
                  <a:solidFill>
                    <a:srgbClr val="000099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buClr>
                    <a:srgbClr val="CC3300"/>
                  </a:buClr>
                  <a:buFont typeface="Monotype Sorts" pitchFamily="2" charset="2"/>
                  <a:buChar char="F"/>
                </a:pPr>
                <a:r>
                  <a:rPr lang="en-US" sz="2000" dirty="0" smtClean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</a:rPr>
                  <a:t>State </a:t>
                </a:r>
                <a:r>
                  <a:rPr lang="en-US" sz="2000" dirty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</a:rPr>
                  <a:t>vector   </a:t>
                </a:r>
                <a:r>
                  <a:rPr lang="en-US" sz="2000" dirty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  <a:sym typeface="Monotype Sorts" pitchFamily="2" charset="2"/>
                  </a:rPr>
                  <a:t>  </a:t>
                </a:r>
              </a:p>
              <a:p>
                <a:pPr marL="952500" lvl="1" indent="-495300">
                  <a:buClr>
                    <a:srgbClr val="CC3300"/>
                  </a:buClr>
                  <a:buFont typeface="Monotype Sorts" pitchFamily="2" charset="2"/>
                  <a:buChar char="F"/>
                </a:pPr>
                <a:r>
                  <a:rPr lang="en-US" sz="2000" dirty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</a:rPr>
                  <a:t>State sample space   </a:t>
                </a:r>
                <a:r>
                  <a:rPr lang="en-US" sz="2000" dirty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  <a:sym typeface="Monotype Sorts" pitchFamily="2" charset="2"/>
                  </a:rPr>
                  <a:t>  Velocity-Composition </a:t>
                </a:r>
                <a:r>
                  <a:rPr lang="en-US" sz="2000" dirty="0" smtClean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  <a:sym typeface="Monotype Sorts" pitchFamily="2" charset="2"/>
                  </a:rPr>
                  <a:t>space</a:t>
                </a:r>
              </a:p>
              <a:p>
                <a:pPr marL="952500" lvl="1" indent="-495300">
                  <a:buClr>
                    <a:srgbClr val="CC3300"/>
                  </a:buClr>
                  <a:buFont typeface="Monotype Sorts" pitchFamily="2" charset="2"/>
                  <a:buChar char="F"/>
                </a:pPr>
                <a:r>
                  <a:rPr lang="en-US" sz="2000" dirty="0" smtClean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</a:rPr>
                  <a:t>One-point one-time PDF </a:t>
                </a:r>
                <a:r>
                  <a:rPr lang="en-US" sz="2000" dirty="0" smtClean="0">
                    <a:solidFill>
                      <a:schemeClr val="bg2"/>
                    </a:solidFill>
                    <a:latin typeface="Cambria" pitchFamily="18" charset="0"/>
                    <a:cs typeface="Times New Roman" pitchFamily="18" charset="0"/>
                    <a:sym typeface="Monotype Sorts" pitchFamily="2" charset="2"/>
                  </a:rPr>
                  <a:t>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2"/>
                            </a:solidFill>
                            <a:latin typeface="Cambria Math"/>
                            <a:cs typeface="Times New Roman" pitchFamily="18" charset="0"/>
                            <a:sym typeface="Monotype Sorts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/>
                            <a:cs typeface="Times New Roman" pitchFamily="18" charset="0"/>
                            <a:sym typeface="Monotype Sorts" pitchFamily="2" charset="2"/>
                          </a:rPr>
                          <m:t>𝑓</m:t>
                        </m:r>
                      </m:e>
                      <m:sub>
                        <m:bar>
                          <m:barPr>
                            <m:ctrlPr>
                              <a:rPr lang="en-US" sz="2000" i="1" smtClean="0">
                                <a:solidFill>
                                  <a:schemeClr val="bg2"/>
                                </a:solidFill>
                                <a:latin typeface="Cambria Math"/>
                                <a:cs typeface="Times New Roman" pitchFamily="18" charset="0"/>
                                <a:sym typeface="Monotype Sorts" pitchFamily="2" charset="2"/>
                              </a:rPr>
                            </m:ctrlPr>
                          </m:barPr>
                          <m:e>
                            <m:r>
                              <a:rPr lang="en-US" sz="2000" i="1">
                                <a:solidFill>
                                  <a:schemeClr val="bg2"/>
                                </a:solidFill>
                                <a:latin typeface="Cambria Math"/>
                                <a:cs typeface="Times New Roman" pitchFamily="18" charset="0"/>
                                <a:sym typeface="Monotype Sorts" pitchFamily="2" charset="2"/>
                              </a:rPr>
                              <m:t>𝑢</m:t>
                            </m:r>
                            <m:r>
                              <a:rPr lang="en-US" sz="2000" i="1">
                                <a:solidFill>
                                  <a:schemeClr val="bg2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  <a:sym typeface="Monotype Sorts" pitchFamily="2" charset="2"/>
                              </a:rPr>
                              <m:t>𝜙</m:t>
                            </m:r>
                          </m:e>
                        </m:bar>
                      </m:sub>
                    </m:sSub>
                    <m:r>
                      <a:rPr lang="en-US" sz="2000" b="0" i="1" smtClean="0">
                        <a:solidFill>
                          <a:schemeClr val="bg2"/>
                        </a:solidFill>
                        <a:latin typeface="Cambria Math"/>
                        <a:cs typeface="Times New Roman" pitchFamily="18" charset="0"/>
                        <a:sym typeface="Monotype Sorts" pitchFamily="2" charset="2"/>
                      </a:rPr>
                      <m:t>(</m:t>
                    </m:r>
                    <m:bar>
                      <m:barPr>
                        <m:ctrlPr>
                          <a:rPr lang="en-US" sz="2000" i="1">
                            <a:solidFill>
                              <a:schemeClr val="bg2"/>
                            </a:solidFill>
                            <a:latin typeface="Cambria Math"/>
                            <a:cs typeface="Times New Roman" pitchFamily="18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sz="2000" i="1">
                            <a:solidFill>
                              <a:schemeClr val="bg2"/>
                            </a:solidFill>
                            <a:latin typeface="Cambria Math"/>
                            <a:cs typeface="Times New Roman" pitchFamily="18" charset="0"/>
                            <a:sym typeface="Monotype Sorts" pitchFamily="2" charset="2"/>
                          </a:rPr>
                          <m:t>𝑉</m:t>
                        </m:r>
                      </m:e>
                    </m:bar>
                    <m:r>
                      <a:rPr lang="en-US" sz="2000" i="1">
                        <a:solidFill>
                          <a:schemeClr val="bg2"/>
                        </a:solidFill>
                        <a:latin typeface="Cambria Math"/>
                        <a:cs typeface="Times New Roman" pitchFamily="18" charset="0"/>
                        <a:sym typeface="Monotype Sorts" pitchFamily="2" charset="2"/>
                      </a:rPr>
                      <m:t>,</m:t>
                    </m:r>
                    <m:bar>
                      <m:barPr>
                        <m:ctrlPr>
                          <a:rPr lang="en-US" sz="2000" i="1">
                            <a:solidFill>
                              <a:schemeClr val="bg2"/>
                            </a:solidFill>
                            <a:latin typeface="Cambria Math"/>
                            <a:cs typeface="Times New Roman" pitchFamily="18" charset="0"/>
                            <a:sym typeface="Monotype Sorts" pitchFamily="2" charset="2"/>
                          </a:rPr>
                        </m:ctrlPr>
                      </m:barPr>
                      <m:e>
                        <m:r>
                          <a:rPr lang="en-US" sz="2000" i="1">
                            <a:solidFill>
                              <a:schemeClr val="bg2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  <a:sym typeface="Monotype Sorts" pitchFamily="2" charset="2"/>
                          </a:rPr>
                          <m:t>𝜓</m:t>
                        </m:r>
                      </m:e>
                    </m:bar>
                    <m:r>
                      <a:rPr lang="en-US" sz="2000" b="0" i="1" smtClean="0">
                        <a:solidFill>
                          <a:schemeClr val="bg2"/>
                        </a:solidFill>
                        <a:latin typeface="Cambria Math"/>
                        <a:cs typeface="Times New Roman" pitchFamily="18" charset="0"/>
                        <a:sym typeface="Monotype Sorts" pitchFamily="2" charset="2"/>
                      </a:rPr>
                      <m:t>)</m:t>
                    </m:r>
                  </m:oMath>
                </a14:m>
                <a:endParaRPr lang="en-US" sz="2000" dirty="0" smtClean="0">
                  <a:solidFill>
                    <a:schemeClr val="bg2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buClr>
                    <a:srgbClr val="CC3300"/>
                  </a:buClr>
                  <a:buFont typeface="Monotype Sorts" pitchFamily="2" charset="2"/>
                  <a:buChar char="F"/>
                </a:pPr>
                <a:endParaRPr lang="en-US" sz="800" dirty="0" smtClean="0">
                  <a:solidFill>
                    <a:schemeClr val="bg2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lnSpc>
                    <a:spcPct val="75000"/>
                  </a:lnSpc>
                  <a:buClr>
                    <a:schemeClr val="bg2"/>
                  </a:buClr>
                  <a:buFontTx/>
                  <a:buBlip>
                    <a:blip r:embed="rId4"/>
                  </a:buBlip>
                </a:pPr>
                <a:r>
                  <a:rPr lang="en-US" sz="2200" dirty="0" smtClean="0">
                    <a:solidFill>
                      <a:srgbClr val="000099"/>
                    </a:solidFill>
                    <a:latin typeface="Cambria" pitchFamily="18" charset="0"/>
                    <a:cs typeface="Times New Roman" pitchFamily="18" charset="0"/>
                  </a:rPr>
                  <a:t>Mathematical Expectation</a:t>
                </a:r>
                <a:endParaRPr lang="en-US" sz="2200" dirty="0">
                  <a:solidFill>
                    <a:srgbClr val="000099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lnSpc>
                    <a:spcPct val="75000"/>
                  </a:lnSpc>
                  <a:buClr>
                    <a:schemeClr val="bg2"/>
                  </a:buClr>
                  <a:buFontTx/>
                  <a:buNone/>
                </a:pPr>
                <a:endParaRPr lang="en-US" sz="2200" dirty="0">
                  <a:solidFill>
                    <a:schemeClr val="bg2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lnSpc>
                    <a:spcPct val="75000"/>
                  </a:lnSpc>
                  <a:buClr>
                    <a:schemeClr val="bg2"/>
                  </a:buClr>
                  <a:buFontTx/>
                  <a:buNone/>
                </a:pPr>
                <a:endParaRPr lang="en-US" sz="2200" dirty="0">
                  <a:solidFill>
                    <a:schemeClr val="bg2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lnSpc>
                    <a:spcPct val="75000"/>
                  </a:lnSpc>
                  <a:buClr>
                    <a:schemeClr val="bg2"/>
                  </a:buClr>
                  <a:buFontTx/>
                  <a:buNone/>
                </a:pPr>
                <a:endParaRPr lang="en-US" sz="2200" dirty="0">
                  <a:solidFill>
                    <a:schemeClr val="bg2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lnSpc>
                    <a:spcPct val="75000"/>
                  </a:lnSpc>
                  <a:buClr>
                    <a:schemeClr val="bg2"/>
                  </a:buClr>
                  <a:buFontTx/>
                  <a:buNone/>
                </a:pPr>
                <a:endParaRPr lang="en-US" sz="2200" dirty="0">
                  <a:solidFill>
                    <a:schemeClr val="bg2"/>
                  </a:solidFill>
                  <a:latin typeface="Cambria" pitchFamily="18" charset="0"/>
                  <a:cs typeface="Times New Roman" pitchFamily="18" charset="0"/>
                </a:endParaRPr>
              </a:p>
              <a:p>
                <a:pPr marL="952500" lvl="1" indent="-495300">
                  <a:lnSpc>
                    <a:spcPct val="75000"/>
                  </a:lnSpc>
                  <a:buClr>
                    <a:schemeClr val="bg2"/>
                  </a:buClr>
                  <a:buFontTx/>
                  <a:buNone/>
                </a:pPr>
                <a:endParaRPr lang="en-US" sz="2200" dirty="0">
                  <a:solidFill>
                    <a:schemeClr val="bg2"/>
                  </a:solidFill>
                  <a:latin typeface="Cambria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2438400"/>
                <a:ext cx="8153400" cy="3581400"/>
              </a:xfrm>
              <a:blipFill rotWithShape="1">
                <a:blip r:embed="rId5"/>
                <a:stretch>
                  <a:fillRect t="-3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941700"/>
              </p:ext>
            </p:extLst>
          </p:nvPr>
        </p:nvGraphicFramePr>
        <p:xfrm>
          <a:off x="2971800" y="3810000"/>
          <a:ext cx="1828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4" name="Equation" r:id="rId6" imgW="977900" imgH="241300" progId="Equation.3">
                  <p:embed/>
                </p:oleObj>
              </mc:Choice>
              <mc:Fallback>
                <p:oleObj name="Equation" r:id="rId6" imgW="977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10000"/>
                        <a:ext cx="18288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162493"/>
              </p:ext>
            </p:extLst>
          </p:nvPr>
        </p:nvGraphicFramePr>
        <p:xfrm>
          <a:off x="6781800" y="4129088"/>
          <a:ext cx="9144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5" name="Equation" r:id="rId8" imgW="418918" imgH="241195" progId="Equation.3">
                  <p:embed/>
                </p:oleObj>
              </mc:Choice>
              <mc:Fallback>
                <p:oleObj name="Equation" r:id="rId8" imgW="41891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129088"/>
                        <a:ext cx="914400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427579"/>
              </p:ext>
            </p:extLst>
          </p:nvPr>
        </p:nvGraphicFramePr>
        <p:xfrm>
          <a:off x="1176338" y="6083300"/>
          <a:ext cx="17954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6" name="Equation" r:id="rId10" imgW="952087" imgH="203112" progId="Equation.DSMT4">
                  <p:embed/>
                </p:oleObj>
              </mc:Choice>
              <mc:Fallback>
                <p:oleObj name="Equation" r:id="rId10" imgW="952087" imgH="20311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6083300"/>
                        <a:ext cx="179546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237087"/>
              </p:ext>
            </p:extLst>
          </p:nvPr>
        </p:nvGraphicFramePr>
        <p:xfrm>
          <a:off x="1295400" y="2859704"/>
          <a:ext cx="2352675" cy="950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7" name="Equation" r:id="rId12" imgW="1295400" imgH="508000" progId="Equation.DSMT4">
                  <p:embed/>
                </p:oleObj>
              </mc:Choice>
              <mc:Fallback>
                <p:oleObj name="Equation" r:id="rId12" imgW="1295400" imgH="508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59704"/>
                        <a:ext cx="2352675" cy="950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847365"/>
              </p:ext>
            </p:extLst>
          </p:nvPr>
        </p:nvGraphicFramePr>
        <p:xfrm>
          <a:off x="990600" y="5495789"/>
          <a:ext cx="5029200" cy="600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" name="Equation" r:id="rId14" imgW="2476500" imgH="292100" progId="Equation.3">
                  <p:embed/>
                </p:oleObj>
              </mc:Choice>
              <mc:Fallback>
                <p:oleObj name="Equation" r:id="rId14" imgW="2476500" imgH="2921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495789"/>
                        <a:ext cx="5029200" cy="600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Objective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1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0" y="2057400"/>
            <a:ext cx="8763000" cy="3429000"/>
          </a:xfrm>
        </p:spPr>
        <p:txBody>
          <a:bodyPr/>
          <a:lstStyle/>
          <a:p>
            <a:pPr marL="952500" lvl="1" indent="-495300">
              <a:buClr>
                <a:srgbClr val="FF0000"/>
              </a:buClr>
              <a:buFont typeface="Monotype Sorts" pitchFamily="2" charset="2"/>
              <a:buChar char="F"/>
            </a:pP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cs typeface="Times New Roman" pitchFamily="18" charset="0"/>
              </a:rPr>
              <a:t>Knowing </a:t>
            </a:r>
            <a:r>
              <a:rPr lang="en-US" sz="2200" dirty="0">
                <a:solidFill>
                  <a:srgbClr val="000099"/>
                </a:solidFill>
                <a:latin typeface="Cambria" pitchFamily="18" charset="0"/>
                <a:cs typeface="Times New Roman" pitchFamily="18" charset="0"/>
              </a:rPr>
              <a:t>the joint PDF all average quantities can be calculated.</a:t>
            </a:r>
          </a:p>
          <a:p>
            <a:pPr marL="952500" lvl="1" indent="-495300">
              <a:buClr>
                <a:srgbClr val="FF0000"/>
              </a:buClr>
              <a:buFont typeface="Monotype Sorts" pitchFamily="2" charset="2"/>
              <a:buNone/>
            </a:pPr>
            <a:endParaRPr lang="en-US" sz="2200" dirty="0" smtClean="0">
              <a:solidFill>
                <a:schemeClr val="bg2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rgbClr val="FF0000"/>
              </a:buClr>
              <a:buFont typeface="Monotype Sorts" pitchFamily="2" charset="2"/>
              <a:buBlip>
                <a:blip r:embed="rId4"/>
              </a:buBlip>
            </a:pP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cs typeface="Times New Roman" pitchFamily="18" charset="0"/>
              </a:rPr>
              <a:t>Two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cs typeface="Times New Roman" pitchFamily="18" charset="0"/>
              </a:rPr>
              <a:t>Ways:</a:t>
            </a:r>
          </a:p>
          <a:p>
            <a:pPr marL="952500" lvl="1" indent="-495300">
              <a:buClr>
                <a:srgbClr val="FF0000"/>
              </a:buClr>
              <a:buFont typeface="Monotype Sorts" pitchFamily="2" charset="2"/>
              <a:buAutoNum type="arabicPeriod"/>
            </a:pPr>
            <a:r>
              <a:rPr lang="en-US" sz="2200" dirty="0">
                <a:solidFill>
                  <a:srgbClr val="000099"/>
                </a:solidFill>
                <a:latin typeface="Cambria" pitchFamily="18" charset="0"/>
                <a:cs typeface="Times New Roman" pitchFamily="18" charset="0"/>
              </a:rPr>
              <a:t>Presumed Shape PDFs</a:t>
            </a:r>
          </a:p>
          <a:p>
            <a:pPr marL="1371600" lvl="2" indent="-457200">
              <a:buClr>
                <a:srgbClr val="FF0000"/>
              </a:buClr>
              <a:buSzPct val="80000"/>
              <a:buFont typeface="Monotype Sorts" pitchFamily="2" charset="2"/>
              <a:buChar char="@"/>
            </a:pPr>
            <a:r>
              <a:rPr lang="en-US" sz="2000" dirty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Via </a:t>
            </a:r>
            <a:r>
              <a:rPr lang="en-US" sz="2000" b="1" u="sng" dirty="0" err="1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expeiments</a:t>
            </a:r>
            <a:r>
              <a:rPr lang="en-US" sz="2000" dirty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an assumed PDF as </a:t>
            </a:r>
            <a:r>
              <a:rPr lang="en-US" sz="2000" dirty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a function of </a:t>
            </a:r>
            <a:r>
              <a:rPr lang="en-US" sz="2000" b="1" u="sng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mean</a:t>
            </a:r>
            <a:r>
              <a:rPr lang="en-US" sz="2000" dirty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 and </a:t>
            </a:r>
          </a:p>
          <a:p>
            <a:pPr marL="1371600" lvl="2" indent="-457200">
              <a:buClr>
                <a:srgbClr val="FF0000"/>
              </a:buClr>
              <a:buSzPct val="80000"/>
              <a:buFont typeface="Monotype Sorts" pitchFamily="2" charset="2"/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other </a:t>
            </a:r>
            <a:r>
              <a:rPr lang="en-US" sz="2000" b="1" u="sng" dirty="0">
                <a:solidFill>
                  <a:srgbClr val="FF0000"/>
                </a:solidFill>
                <a:latin typeface="Cambria" pitchFamily="18" charset="0"/>
                <a:cs typeface="Times New Roman" pitchFamily="18" charset="0"/>
              </a:rPr>
              <a:t>Moments</a:t>
            </a:r>
            <a:r>
              <a:rPr lang="en-US" sz="2000" dirty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 of flow quantities.</a:t>
            </a:r>
          </a:p>
          <a:p>
            <a:pPr marL="1371600" lvl="2" indent="-457200">
              <a:buClr>
                <a:srgbClr val="FF0000"/>
              </a:buClr>
              <a:buSzPct val="80000"/>
              <a:buFont typeface="Monotype Sorts" pitchFamily="2" charset="2"/>
              <a:buNone/>
            </a:pPr>
            <a:endParaRPr lang="en-US" sz="2000" dirty="0">
              <a:solidFill>
                <a:schemeClr val="bg2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rgbClr val="FF0000"/>
              </a:buClr>
              <a:buFont typeface="Monotype Sorts" pitchFamily="2" charset="2"/>
              <a:buAutoNum type="arabicPeriod"/>
            </a:pPr>
            <a:r>
              <a:rPr lang="en-US" sz="2200" dirty="0">
                <a:solidFill>
                  <a:srgbClr val="000099"/>
                </a:solidFill>
                <a:latin typeface="Cambria" pitchFamily="18" charset="0"/>
                <a:cs typeface="Times New Roman" pitchFamily="18" charset="0"/>
              </a:rPr>
              <a:t>PDF transport equation</a:t>
            </a:r>
            <a:r>
              <a:rPr lang="en-US" sz="2200" dirty="0">
                <a:solidFill>
                  <a:schemeClr val="bg2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pPr marL="1371600" lvl="2" indent="-457200">
              <a:buClr>
                <a:srgbClr val="FF0000"/>
              </a:buClr>
              <a:buFont typeface="Monotype Sorts" pitchFamily="2" charset="2"/>
              <a:buNone/>
            </a:pPr>
            <a:endParaRPr lang="en-US" sz="2000" dirty="0">
              <a:solidFill>
                <a:schemeClr val="bg2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rgbClr val="FF0000"/>
              </a:buClr>
              <a:buFont typeface="Monotype Sorts" pitchFamily="2" charset="2"/>
              <a:buNone/>
            </a:pPr>
            <a:endParaRPr lang="en-US" sz="2200" dirty="0">
              <a:solidFill>
                <a:schemeClr val="bg2"/>
              </a:solidFill>
              <a:latin typeface="Cambria" pitchFamily="18" charset="0"/>
              <a:cs typeface="Times New Roman" pitchFamily="18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479435"/>
              </p:ext>
            </p:extLst>
          </p:nvPr>
        </p:nvGraphicFramePr>
        <p:xfrm>
          <a:off x="1981200" y="1143000"/>
          <a:ext cx="50292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quation" r:id="rId5" imgW="2476500" imgH="292100" progId="Equation.3">
                  <p:embed/>
                </p:oleObj>
              </mc:Choice>
              <mc:Fallback>
                <p:oleObj name="Equation" r:id="rId5" imgW="2476500" imgH="292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143000"/>
                        <a:ext cx="50292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PDF transport equation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4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graphicFrame>
        <p:nvGraphicFramePr>
          <p:cNvPr id="16" name="Object 1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48559058"/>
              </p:ext>
            </p:extLst>
          </p:nvPr>
        </p:nvGraphicFramePr>
        <p:xfrm>
          <a:off x="609600" y="2209800"/>
          <a:ext cx="74676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8" name="Equation" r:id="rId4" imgW="4330440" imgH="990360" progId="Equation.3">
                  <p:embed/>
                </p:oleObj>
              </mc:Choice>
              <mc:Fallback>
                <p:oleObj name="Equation" r:id="rId4" imgW="433044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09800"/>
                        <a:ext cx="7467600" cy="170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20"/>
          <p:cNvSpPr>
            <a:spLocks/>
          </p:cNvSpPr>
          <p:nvPr/>
        </p:nvSpPr>
        <p:spPr bwMode="auto">
          <a:xfrm rot="5400000">
            <a:off x="2324100" y="1485900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8" name="AutoShape 21"/>
          <p:cNvSpPr>
            <a:spLocks noChangeArrowheads="1"/>
          </p:cNvSpPr>
          <p:nvPr/>
        </p:nvSpPr>
        <p:spPr bwMode="auto">
          <a:xfrm>
            <a:off x="1295400" y="990600"/>
            <a:ext cx="1295400" cy="762000"/>
          </a:xfrm>
          <a:prstGeom prst="wedgeRoundRectCallout">
            <a:avLst>
              <a:gd name="adj1" fmla="val 34806"/>
              <a:gd name="adj2" fmla="val 68333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sz="1600" dirty="0" smtClean="0">
                <a:solidFill>
                  <a:srgbClr val="0000FF"/>
                </a:solidFill>
                <a:cs typeface="Lotus" pitchFamily="2" charset="-78"/>
              </a:rPr>
              <a:t>Convection</a:t>
            </a:r>
            <a:endParaRPr lang="en-US" sz="1600" dirty="0">
              <a:solidFill>
                <a:srgbClr val="0000FF"/>
              </a:solidFill>
              <a:cs typeface="Lotus" pitchFamily="2" charset="-78"/>
            </a:endParaRPr>
          </a:p>
        </p:txBody>
      </p:sp>
      <p:sp>
        <p:nvSpPr>
          <p:cNvPr id="25" name="AutoShape 22"/>
          <p:cNvSpPr>
            <a:spLocks/>
          </p:cNvSpPr>
          <p:nvPr/>
        </p:nvSpPr>
        <p:spPr bwMode="auto">
          <a:xfrm rot="5400000">
            <a:off x="4419600" y="990600"/>
            <a:ext cx="228600" cy="2209800"/>
          </a:xfrm>
          <a:prstGeom prst="leftBrace">
            <a:avLst>
              <a:gd name="adj1" fmla="val 80556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8" name="AutoShape 23"/>
          <p:cNvSpPr>
            <a:spLocks noChangeArrowheads="1"/>
          </p:cNvSpPr>
          <p:nvPr/>
        </p:nvSpPr>
        <p:spPr bwMode="auto">
          <a:xfrm>
            <a:off x="3429000" y="990600"/>
            <a:ext cx="1905000" cy="762000"/>
          </a:xfrm>
          <a:prstGeom prst="wedgeRoundRectCallout">
            <a:avLst>
              <a:gd name="adj1" fmla="val 7667"/>
              <a:gd name="adj2" fmla="val 68333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sz="1400" dirty="0" smtClean="0">
                <a:solidFill>
                  <a:srgbClr val="0000FF"/>
                </a:solidFill>
                <a:cs typeface="Lotus" pitchFamily="2" charset="-78"/>
              </a:rPr>
              <a:t>Mean pressure gradient</a:t>
            </a:r>
          </a:p>
          <a:p>
            <a:pPr rtl="1"/>
            <a:r>
              <a:rPr lang="en-US" sz="1400" dirty="0" smtClean="0">
                <a:solidFill>
                  <a:srgbClr val="0000FF"/>
                </a:solidFill>
                <a:cs typeface="Lotus" pitchFamily="2" charset="-78"/>
              </a:rPr>
              <a:t>and gravity</a:t>
            </a:r>
            <a:endParaRPr lang="en-US" sz="1400" dirty="0">
              <a:solidFill>
                <a:srgbClr val="0000FF"/>
              </a:solidFill>
              <a:cs typeface="Lotus" pitchFamily="2" charset="-78"/>
            </a:endParaRPr>
          </a:p>
        </p:txBody>
      </p:sp>
      <p:sp>
        <p:nvSpPr>
          <p:cNvPr id="29" name="AutoShape 24"/>
          <p:cNvSpPr>
            <a:spLocks/>
          </p:cNvSpPr>
          <p:nvPr/>
        </p:nvSpPr>
        <p:spPr bwMode="auto">
          <a:xfrm rot="5400000">
            <a:off x="6896100" y="1104900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1" name="AutoShape 25"/>
          <p:cNvSpPr>
            <a:spLocks noChangeArrowheads="1"/>
          </p:cNvSpPr>
          <p:nvPr/>
        </p:nvSpPr>
        <p:spPr bwMode="auto">
          <a:xfrm>
            <a:off x="5943600" y="990600"/>
            <a:ext cx="1676400" cy="762000"/>
          </a:xfrm>
          <a:prstGeom prst="wedgeRoundRectCallout">
            <a:avLst>
              <a:gd name="adj1" fmla="val 15532"/>
              <a:gd name="adj2" fmla="val 68333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dirty="0" smtClean="0">
                <a:solidFill>
                  <a:srgbClr val="0000FF"/>
                </a:solidFill>
                <a:cs typeface="Lotus" pitchFamily="2" charset="-78"/>
              </a:rPr>
              <a:t>Reaction</a:t>
            </a:r>
            <a:endParaRPr lang="en-US" dirty="0">
              <a:solidFill>
                <a:srgbClr val="0000FF"/>
              </a:solidFill>
              <a:cs typeface="Lotus" pitchFamily="2" charset="-78"/>
            </a:endParaRPr>
          </a:p>
        </p:txBody>
      </p:sp>
      <p:sp>
        <p:nvSpPr>
          <p:cNvPr id="32" name="AutoShape 26"/>
          <p:cNvSpPr>
            <a:spLocks/>
          </p:cNvSpPr>
          <p:nvPr/>
        </p:nvSpPr>
        <p:spPr bwMode="auto">
          <a:xfrm rot="16200000">
            <a:off x="2971800" y="2514600"/>
            <a:ext cx="152400" cy="3048000"/>
          </a:xfrm>
          <a:prstGeom prst="leftBrace">
            <a:avLst>
              <a:gd name="adj1" fmla="val 166667"/>
              <a:gd name="adj2" fmla="val 50000"/>
            </a:avLst>
          </a:prstGeom>
          <a:noFill/>
          <a:ln w="25400" cap="sq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3" name="AutoShape 27"/>
          <p:cNvSpPr>
            <a:spLocks noChangeArrowheads="1"/>
          </p:cNvSpPr>
          <p:nvPr/>
        </p:nvSpPr>
        <p:spPr bwMode="auto">
          <a:xfrm>
            <a:off x="1524000" y="4419600"/>
            <a:ext cx="2438400" cy="838200"/>
          </a:xfrm>
          <a:prstGeom prst="wedgeRoundRectCallout">
            <a:avLst>
              <a:gd name="adj1" fmla="val 15755"/>
              <a:gd name="adj2" fmla="val -72727"/>
              <a:gd name="adj3" fmla="val 16667"/>
            </a:avLst>
          </a:prstGeom>
          <a:noFill/>
          <a:ln w="25400" cap="sq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sz="1600" dirty="0" smtClean="0">
                <a:solidFill>
                  <a:srgbClr val="FF0000"/>
                </a:solidFill>
                <a:cs typeface="Lotus" pitchFamily="2" charset="-78"/>
              </a:rPr>
              <a:t>Viscous stresses and fluctuating pressure gradient</a:t>
            </a:r>
            <a:endParaRPr lang="en-US" sz="1600" dirty="0">
              <a:solidFill>
                <a:srgbClr val="FF0000"/>
              </a:solidFill>
              <a:cs typeface="Lotus" pitchFamily="2" charset="-78"/>
            </a:endParaRPr>
          </a:p>
        </p:txBody>
      </p:sp>
      <p:sp>
        <p:nvSpPr>
          <p:cNvPr id="34" name="AutoShape 29"/>
          <p:cNvSpPr>
            <a:spLocks/>
          </p:cNvSpPr>
          <p:nvPr/>
        </p:nvSpPr>
        <p:spPr bwMode="auto">
          <a:xfrm rot="16200000">
            <a:off x="5981700" y="28575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5400" cap="sq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5" name="AutoShape 30"/>
          <p:cNvSpPr>
            <a:spLocks noChangeArrowheads="1"/>
          </p:cNvSpPr>
          <p:nvPr/>
        </p:nvSpPr>
        <p:spPr bwMode="auto">
          <a:xfrm>
            <a:off x="4876800" y="4419600"/>
            <a:ext cx="2438400" cy="838200"/>
          </a:xfrm>
          <a:prstGeom prst="wedgeRoundRectCallout">
            <a:avLst>
              <a:gd name="adj1" fmla="val -2148"/>
              <a:gd name="adj2" fmla="val -78032"/>
              <a:gd name="adj3" fmla="val 16667"/>
            </a:avLst>
          </a:prstGeom>
          <a:noFill/>
          <a:ln w="25400" cap="sq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endParaRPr lang="en-US" dirty="0" smtClean="0">
              <a:solidFill>
                <a:srgbClr val="FF0000"/>
              </a:solidFill>
              <a:cs typeface="Lotus" pitchFamily="2" charset="-78"/>
            </a:endParaRPr>
          </a:p>
          <a:p>
            <a:pPr rtl="1"/>
            <a:r>
              <a:rPr lang="en-US" dirty="0" smtClean="0">
                <a:solidFill>
                  <a:srgbClr val="FF0000"/>
                </a:solidFill>
                <a:cs typeface="Lotus" pitchFamily="2" charset="-78"/>
              </a:rPr>
              <a:t>Molecular diffusion</a:t>
            </a:r>
            <a:endParaRPr lang="en-US" dirty="0">
              <a:solidFill>
                <a:srgbClr val="FF0000"/>
              </a:solidFill>
              <a:cs typeface="Lotus" pitchFamily="2" charset="-78"/>
            </a:endParaRP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990600" y="5486400"/>
            <a:ext cx="7467600" cy="10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marL="342900" indent="-342900" algn="l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000099"/>
                </a:solidFill>
                <a:latin typeface="Cambria" pitchFamily="18" charset="0"/>
                <a:cs typeface="Lotus" pitchFamily="2" charset="-78"/>
              </a:rPr>
              <a:t>Mean pressure </a:t>
            </a:r>
            <a:r>
              <a:rPr lang="en-US" sz="20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 Poisson equation</a:t>
            </a:r>
            <a:endParaRPr lang="fa-IR" sz="2000" dirty="0">
              <a:solidFill>
                <a:srgbClr val="000099"/>
              </a:solidFill>
              <a:latin typeface="Cambria" pitchFamily="18" charset="0"/>
              <a:cs typeface="Lotus" pitchFamily="2" charset="-78"/>
            </a:endParaRPr>
          </a:p>
          <a:p>
            <a:pPr marL="285750" indent="-285750" algn="l">
              <a:spcBef>
                <a:spcPct val="50000"/>
              </a:spcBef>
              <a:buFont typeface="Courier New" pitchFamily="49" charset="0"/>
              <a:buChar char="o"/>
            </a:pPr>
            <a:r>
              <a:rPr lang="en-US" sz="1600" dirty="0" smtClean="0">
                <a:solidFill>
                  <a:srgbClr val="000099"/>
                </a:solidFill>
                <a:latin typeface="Cambria" pitchFamily="18" charset="0"/>
                <a:cs typeface="Lotus" pitchFamily="2" charset="-78"/>
              </a:rPr>
              <a:t>Closure problem is due to the effect of the unknown two-point information on one-point PDF transport equation.</a:t>
            </a:r>
            <a:endParaRPr lang="en-US" sz="1600" dirty="0">
              <a:solidFill>
                <a:srgbClr val="000099"/>
              </a:solidFill>
              <a:latin typeface="Cambria" pitchFamily="18" charset="0"/>
              <a:cs typeface="Lotus" pitchFamily="2" charset="-78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5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Numerical Solution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1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-76200" y="2819400"/>
            <a:ext cx="8534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9pPr>
          </a:lstStyle>
          <a:p>
            <a:pPr marL="952500" lvl="1" indent="-495300" algn="just">
              <a:buClr>
                <a:srgbClr val="CC3300"/>
              </a:buClr>
              <a:buFont typeface="Monotype Sorts" pitchFamily="2" charset="2"/>
              <a:buChar char="F"/>
            </a:pPr>
            <a:r>
              <a:rPr lang="en-US" sz="2200" u="sng" dirty="0" smtClean="0">
                <a:solidFill>
                  <a:srgbClr val="000099"/>
                </a:solidFill>
                <a:latin typeface="Cambria" pitchFamily="18" charset="0"/>
              </a:rPr>
              <a:t>U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</a:rPr>
              <a:t> and </a:t>
            </a:r>
            <a:r>
              <a:rPr lang="el-GR" sz="2200" u="sng" dirty="0" smtClean="0">
                <a:solidFill>
                  <a:srgbClr val="000099"/>
                </a:solidFill>
                <a:latin typeface="Cambria" pitchFamily="18" charset="0"/>
              </a:rPr>
              <a:t>Φ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transport </a:t>
            </a:r>
            <a:r>
              <a:rPr lang="en-US" sz="2200" dirty="0" err="1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eqs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. are  partial differential </a:t>
            </a:r>
            <a:r>
              <a:rPr lang="en-US" sz="2200" dirty="0" err="1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eqs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. with </a:t>
            </a:r>
            <a:r>
              <a:rPr lang="en-US" sz="2200" dirty="0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4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independent variables : </a:t>
            </a:r>
            <a:r>
              <a:rPr lang="en-US" sz="2200" u="sng" dirty="0" err="1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x</a:t>
            </a:r>
            <a:r>
              <a:rPr lang="en-US" sz="2200" dirty="0" err="1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,t</a:t>
            </a:r>
            <a:endParaRPr lang="en-US" sz="2200" dirty="0" smtClean="0">
              <a:solidFill>
                <a:srgbClr val="C00000"/>
              </a:solidFill>
              <a:latin typeface="Cambria" pitchFamily="18" charset="0"/>
              <a:sym typeface="Monotype Sorts" pitchFamily="2" charset="2"/>
            </a:endParaRPr>
          </a:p>
          <a:p>
            <a:pPr marL="952500" lvl="1" indent="-495300" algn="just">
              <a:buClr>
                <a:srgbClr val="CC3300"/>
              </a:buClr>
              <a:buFont typeface="Monotype Sorts" pitchFamily="2" charset="2"/>
              <a:buChar char="F"/>
            </a:pP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</a:rPr>
              <a:t>PDF transport eq. is a partial differential eq. with </a:t>
            </a:r>
            <a:r>
              <a:rPr lang="en-US" sz="2200" dirty="0" smtClean="0">
                <a:solidFill>
                  <a:srgbClr val="C00000"/>
                </a:solidFill>
                <a:latin typeface="Cambria" pitchFamily="18" charset="0"/>
              </a:rPr>
              <a:t>8+N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</a:rPr>
              <a:t> 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independent variables : </a:t>
            </a:r>
            <a:r>
              <a:rPr lang="en-US" sz="2200" u="sng" dirty="0" err="1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x</a:t>
            </a:r>
            <a:r>
              <a:rPr lang="en-US" sz="2200" dirty="0" err="1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,t,</a:t>
            </a:r>
            <a:r>
              <a:rPr lang="en-US" sz="2200" u="sng" dirty="0" err="1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V</a:t>
            </a:r>
            <a:r>
              <a:rPr lang="en-US" sz="2200" dirty="0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,</a:t>
            </a:r>
            <a:r>
              <a:rPr lang="el-GR" sz="2200" u="sng" dirty="0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ψ</a:t>
            </a:r>
            <a:endParaRPr lang="el-GR" sz="2200" u="sng" dirty="0" smtClean="0">
              <a:solidFill>
                <a:srgbClr val="C00000"/>
              </a:solidFill>
              <a:latin typeface="Cambria" pitchFamily="18" charset="0"/>
            </a:endParaRPr>
          </a:p>
          <a:p>
            <a:pPr marL="952500" lvl="1" indent="-495300" algn="just">
              <a:buClr>
                <a:srgbClr val="CC3300"/>
              </a:buClr>
              <a:buFont typeface="Monotype Sorts" pitchFamily="2" charset="2"/>
              <a:buChar char="F"/>
            </a:pPr>
            <a:r>
              <a:rPr lang="en-US" sz="2200" b="1" dirty="0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Finite difference, volume, </a:t>
            </a:r>
            <a:r>
              <a:rPr lang="en-US" sz="2200" b="1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and</a:t>
            </a:r>
            <a:r>
              <a:rPr lang="en-US" sz="2200" b="1" dirty="0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 element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 </a:t>
            </a:r>
            <a:r>
              <a:rPr lang="en-US" sz="2000" b="1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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suitable for </a:t>
            </a:r>
            <a:r>
              <a:rPr lang="en-US" sz="2000" b="1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  </a:t>
            </a:r>
            <a:r>
              <a:rPr lang="en-US" sz="200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  <a:sym typeface="Monotype Sorts" pitchFamily="2" charset="2"/>
              </a:rPr>
              <a:t>small</a:t>
            </a:r>
            <a:r>
              <a:rPr lang="en-US" sz="20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number of independent variables</a:t>
            </a:r>
          </a:p>
          <a:p>
            <a:pPr marL="952500" lvl="1" indent="-495300" algn="just">
              <a:buClr>
                <a:srgbClr val="CC3300"/>
              </a:buClr>
              <a:buFont typeface="Monotype Sorts" pitchFamily="2" charset="2"/>
              <a:buChar char="F"/>
            </a:pPr>
            <a:r>
              <a:rPr lang="en-US" sz="2200" b="1" dirty="0" smtClean="0">
                <a:solidFill>
                  <a:srgbClr val="C00000"/>
                </a:solidFill>
                <a:latin typeface="Cambria" pitchFamily="18" charset="0"/>
                <a:sym typeface="Monotype Sorts" pitchFamily="2" charset="2"/>
              </a:rPr>
              <a:t>Monte Carlo</a:t>
            </a:r>
            <a:r>
              <a:rPr lang="en-US" sz="2200" b="1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particle methods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 </a:t>
            </a:r>
            <a:r>
              <a:rPr lang="en-US" sz="2000" b="1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</a:t>
            </a:r>
            <a:r>
              <a:rPr lang="en-US" sz="22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suitable for </a:t>
            </a:r>
            <a:r>
              <a:rPr lang="en-US" sz="2000" b="1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  </a:t>
            </a:r>
            <a:r>
              <a:rPr lang="en-US" sz="200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  <a:sym typeface="Monotype Sorts" pitchFamily="2" charset="2"/>
              </a:rPr>
              <a:t>large</a:t>
            </a:r>
            <a:r>
              <a:rPr lang="en-US" sz="2000" dirty="0" smtClean="0">
                <a:solidFill>
                  <a:srgbClr val="000099"/>
                </a:solidFill>
                <a:latin typeface="Cambria" pitchFamily="18" charset="0"/>
                <a:sym typeface="Monotype Sorts" pitchFamily="2" charset="2"/>
              </a:rPr>
              <a:t> number of independent variables</a:t>
            </a:r>
          </a:p>
          <a:p>
            <a:pPr marL="952500" lvl="1" indent="-495300" algn="just">
              <a:buClr>
                <a:srgbClr val="CC3300"/>
              </a:buClr>
              <a:buFont typeface="Monotype Sorts" pitchFamily="2" charset="2"/>
              <a:buNone/>
            </a:pPr>
            <a:endParaRPr lang="en-US" sz="2000" dirty="0">
              <a:solidFill>
                <a:srgbClr val="000099"/>
              </a:solidFill>
              <a:latin typeface="Cambria" pitchFamily="18" charset="0"/>
              <a:sym typeface="Monotype Sorts" pitchFamily="2" charset="2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856242"/>
              </p:ext>
            </p:extLst>
          </p:nvPr>
        </p:nvGraphicFramePr>
        <p:xfrm>
          <a:off x="1638548" y="1219200"/>
          <a:ext cx="6133852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4" imgW="4330700" imgH="990600" progId="Equation.3">
                  <p:embed/>
                </p:oleObj>
              </mc:Choice>
              <mc:Fallback>
                <p:oleObj name="Equation" r:id="rId4" imgW="4330700" imgH="990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548" y="1219200"/>
                        <a:ext cx="6133852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8451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Monte Carlo particle method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1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133600" y="1991142"/>
            <a:ext cx="1676400" cy="1785104"/>
          </a:xfrm>
          <a:prstGeom prst="rect">
            <a:avLst/>
          </a:prstGeom>
          <a:solidFill>
            <a:srgbClr val="92D05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b="0" dirty="0" err="1" smtClean="0">
                <a:latin typeface="Times New Roman" pitchFamily="18" charset="0"/>
                <a:cs typeface="Times New Roman" pitchFamily="18" charset="0"/>
              </a:rPr>
              <a:t>Navier</a:t>
            </a:r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-Stokes equations</a:t>
            </a:r>
            <a:endParaRPr lang="en-US" sz="2200" b="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(PDEs)</a:t>
            </a:r>
            <a:endParaRPr lang="en-US" sz="2200" b="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2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>
            <a:off x="2971800" y="3810000"/>
            <a:ext cx="0" cy="38100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 flipH="1" flipV="1">
            <a:off x="3810000" y="2895600"/>
            <a:ext cx="12192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>
            <a:off x="5852886" y="3819524"/>
            <a:ext cx="0" cy="371475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1828800" y="1066800"/>
            <a:ext cx="2362200" cy="76944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b="0" dirty="0" err="1" smtClean="0">
                <a:latin typeface="Times New Roman" pitchFamily="18" charset="0"/>
                <a:cs typeface="Times New Roman" pitchFamily="18" charset="0"/>
              </a:rPr>
              <a:t>Eulerian</a:t>
            </a:r>
            <a:endParaRPr lang="en-US" sz="2200" b="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200" b="0" dirty="0" smtClean="0">
                <a:latin typeface="Times New Roman" pitchFamily="18" charset="0"/>
              </a:rPr>
              <a:t>Simulation</a:t>
            </a:r>
            <a:endParaRPr lang="en-US" sz="22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4648200" y="1066800"/>
            <a:ext cx="2362200" cy="76944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b="0" dirty="0" err="1" smtClean="0">
                <a:latin typeface="Times New Roman" pitchFamily="18" charset="0"/>
                <a:cs typeface="Times New Roman" pitchFamily="18" charset="0"/>
              </a:rPr>
              <a:t>Lagrangian</a:t>
            </a:r>
            <a:endParaRPr lang="en-US" sz="2200" b="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200" b="0" dirty="0" smtClean="0">
                <a:latin typeface="Times New Roman" pitchFamily="18" charset="0"/>
              </a:rPr>
              <a:t>Simulation</a:t>
            </a:r>
            <a:endParaRPr lang="en-US" sz="22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2133600" y="4191000"/>
            <a:ext cx="1676400" cy="1785104"/>
          </a:xfrm>
          <a:prstGeom prst="rect">
            <a:avLst/>
          </a:prstGeom>
          <a:solidFill>
            <a:srgbClr val="FFC0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Modeled</a:t>
            </a:r>
          </a:p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PDF </a:t>
            </a:r>
            <a:r>
              <a:rPr lang="en-US" sz="2200" b="0" dirty="0" smtClean="0">
                <a:latin typeface="Times New Roman" pitchFamily="18" charset="0"/>
              </a:rPr>
              <a:t>transport e</a:t>
            </a:r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quation</a:t>
            </a:r>
          </a:p>
          <a:p>
            <a:pPr algn="ctr"/>
            <a:r>
              <a:rPr lang="en-US" sz="2200" b="0" dirty="0" smtClean="0">
                <a:latin typeface="Times New Roman" pitchFamily="18" charset="0"/>
              </a:rPr>
              <a:t>(PDE)</a:t>
            </a:r>
            <a:endParaRPr lang="en-US" sz="22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5014686" y="4189750"/>
            <a:ext cx="1676400" cy="1785104"/>
          </a:xfrm>
          <a:prstGeom prst="rect">
            <a:avLst/>
          </a:prstGeom>
          <a:solidFill>
            <a:srgbClr val="FFC0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Modeled</a:t>
            </a:r>
          </a:p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Parcel </a:t>
            </a:r>
            <a:r>
              <a:rPr lang="en-US" sz="2200" b="0" dirty="0" smtClean="0">
                <a:latin typeface="Times New Roman" pitchFamily="18" charset="0"/>
              </a:rPr>
              <a:t>transport e</a:t>
            </a:r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quation</a:t>
            </a:r>
          </a:p>
          <a:p>
            <a:pPr algn="ctr"/>
            <a:r>
              <a:rPr lang="en-US" sz="2200" b="0" dirty="0" smtClean="0">
                <a:latin typeface="Times New Roman" pitchFamily="18" charset="0"/>
              </a:rPr>
              <a:t>(SDEs)</a:t>
            </a:r>
            <a:endParaRPr lang="en-US" sz="22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5029200" y="1976497"/>
            <a:ext cx="1676400" cy="1785104"/>
          </a:xfrm>
          <a:prstGeom prst="rect">
            <a:avLst/>
          </a:prstGeom>
          <a:solidFill>
            <a:srgbClr val="0099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Fluid particle </a:t>
            </a:r>
            <a:r>
              <a:rPr lang="en-US" sz="2200" b="0" dirty="0" smtClean="0">
                <a:latin typeface="Times New Roman" pitchFamily="18" charset="0"/>
              </a:rPr>
              <a:t>transport</a:t>
            </a:r>
          </a:p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equation</a:t>
            </a:r>
          </a:p>
          <a:p>
            <a:pPr algn="ctr"/>
            <a:r>
              <a:rPr lang="en-US" sz="2200" b="0" dirty="0" smtClean="0">
                <a:latin typeface="Times New Roman" pitchFamily="18" charset="0"/>
                <a:cs typeface="Times New Roman" pitchFamily="18" charset="0"/>
              </a:rPr>
              <a:t>(ODEs)</a:t>
            </a:r>
            <a:endParaRPr lang="en-US" sz="18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H="1" flipV="1">
            <a:off x="3810000" y="5104150"/>
            <a:ext cx="12192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7"/>
          <p:cNvSpPr>
            <a:spLocks noChangeShapeType="1"/>
          </p:cNvSpPr>
          <p:nvPr/>
        </p:nvSpPr>
        <p:spPr bwMode="auto">
          <a:xfrm>
            <a:off x="4419600" y="1070520"/>
            <a:ext cx="0" cy="5330280"/>
          </a:xfrm>
          <a:prstGeom prst="line">
            <a:avLst/>
          </a:prstGeom>
          <a:noFill/>
          <a:ln w="25400" cap="sq">
            <a:solidFill>
              <a:schemeClr val="bg2"/>
            </a:solidFill>
            <a:prstDash val="sysDot"/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6781800" y="4131129"/>
            <a:ext cx="2209800" cy="1447800"/>
          </a:xfrm>
          <a:prstGeom prst="wedgeEllipseCallout">
            <a:avLst>
              <a:gd name="adj1" fmla="val -52639"/>
              <a:gd name="adj2" fmla="val 30001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</p:spPr>
        <p:txBody>
          <a:bodyPr vert="horz" lIns="0" tIns="0" rIns="0" bIns="0" rtlCol="0" anchor="ctr"/>
          <a:lstStyle/>
          <a:p>
            <a:pPr algn="l"/>
            <a:r>
              <a:rPr lang="en-US" sz="2400" dirty="0" smtClean="0">
                <a:solidFill>
                  <a:srgbClr val="0000FF"/>
                </a:solidFill>
                <a:latin typeface="Cambria" pitchFamily="18" charset="0"/>
                <a:ea typeface="Cambria Math" pitchFamily="18" charset="0"/>
                <a:cs typeface="B Nazanin" pitchFamily="2" charset="-78"/>
              </a:rPr>
              <a:t>Monte Carlo</a:t>
            </a:r>
          </a:p>
          <a:p>
            <a:pPr algn="l"/>
            <a:r>
              <a:rPr lang="en-US" sz="2400" dirty="0" smtClean="0">
                <a:solidFill>
                  <a:srgbClr val="0000FF"/>
                </a:solidFill>
                <a:latin typeface="Cambria" pitchFamily="18" charset="0"/>
                <a:ea typeface="Cambria Math" pitchFamily="18" charset="0"/>
                <a:cs typeface="B Nazanin" pitchFamily="2" charset="-78"/>
              </a:rPr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35539026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Composition PDF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143000"/>
            <a:ext cx="8229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Governing equations</a:t>
            </a: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4"/>
              </a:buBlip>
              <a:defRPr/>
            </a:pPr>
            <a:r>
              <a:rPr lang="en-US" sz="2200" b="0" kern="0" dirty="0" err="1" smtClean="0">
                <a:solidFill>
                  <a:srgbClr val="000099"/>
                </a:solidFill>
                <a:latin typeface="Cambria" pitchFamily="18" charset="0"/>
              </a:rPr>
              <a:t>Scaler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 </a:t>
            </a:r>
            <a:r>
              <a:rPr lang="en-US" sz="2200" b="0" kern="0" dirty="0">
                <a:solidFill>
                  <a:srgbClr val="000099"/>
                </a:solidFill>
                <a:latin typeface="Cambria" pitchFamily="18" charset="0"/>
              </a:rPr>
              <a:t>equations 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(</a:t>
            </a:r>
            <a:r>
              <a:rPr lang="en-US" sz="2200" b="0" kern="0" dirty="0">
                <a:solidFill>
                  <a:srgbClr val="000099"/>
                </a:solidFill>
                <a:latin typeface="Cambria" pitchFamily="18" charset="0"/>
              </a:rPr>
              <a:t>State 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space)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4"/>
              </a:buBlip>
              <a:defRPr/>
            </a:pP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4"/>
              </a:buBlip>
              <a:defRPr/>
            </a:pPr>
            <a:endParaRPr lang="en-US" sz="2200" b="0" kern="0" dirty="0">
              <a:solidFill>
                <a:srgbClr val="000099"/>
              </a:solidFill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4"/>
              </a:buBlip>
              <a:defRPr/>
            </a:pPr>
            <a:r>
              <a:rPr lang="en-US" sz="2200" b="0" kern="0" dirty="0" err="1">
                <a:solidFill>
                  <a:srgbClr val="000099"/>
                </a:solidFill>
                <a:latin typeface="Cambria" pitchFamily="18" charset="0"/>
              </a:rPr>
              <a:t>Navier</a:t>
            </a:r>
            <a:r>
              <a:rPr lang="en-US" sz="2200" b="0" kern="0" dirty="0">
                <a:solidFill>
                  <a:srgbClr val="000099"/>
                </a:solidFill>
                <a:latin typeface="Cambria" pitchFamily="18" charset="0"/>
              </a:rPr>
              <a:t>-Stokes equations (Physical space)</a:t>
            </a:r>
            <a:endParaRPr lang="en-US" sz="2200" b="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lvl="1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200" b="0" kern="0" dirty="0">
                <a:latin typeface="Cambria" pitchFamily="18" charset="0"/>
              </a:rPr>
              <a:t>	</a:t>
            </a:r>
            <a:r>
              <a:rPr lang="en-US" sz="2200" b="0" kern="0" dirty="0" smtClean="0">
                <a:latin typeface="Cambria" pitchFamily="18" charset="0"/>
              </a:rPr>
              <a:t> LES or RANS</a:t>
            </a:r>
          </a:p>
          <a:p>
            <a:pPr lvl="1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200" b="0" kern="0" dirty="0">
              <a:solidFill>
                <a:srgbClr val="000099"/>
              </a:solidFill>
              <a:latin typeface="Cambria" pitchFamily="18" charset="0"/>
            </a:endParaRPr>
          </a:p>
          <a:p>
            <a:pPr lvl="1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200" b="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11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987765"/>
              </p:ext>
            </p:extLst>
          </p:nvPr>
        </p:nvGraphicFramePr>
        <p:xfrm>
          <a:off x="1062037" y="2251075"/>
          <a:ext cx="22860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8" name="Equation" r:id="rId5" imgW="1295400" imgH="254000" progId="Equation.DSMT4">
                  <p:embed/>
                </p:oleObj>
              </mc:Choice>
              <mc:Fallback>
                <p:oleObj name="Equation" r:id="rId5" imgW="129540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7" y="2251075"/>
                        <a:ext cx="22860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783755"/>
              </p:ext>
            </p:extLst>
          </p:nvPr>
        </p:nvGraphicFramePr>
        <p:xfrm>
          <a:off x="4262437" y="2174875"/>
          <a:ext cx="37385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9" name="Equation" r:id="rId7" imgW="2171700" imgH="330200" progId="Equation.DSMT4">
                  <p:embed/>
                </p:oleObj>
              </mc:Choice>
              <mc:Fallback>
                <p:oleObj name="Equation" r:id="rId7" imgW="2171700" imgH="330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7" y="2174875"/>
                        <a:ext cx="37385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098733"/>
              </p:ext>
            </p:extLst>
          </p:nvPr>
        </p:nvGraphicFramePr>
        <p:xfrm>
          <a:off x="3962400" y="4502150"/>
          <a:ext cx="1219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0" name="Equation" r:id="rId9" imgW="558720" imgH="241200" progId="Equation.DSMT4">
                  <p:embed/>
                </p:oleObj>
              </mc:Choice>
              <mc:Fallback>
                <p:oleObj name="Equation" r:id="rId9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502150"/>
                        <a:ext cx="1219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24"/>
          <p:cNvSpPr>
            <a:spLocks noChangeShapeType="1"/>
          </p:cNvSpPr>
          <p:nvPr/>
        </p:nvSpPr>
        <p:spPr bwMode="auto">
          <a:xfrm>
            <a:off x="5486400" y="4730750"/>
            <a:ext cx="76200" cy="152400"/>
          </a:xfrm>
          <a:prstGeom prst="line">
            <a:avLst/>
          </a:prstGeom>
          <a:noFill/>
          <a:ln w="50800" cap="sq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15" name="Line 25"/>
          <p:cNvSpPr>
            <a:spLocks noChangeShapeType="1"/>
          </p:cNvSpPr>
          <p:nvPr/>
        </p:nvSpPr>
        <p:spPr bwMode="auto">
          <a:xfrm flipV="1">
            <a:off x="5562600" y="4502150"/>
            <a:ext cx="152400" cy="381000"/>
          </a:xfrm>
          <a:prstGeom prst="line">
            <a:avLst/>
          </a:prstGeom>
          <a:noFill/>
          <a:ln w="50800" cap="sq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graphicFrame>
        <p:nvGraphicFramePr>
          <p:cNvPr id="16" name="Object 2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54986539"/>
              </p:ext>
            </p:extLst>
          </p:nvPr>
        </p:nvGraphicFramePr>
        <p:xfrm>
          <a:off x="2816225" y="4525963"/>
          <a:ext cx="9937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1" name="Equation" r:id="rId11" imgW="444240" imgH="228600" progId="Equation.DSMT4">
                  <p:embed/>
                </p:oleObj>
              </mc:Choice>
              <mc:Fallback>
                <p:oleObj name="Equation" r:id="rId11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4525963"/>
                        <a:ext cx="9937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28"/>
          <p:cNvSpPr>
            <a:spLocks noChangeShapeType="1"/>
          </p:cNvSpPr>
          <p:nvPr/>
        </p:nvSpPr>
        <p:spPr bwMode="auto">
          <a:xfrm flipH="1">
            <a:off x="5410200" y="5416550"/>
            <a:ext cx="304800" cy="304800"/>
          </a:xfrm>
          <a:prstGeom prst="line">
            <a:avLst/>
          </a:prstGeom>
          <a:noFill/>
          <a:ln w="50800" cap="sq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18" name="Line 29"/>
          <p:cNvSpPr>
            <a:spLocks noChangeShapeType="1"/>
          </p:cNvSpPr>
          <p:nvPr/>
        </p:nvSpPr>
        <p:spPr bwMode="auto">
          <a:xfrm>
            <a:off x="5410200" y="5416550"/>
            <a:ext cx="304800" cy="304800"/>
          </a:xfrm>
          <a:prstGeom prst="line">
            <a:avLst/>
          </a:prstGeom>
          <a:noFill/>
          <a:ln w="50800" cap="sq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graphicFrame>
        <p:nvGraphicFramePr>
          <p:cNvPr id="1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602233"/>
              </p:ext>
            </p:extLst>
          </p:nvPr>
        </p:nvGraphicFramePr>
        <p:xfrm>
          <a:off x="4038600" y="5264150"/>
          <a:ext cx="1219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2" name="Equation" r:id="rId13" imgW="558720" imgH="241200" progId="Equation.DSMT4">
                  <p:embed/>
                </p:oleObj>
              </mc:Choice>
              <mc:Fallback>
                <p:oleObj name="Equation" r:id="rId13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264150"/>
                        <a:ext cx="1219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940576"/>
              </p:ext>
            </p:extLst>
          </p:nvPr>
        </p:nvGraphicFramePr>
        <p:xfrm>
          <a:off x="2755900" y="5284788"/>
          <a:ext cx="11922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" name="Equation" r:id="rId15" imgW="545760" imgH="228600" progId="Equation.DSMT4">
                  <p:embed/>
                </p:oleObj>
              </mc:Choice>
              <mc:Fallback>
                <p:oleObj name="Equation" r:id="rId15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5284788"/>
                        <a:ext cx="11922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76200" y="3810000"/>
            <a:ext cx="2971800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Closure</a:t>
            </a: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lvl="1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200" b="0" kern="0" dirty="0">
              <a:solidFill>
                <a:srgbClr val="000099"/>
              </a:solidFill>
              <a:latin typeface="Cambria" pitchFamily="18" charset="0"/>
            </a:endParaRPr>
          </a:p>
          <a:p>
            <a:pPr lvl="1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200" b="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Composition PDF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1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graphicFrame>
        <p:nvGraphicFramePr>
          <p:cNvPr id="1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021172"/>
              </p:ext>
            </p:extLst>
          </p:nvPr>
        </p:nvGraphicFramePr>
        <p:xfrm>
          <a:off x="1219200" y="2438400"/>
          <a:ext cx="49276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9" name="Equation" r:id="rId4" imgW="2565360" imgH="495000" progId="Equation.DSMT4">
                  <p:embed/>
                </p:oleObj>
              </mc:Choice>
              <mc:Fallback>
                <p:oleObj name="Equation" r:id="rId4" imgW="25653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438400"/>
                        <a:ext cx="4927600" cy="966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35"/>
          <p:cNvSpPr>
            <a:spLocks/>
          </p:cNvSpPr>
          <p:nvPr/>
        </p:nvSpPr>
        <p:spPr bwMode="auto">
          <a:xfrm rot="5400000">
            <a:off x="2362200" y="19812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5" name="AutoShape 37"/>
          <p:cNvSpPr>
            <a:spLocks noChangeArrowheads="1"/>
          </p:cNvSpPr>
          <p:nvPr/>
        </p:nvSpPr>
        <p:spPr bwMode="auto">
          <a:xfrm>
            <a:off x="1143000" y="1371600"/>
            <a:ext cx="1676400" cy="762000"/>
          </a:xfrm>
          <a:prstGeom prst="wedgeRoundRectCallout">
            <a:avLst>
              <a:gd name="adj1" fmla="val 27550"/>
              <a:gd name="adj2" fmla="val 64524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0000FF"/>
                </a:solidFill>
                <a:cs typeface="Lotus" pitchFamily="2" charset="-78"/>
              </a:rPr>
              <a:t>Macro-mixing</a:t>
            </a:r>
            <a:endParaRPr lang="en-US" dirty="0">
              <a:solidFill>
                <a:srgbClr val="0000FF"/>
              </a:solidFill>
              <a:cs typeface="Lotus" pitchFamily="2" charset="-78"/>
            </a:endParaRPr>
          </a:p>
        </p:txBody>
      </p:sp>
      <p:sp>
        <p:nvSpPr>
          <p:cNvPr id="16" name="AutoShape 38"/>
          <p:cNvSpPr>
            <a:spLocks/>
          </p:cNvSpPr>
          <p:nvPr/>
        </p:nvSpPr>
        <p:spPr bwMode="auto">
          <a:xfrm rot="5400000">
            <a:off x="4419600" y="1066800"/>
            <a:ext cx="228600" cy="2667000"/>
          </a:xfrm>
          <a:prstGeom prst="leftBrace">
            <a:avLst>
              <a:gd name="adj1" fmla="val 97222"/>
              <a:gd name="adj2" fmla="val 50000"/>
            </a:avLst>
          </a:prstGeom>
          <a:noFill/>
          <a:ln w="25400" cap="sq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7" name="AutoShape 39"/>
          <p:cNvSpPr>
            <a:spLocks noChangeArrowheads="1"/>
          </p:cNvSpPr>
          <p:nvPr/>
        </p:nvSpPr>
        <p:spPr bwMode="auto">
          <a:xfrm>
            <a:off x="3352800" y="1295400"/>
            <a:ext cx="1295400" cy="762000"/>
          </a:xfrm>
          <a:prstGeom prst="wedgeRoundRectCallout">
            <a:avLst>
              <a:gd name="adj1" fmla="val 37620"/>
              <a:gd name="adj2" fmla="val 66667"/>
              <a:gd name="adj3" fmla="val 16667"/>
            </a:avLst>
          </a:prstGeom>
          <a:noFill/>
          <a:ln w="25400" cap="sq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dirty="0" err="1" smtClean="0">
                <a:solidFill>
                  <a:srgbClr val="FF0000"/>
                </a:solidFill>
                <a:cs typeface="Lotus" pitchFamily="2" charset="-78"/>
              </a:rPr>
              <a:t>Meso</a:t>
            </a:r>
            <a:r>
              <a:rPr lang="en-US" dirty="0" smtClean="0">
                <a:solidFill>
                  <a:srgbClr val="FF0000"/>
                </a:solidFill>
                <a:cs typeface="Lotus" pitchFamily="2" charset="-78"/>
              </a:rPr>
              <a:t>- mixing</a:t>
            </a:r>
            <a:endParaRPr lang="en-US" dirty="0">
              <a:solidFill>
                <a:srgbClr val="FF0000"/>
              </a:solidFill>
              <a:cs typeface="Lotus" pitchFamily="2" charset="-78"/>
            </a:endParaRPr>
          </a:p>
        </p:txBody>
      </p:sp>
      <p:sp>
        <p:nvSpPr>
          <p:cNvPr id="18" name="AutoShape 40"/>
          <p:cNvSpPr>
            <a:spLocks/>
          </p:cNvSpPr>
          <p:nvPr/>
        </p:nvSpPr>
        <p:spPr bwMode="auto">
          <a:xfrm rot="16200000">
            <a:off x="3924300" y="3162300"/>
            <a:ext cx="152400" cy="2667000"/>
          </a:xfrm>
          <a:prstGeom prst="leftBrace">
            <a:avLst>
              <a:gd name="adj1" fmla="val 145833"/>
              <a:gd name="adj2" fmla="val 50000"/>
            </a:avLst>
          </a:prstGeom>
          <a:noFill/>
          <a:ln w="25400" cap="sq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9" name="AutoShape 41"/>
          <p:cNvSpPr>
            <a:spLocks noChangeArrowheads="1"/>
          </p:cNvSpPr>
          <p:nvPr/>
        </p:nvSpPr>
        <p:spPr bwMode="auto">
          <a:xfrm>
            <a:off x="4267200" y="4648200"/>
            <a:ext cx="1371600" cy="838200"/>
          </a:xfrm>
          <a:prstGeom prst="wedgeRoundRectCallout">
            <a:avLst>
              <a:gd name="adj1" fmla="val -69329"/>
              <a:gd name="adj2" fmla="val -57009"/>
              <a:gd name="adj3" fmla="val 16667"/>
            </a:avLst>
          </a:prstGeom>
          <a:noFill/>
          <a:ln w="25400" cap="sq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FF0000"/>
                </a:solidFill>
                <a:cs typeface="Lotus" pitchFamily="2" charset="-78"/>
              </a:rPr>
              <a:t>Micro-mixing</a:t>
            </a:r>
            <a:endParaRPr lang="en-US" sz="2000" dirty="0">
              <a:solidFill>
                <a:srgbClr val="FF0000"/>
              </a:solidFill>
              <a:cs typeface="Lotus" pitchFamily="2" charset="-78"/>
            </a:endParaRPr>
          </a:p>
        </p:txBody>
      </p:sp>
      <p:sp>
        <p:nvSpPr>
          <p:cNvPr id="20" name="AutoShape 47"/>
          <p:cNvSpPr>
            <a:spLocks/>
          </p:cNvSpPr>
          <p:nvPr/>
        </p:nvSpPr>
        <p:spPr bwMode="auto">
          <a:xfrm rot="16200000">
            <a:off x="6781800" y="3810000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1" name="AutoShape 48"/>
          <p:cNvSpPr>
            <a:spLocks noChangeArrowheads="1"/>
          </p:cNvSpPr>
          <p:nvPr/>
        </p:nvSpPr>
        <p:spPr bwMode="auto">
          <a:xfrm>
            <a:off x="6324600" y="4648200"/>
            <a:ext cx="1371600" cy="838200"/>
          </a:xfrm>
          <a:prstGeom prst="wedgeRoundRectCallout">
            <a:avLst>
              <a:gd name="adj1" fmla="val 2199"/>
              <a:gd name="adj2" fmla="val -49620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0000FF"/>
                </a:solidFill>
                <a:cs typeface="Lotus" pitchFamily="2" charset="-78"/>
              </a:rPr>
              <a:t>Reaction</a:t>
            </a:r>
            <a:endParaRPr lang="en-US" sz="2000" dirty="0">
              <a:solidFill>
                <a:srgbClr val="0000FF"/>
              </a:solidFill>
              <a:cs typeface="Lotus" pitchFamily="2" charset="-78"/>
            </a:endParaRPr>
          </a:p>
        </p:txBody>
      </p:sp>
      <p:sp>
        <p:nvSpPr>
          <p:cNvPr id="22" name="Oval 50"/>
          <p:cNvSpPr>
            <a:spLocks noChangeArrowheads="1"/>
          </p:cNvSpPr>
          <p:nvPr/>
        </p:nvSpPr>
        <p:spPr bwMode="auto">
          <a:xfrm>
            <a:off x="4114800" y="2590800"/>
            <a:ext cx="1371600" cy="6858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5181600" y="1372836"/>
            <a:ext cx="1714500" cy="911931"/>
          </a:xfrm>
          <a:prstGeom prst="ellipse">
            <a:avLst/>
          </a:prstGeom>
          <a:noFill/>
          <a:ln w="25400" cap="sq" algn="ctr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dirty="0" smtClean="0">
                <a:solidFill>
                  <a:srgbClr val="009900"/>
                </a:solidFill>
              </a:rPr>
              <a:t>Gradient diffusion</a:t>
            </a:r>
            <a:endParaRPr lang="en-US" dirty="0">
              <a:solidFill>
                <a:srgbClr val="009900"/>
              </a:solidFill>
            </a:endParaRPr>
          </a:p>
        </p:txBody>
      </p:sp>
      <p:cxnSp>
        <p:nvCxnSpPr>
          <p:cNvPr id="28" name="AutoShape 56"/>
          <p:cNvCxnSpPr>
            <a:cxnSpLocks noChangeShapeType="1"/>
            <a:stCxn id="22" idx="0"/>
            <a:endCxn id="23" idx="2"/>
          </p:cNvCxnSpPr>
          <p:nvPr/>
        </p:nvCxnSpPr>
        <p:spPr bwMode="auto">
          <a:xfrm rot="5400000" flipH="1" flipV="1">
            <a:off x="4610101" y="2019301"/>
            <a:ext cx="761998" cy="381000"/>
          </a:xfrm>
          <a:prstGeom prst="curvedConnector2">
            <a:avLst/>
          </a:prstGeom>
          <a:noFill/>
          <a:ln w="25400" cap="sq">
            <a:solidFill>
              <a:srgbClr val="3399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692151"/>
              </p:ext>
            </p:extLst>
          </p:nvPr>
        </p:nvGraphicFramePr>
        <p:xfrm>
          <a:off x="2622550" y="3408363"/>
          <a:ext cx="49657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0" name="Equation" r:id="rId6" imgW="2539800" imgH="507960" progId="Equation.DSMT4">
                  <p:embed/>
                </p:oleObj>
              </mc:Choice>
              <mc:Fallback>
                <p:oleObj name="Equation" r:id="rId6" imgW="25398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3408363"/>
                        <a:ext cx="4965700" cy="1011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64"/>
          <p:cNvSpPr txBox="1">
            <a:spLocks noChangeArrowheads="1"/>
          </p:cNvSpPr>
          <p:nvPr/>
        </p:nvSpPr>
        <p:spPr bwMode="auto">
          <a:xfrm>
            <a:off x="2057400" y="4987925"/>
            <a:ext cx="1905000" cy="1336675"/>
          </a:xfrm>
          <a:prstGeom prst="rect">
            <a:avLst/>
          </a:prstGeom>
          <a:noFill/>
          <a:ln w="25400" cap="sq" algn="ctr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 smtClean="0">
                <a:solidFill>
                  <a:srgbClr val="009900"/>
                </a:solidFill>
                <a:latin typeface="Script"/>
              </a:rPr>
              <a:t>Curl’s </a:t>
            </a:r>
            <a:r>
              <a:rPr lang="en-US" sz="2000" dirty="0">
                <a:solidFill>
                  <a:srgbClr val="009900"/>
                </a:solidFill>
                <a:latin typeface="Script"/>
              </a:rPr>
              <a:t>model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9900"/>
                </a:solidFill>
                <a:latin typeface="Script"/>
              </a:rPr>
              <a:t>LIEM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9900"/>
                </a:solidFill>
                <a:latin typeface="Script"/>
              </a:rPr>
              <a:t>, …</a:t>
            </a:r>
          </a:p>
        </p:txBody>
      </p:sp>
      <p:cxnSp>
        <p:nvCxnSpPr>
          <p:cNvPr id="32" name="AutoShape 65"/>
          <p:cNvCxnSpPr>
            <a:cxnSpLocks noChangeShapeType="1"/>
            <a:stCxn id="18" idx="1"/>
            <a:endCxn id="31" idx="0"/>
          </p:cNvCxnSpPr>
          <p:nvPr/>
        </p:nvCxnSpPr>
        <p:spPr bwMode="auto">
          <a:xfrm rot="5400000">
            <a:off x="3309937" y="4284663"/>
            <a:ext cx="390525" cy="990600"/>
          </a:xfrm>
          <a:prstGeom prst="curvedConnector3">
            <a:avLst>
              <a:gd name="adj1" fmla="val 50000"/>
            </a:avLst>
          </a:prstGeom>
          <a:noFill/>
          <a:ln w="25400" cap="sq">
            <a:solidFill>
              <a:srgbClr val="3399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3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670836"/>
              </p:ext>
            </p:extLst>
          </p:nvPr>
        </p:nvGraphicFramePr>
        <p:xfrm>
          <a:off x="5238750" y="1447800"/>
          <a:ext cx="21717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1" name="Equation" r:id="rId8" imgW="1434960" imgH="507960" progId="Equation.DSMT4">
                  <p:embed/>
                </p:oleObj>
              </mc:Choice>
              <mc:Fallback>
                <p:oleObj name="Equation" r:id="rId8" imgW="14349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1447800"/>
                        <a:ext cx="2171700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7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171585171"/>
              </p:ext>
            </p:extLst>
          </p:nvPr>
        </p:nvGraphicFramePr>
        <p:xfrm>
          <a:off x="1220788" y="2427288"/>
          <a:ext cx="4414837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2" name="Equation" r:id="rId10" imgW="2184120" imgH="533160" progId="Equation.DSMT4">
                  <p:embed/>
                </p:oleObj>
              </mc:Choice>
              <mc:Fallback>
                <p:oleObj name="Equation" r:id="rId10" imgW="21841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2427288"/>
                        <a:ext cx="4414837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266141"/>
              </p:ext>
            </p:extLst>
          </p:nvPr>
        </p:nvGraphicFramePr>
        <p:xfrm>
          <a:off x="3810000" y="3429000"/>
          <a:ext cx="38862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3" name="Equation" r:id="rId12" imgW="1777680" imgH="431640" progId="Equation.DSMT4">
                  <p:embed/>
                </p:oleObj>
              </mc:Choice>
              <mc:Fallback>
                <p:oleObj name="Equation" r:id="rId12" imgW="1777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429000"/>
                        <a:ext cx="3886200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0093 L -0.16666 0.16555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3" y="832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5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1" grpId="2" animBg="1"/>
      <p:bldP spid="22" grpId="0" animBg="1"/>
      <p:bldP spid="22" grpId="1" animBg="1"/>
      <p:bldP spid="23" grpId="0" animBg="1"/>
      <p:bldP spid="23" grpId="1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Semi-</a:t>
            </a:r>
            <a:r>
              <a:rPr lang="en-US" sz="3200" dirty="0" err="1" smtClean="0">
                <a:solidFill>
                  <a:srgbClr val="000099"/>
                </a:solidFill>
                <a:latin typeface="Cambria" pitchFamily="18" charset="0"/>
              </a:rPr>
              <a:t>Eulerian</a:t>
            </a:r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 Monte Carlo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5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5638800" y="1828800"/>
            <a:ext cx="1676400" cy="1143000"/>
          </a:xfrm>
          <a:prstGeom prst="rect">
            <a:avLst/>
          </a:prstGeom>
          <a:noFill/>
          <a:ln w="254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Convection</a:t>
            </a:r>
            <a:endParaRPr lang="fa-IR" sz="20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And</a:t>
            </a: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Diffusion</a:t>
            </a:r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1371600" cy="838200"/>
          </a:xfrm>
          <a:prstGeom prst="rect">
            <a:avLst/>
          </a:prstGeom>
          <a:noFill/>
          <a:ln w="25400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Micro-Mixing</a:t>
            </a:r>
            <a:endParaRPr lang="fa-IR" dirty="0">
              <a:solidFill>
                <a:srgbClr val="0000FF"/>
              </a:solidFill>
              <a:latin typeface="Script"/>
              <a:cs typeface="Lotus" pitchFamily="2" charset="-78"/>
            </a:endParaRPr>
          </a:p>
          <a:p>
            <a:pPr rtl="1"/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5791200" y="4419600"/>
            <a:ext cx="1371600" cy="685800"/>
          </a:xfrm>
          <a:prstGeom prst="rect">
            <a:avLst/>
          </a:prstGeom>
          <a:noFill/>
          <a:ln w="25400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Reaction</a:t>
            </a:r>
            <a:endParaRPr lang="fa-IR" sz="2000" dirty="0">
              <a:latin typeface="Script"/>
              <a:cs typeface="Lotus" pitchFamily="2" charset="-78"/>
            </a:endParaRPr>
          </a:p>
          <a:p>
            <a:pPr rtl="1"/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>
            <a:off x="6477000" y="2971800"/>
            <a:ext cx="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1"/>
          <p:cNvSpPr>
            <a:spLocks noChangeShapeType="1"/>
          </p:cNvSpPr>
          <p:nvPr/>
        </p:nvSpPr>
        <p:spPr bwMode="auto">
          <a:xfrm>
            <a:off x="6477000" y="4114800"/>
            <a:ext cx="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AutoShape 22"/>
          <p:cNvSpPr>
            <a:spLocks/>
          </p:cNvSpPr>
          <p:nvPr/>
        </p:nvSpPr>
        <p:spPr bwMode="auto">
          <a:xfrm>
            <a:off x="7467600" y="1828800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2" name="AutoShape 23"/>
          <p:cNvSpPr>
            <a:spLocks/>
          </p:cNvSpPr>
          <p:nvPr/>
        </p:nvSpPr>
        <p:spPr bwMode="auto">
          <a:xfrm>
            <a:off x="7467600" y="3276600"/>
            <a:ext cx="152400" cy="1828800"/>
          </a:xfrm>
          <a:prstGeom prst="rightBrace">
            <a:avLst>
              <a:gd name="adj1" fmla="val 129167"/>
              <a:gd name="adj2" fmla="val 50000"/>
            </a:avLst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3" name="Text Box 24"/>
          <p:cNvSpPr txBox="1">
            <a:spLocks noChangeArrowheads="1"/>
          </p:cNvSpPr>
          <p:nvPr/>
        </p:nvSpPr>
        <p:spPr bwMode="auto">
          <a:xfrm>
            <a:off x="7391400" y="2057400"/>
            <a:ext cx="1676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Inter-cell processes</a:t>
            </a:r>
            <a:endParaRPr lang="en-US" dirty="0">
              <a:solidFill>
                <a:srgbClr val="0000FF"/>
              </a:solidFill>
              <a:cs typeface="Nazanin" pitchFamily="2" charset="-78"/>
            </a:endParaRP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7387771" y="3962400"/>
            <a:ext cx="1676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Intra-cell</a:t>
            </a:r>
          </a:p>
          <a:p>
            <a:pPr rtl="1"/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processes</a:t>
            </a:r>
            <a:endParaRPr lang="en-US" dirty="0">
              <a:solidFill>
                <a:srgbClr val="0000FF"/>
              </a:solidFill>
              <a:cs typeface="Nazanin" pitchFamily="2" charset="-78"/>
            </a:endParaRP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5638800" y="609600"/>
            <a:ext cx="1752600" cy="914400"/>
          </a:xfrm>
          <a:prstGeom prst="rect">
            <a:avLst/>
          </a:prstGeom>
          <a:noFill/>
          <a:ln w="254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r>
              <a:rPr lang="en-US" sz="2000" dirty="0" smtClean="0">
                <a:latin typeface="Script"/>
                <a:cs typeface="Lotus" pitchFamily="2" charset="-78"/>
              </a:rPr>
              <a:t>Particles at time step </a:t>
            </a:r>
            <a:r>
              <a:rPr lang="en-US" sz="2000" i="1" dirty="0" smtClean="0">
                <a:latin typeface="Script"/>
                <a:cs typeface="Lotus" pitchFamily="2" charset="-78"/>
              </a:rPr>
              <a:t>n</a:t>
            </a:r>
            <a:endParaRPr lang="fa-IR" sz="2000" i="1" dirty="0">
              <a:latin typeface="Script"/>
              <a:cs typeface="Lotus" pitchFamily="2" charset="-78"/>
            </a:endParaRPr>
          </a:p>
          <a:p>
            <a:pPr rtl="1"/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39" name="Line 38"/>
          <p:cNvSpPr>
            <a:spLocks noChangeShapeType="1"/>
          </p:cNvSpPr>
          <p:nvPr/>
        </p:nvSpPr>
        <p:spPr bwMode="auto">
          <a:xfrm>
            <a:off x="6477000" y="1524000"/>
            <a:ext cx="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6477000" y="5105400"/>
            <a:ext cx="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024303"/>
              </p:ext>
            </p:extLst>
          </p:nvPr>
        </p:nvGraphicFramePr>
        <p:xfrm>
          <a:off x="457200" y="4633913"/>
          <a:ext cx="499586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8" name="Equation" r:id="rId4" imgW="2921000" imgH="457200" progId="Equation.DSMT4">
                  <p:embed/>
                </p:oleObj>
              </mc:Choice>
              <mc:Fallback>
                <p:oleObj name="Equation" r:id="rId4" imgW="29210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633913"/>
                        <a:ext cx="499586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Line 21"/>
          <p:cNvSpPr>
            <a:spLocks noChangeShapeType="1"/>
          </p:cNvSpPr>
          <p:nvPr/>
        </p:nvSpPr>
        <p:spPr bwMode="auto">
          <a:xfrm flipH="1" flipV="1">
            <a:off x="3810000" y="5257800"/>
            <a:ext cx="1828800" cy="685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 Box 37"/>
          <p:cNvSpPr txBox="1">
            <a:spLocks noChangeArrowheads="1"/>
          </p:cNvSpPr>
          <p:nvPr/>
        </p:nvSpPr>
        <p:spPr bwMode="auto">
          <a:xfrm>
            <a:off x="5638800" y="5410200"/>
            <a:ext cx="1752600" cy="1066800"/>
          </a:xfrm>
          <a:prstGeom prst="rect">
            <a:avLst/>
          </a:prstGeom>
          <a:noFill/>
          <a:ln w="254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Particles at time step </a:t>
            </a:r>
            <a:r>
              <a:rPr lang="en-US" sz="2000" i="1" dirty="0" smtClean="0">
                <a:latin typeface="Script"/>
                <a:cs typeface="Lotus" pitchFamily="2" charset="-78"/>
              </a:rPr>
              <a:t>n+1</a:t>
            </a:r>
            <a:endParaRPr lang="fa-IR" sz="2000" i="1" dirty="0">
              <a:latin typeface="Script"/>
              <a:cs typeface="Lotus" pitchFamily="2" charset="-78"/>
            </a:endParaRPr>
          </a:p>
          <a:p>
            <a:pPr rtl="1"/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-76200" y="1219200"/>
            <a:ext cx="5562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Fractional steps algorithm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6"/>
              </a:buBlip>
              <a:defRPr/>
            </a:pP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A grid of computational cells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6"/>
              </a:buBlip>
              <a:defRPr/>
            </a:pP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There are       particles in each cell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6"/>
              </a:buBlip>
              <a:defRPr/>
            </a:pP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Each particle has a value 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6"/>
              </a:buBlip>
              <a:defRPr/>
            </a:pP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Statistics in </a:t>
            </a:r>
            <a:r>
              <a:rPr lang="en-US" sz="2000" b="0" kern="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</a:rPr>
              <a:t>each cell </a:t>
            </a: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at </a:t>
            </a:r>
            <a:r>
              <a:rPr lang="en-US" sz="2000" b="0" kern="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</a:rPr>
              <a:t>each time</a:t>
            </a: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 are calculated from the particles presented in that cell at the given time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lvl="1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200" b="0" kern="0" dirty="0">
              <a:solidFill>
                <a:srgbClr val="000099"/>
              </a:solidFill>
              <a:latin typeface="Cambria" pitchFamily="18" charset="0"/>
            </a:endParaRPr>
          </a:p>
          <a:p>
            <a:pPr lvl="1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200" b="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010145"/>
              </p:ext>
            </p:extLst>
          </p:nvPr>
        </p:nvGraphicFramePr>
        <p:xfrm>
          <a:off x="4572000" y="2041525"/>
          <a:ext cx="9144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9" name="Equation" r:id="rId7" imgW="444307" imgH="228501" progId="Equation.DSMT4">
                  <p:embed/>
                </p:oleObj>
              </mc:Choice>
              <mc:Fallback>
                <p:oleObj name="Equation" r:id="rId7" imgW="444307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41525"/>
                        <a:ext cx="9144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999088"/>
              </p:ext>
            </p:extLst>
          </p:nvPr>
        </p:nvGraphicFramePr>
        <p:xfrm>
          <a:off x="2057400" y="2117035"/>
          <a:ext cx="381000" cy="397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0" name="Equation" r:id="rId9" imgW="215806" imgH="228501" progId="Equation.DSMT4">
                  <p:embed/>
                </p:oleObj>
              </mc:Choice>
              <mc:Fallback>
                <p:oleObj name="Equation" r:id="rId9" imgW="215806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117035"/>
                        <a:ext cx="381000" cy="397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194948"/>
              </p:ext>
            </p:extLst>
          </p:nvPr>
        </p:nvGraphicFramePr>
        <p:xfrm>
          <a:off x="3733800" y="2374900"/>
          <a:ext cx="533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1" name="Equation" r:id="rId11" imgW="266469" imgH="253780" progId="Equation.DSMT4">
                  <p:embed/>
                </p:oleObj>
              </mc:Choice>
              <mc:Fallback>
                <p:oleObj name="Equation" r:id="rId11" imgW="266469" imgH="2537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374900"/>
                        <a:ext cx="533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8" grpId="0" animBg="1"/>
      <p:bldP spid="29" grpId="0" animBg="1"/>
      <p:bldP spid="31" grpId="0" animBg="1"/>
      <p:bldP spid="32" grpId="0" animBg="1"/>
      <p:bldP spid="33" grpId="0"/>
      <p:bldP spid="34" grpId="0"/>
      <p:bldP spid="38" grpId="0" animBg="1"/>
      <p:bldP spid="39" grpId="0" animBg="1"/>
      <p:bldP spid="41" grpId="0" animBg="1"/>
      <p:bldP spid="42" grpId="0" animBg="1"/>
      <p:bldP spid="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Flowchart of a sample code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5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2667000" y="1066800"/>
            <a:ext cx="1600200" cy="106680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r>
              <a:rPr lang="en-US" sz="2200" dirty="0" smtClean="0">
                <a:latin typeface="Script"/>
                <a:cs typeface="Lotus" pitchFamily="2" charset="-78"/>
              </a:rPr>
              <a:t>RANS</a:t>
            </a:r>
            <a:endParaRPr lang="en-US" sz="2200" dirty="0">
              <a:latin typeface="Script"/>
              <a:cs typeface="Lotus" pitchFamily="2" charset="-78"/>
            </a:endParaRPr>
          </a:p>
          <a:p>
            <a:pPr rtl="1"/>
            <a:r>
              <a:rPr lang="en-US" dirty="0">
                <a:solidFill>
                  <a:srgbClr val="0000FF"/>
                </a:solidFill>
                <a:latin typeface="Script"/>
                <a:cs typeface="Lotus" pitchFamily="2" charset="-78"/>
              </a:rPr>
              <a:t>(SIMPLE)</a:t>
            </a:r>
          </a:p>
          <a:p>
            <a:r>
              <a:rPr lang="en-US" dirty="0" err="1">
                <a:latin typeface="Script"/>
                <a:cs typeface="Lotus" pitchFamily="2" charset="-78"/>
              </a:rPr>
              <a:t>u</a:t>
            </a:r>
            <a:r>
              <a:rPr lang="en-US" baseline="-25000" dirty="0" err="1">
                <a:latin typeface="Script"/>
                <a:cs typeface="Lotus" pitchFamily="2" charset="-78"/>
              </a:rPr>
              <a:t>i</a:t>
            </a:r>
            <a:r>
              <a:rPr lang="en-US" dirty="0">
                <a:latin typeface="Script"/>
                <a:cs typeface="Lotus" pitchFamily="2" charset="-78"/>
              </a:rPr>
              <a:t>     </a:t>
            </a:r>
            <a:r>
              <a:rPr lang="en-US" dirty="0" err="1">
                <a:latin typeface="Script"/>
              </a:rPr>
              <a:t>Δ</a:t>
            </a:r>
            <a:r>
              <a:rPr lang="en-US" dirty="0" err="1">
                <a:latin typeface="Script"/>
                <a:cs typeface="Lotus" pitchFamily="2" charset="-78"/>
              </a:rPr>
              <a:t>p</a:t>
            </a:r>
            <a:endParaRPr lang="en-US" dirty="0">
              <a:latin typeface="Script"/>
              <a:cs typeface="Lotus" pitchFamily="2" charset="-78"/>
            </a:endParaRP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2209800" y="2743200"/>
            <a:ext cx="2503488" cy="106680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r>
              <a:rPr lang="en-US" sz="2200" dirty="0" smtClean="0">
                <a:latin typeface="Script"/>
                <a:cs typeface="Lotus" pitchFamily="2" charset="-78"/>
              </a:rPr>
              <a:t>Closure</a:t>
            </a:r>
          </a:p>
          <a:p>
            <a:pPr rtl="1"/>
            <a:r>
              <a:rPr lang="en-US" sz="2200" dirty="0">
                <a:solidFill>
                  <a:srgbClr val="0000FF"/>
                </a:solidFill>
                <a:latin typeface="Script"/>
                <a:cs typeface="Lotus" pitchFamily="2" charset="-78"/>
              </a:rPr>
              <a:t>k-</a:t>
            </a:r>
            <a:r>
              <a:rPr lang="el-GR" sz="2200" dirty="0" smtClean="0">
                <a:solidFill>
                  <a:srgbClr val="0000FF"/>
                </a:solidFill>
                <a:latin typeface="Script"/>
              </a:rPr>
              <a:t>ε</a:t>
            </a:r>
            <a:r>
              <a:rPr lang="en-US" sz="2200" dirty="0" smtClean="0">
                <a:solidFill>
                  <a:srgbClr val="0000FF"/>
                </a:solidFill>
                <a:latin typeface="Script"/>
              </a:rPr>
              <a:t> model</a:t>
            </a:r>
            <a:endParaRPr lang="el-GR" sz="2200" dirty="0">
              <a:solidFill>
                <a:srgbClr val="0000FF"/>
              </a:solidFill>
              <a:latin typeface="Script"/>
            </a:endParaRPr>
          </a:p>
          <a:p>
            <a:r>
              <a:rPr lang="en-US" dirty="0">
                <a:latin typeface="Script"/>
                <a:cs typeface="Lotus" pitchFamily="2" charset="-78"/>
              </a:rPr>
              <a:t>k     </a:t>
            </a:r>
            <a:r>
              <a:rPr lang="en-US" dirty="0">
                <a:latin typeface="Script"/>
              </a:rPr>
              <a:t>ε</a:t>
            </a:r>
            <a:endParaRPr lang="en-US" dirty="0">
              <a:latin typeface="Script"/>
              <a:cs typeface="Lotus" pitchFamily="2" charset="-78"/>
            </a:endParaRPr>
          </a:p>
        </p:txBody>
      </p:sp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2438400" y="4419600"/>
            <a:ext cx="1905000" cy="106680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r>
              <a:rPr lang="en-US" sz="2200" dirty="0" smtClean="0">
                <a:latin typeface="Script"/>
                <a:cs typeface="Nazanin" pitchFamily="2" charset="-78"/>
              </a:rPr>
              <a:t>Composition</a:t>
            </a:r>
            <a:endParaRPr lang="fa-IR" sz="2000" dirty="0">
              <a:latin typeface="Script"/>
              <a:cs typeface="Nazanin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Nazanin" pitchFamily="2" charset="-78"/>
              </a:rPr>
              <a:t>PDF</a:t>
            </a:r>
            <a:endParaRPr lang="en-US" sz="2000" dirty="0">
              <a:latin typeface="Script"/>
              <a:cs typeface="Nazanin" pitchFamily="2" charset="-78"/>
            </a:endParaRPr>
          </a:p>
          <a:p>
            <a:r>
              <a:rPr lang="en-US" dirty="0" smtClean="0">
                <a:latin typeface="Script"/>
                <a:cs typeface="Nazanin" pitchFamily="2" charset="-78"/>
              </a:rPr>
              <a:t>Y</a:t>
            </a:r>
            <a:r>
              <a:rPr lang="en-US" baseline="-25000" dirty="0" smtClean="0">
                <a:latin typeface="Script"/>
                <a:cs typeface="Nazanin" pitchFamily="2" charset="-78"/>
              </a:rPr>
              <a:t>i</a:t>
            </a:r>
            <a:r>
              <a:rPr lang="en-US" dirty="0" smtClean="0">
                <a:latin typeface="Script"/>
                <a:cs typeface="Nazanin" pitchFamily="2" charset="-78"/>
              </a:rPr>
              <a:t>     </a:t>
            </a:r>
            <a:r>
              <a:rPr lang="en-US" dirty="0">
                <a:latin typeface="Script"/>
                <a:cs typeface="Nazanin" pitchFamily="2" charset="-78"/>
              </a:rPr>
              <a:t>T</a:t>
            </a:r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>
            <a:off x="3429000" y="2133600"/>
            <a:ext cx="0" cy="6096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 Box 12"/>
          <p:cNvSpPr txBox="1">
            <a:spLocks noChangeArrowheads="1"/>
          </p:cNvSpPr>
          <p:nvPr/>
        </p:nvSpPr>
        <p:spPr bwMode="auto">
          <a:xfrm>
            <a:off x="533400" y="4648200"/>
            <a:ext cx="990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r>
              <a:rPr lang="en-US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MC</a:t>
            </a:r>
          </a:p>
          <a:p>
            <a:r>
              <a:rPr lang="en-US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Solver</a:t>
            </a:r>
            <a:endParaRPr lang="en-US">
              <a:solidFill>
                <a:srgbClr val="0000FF"/>
              </a:solidFill>
              <a:cs typeface="Nazanin" pitchFamily="2" charset="-78"/>
            </a:endParaRPr>
          </a:p>
        </p:txBody>
      </p:sp>
      <p:sp>
        <p:nvSpPr>
          <p:cNvPr id="37" name="Text Box 13"/>
          <p:cNvSpPr txBox="1">
            <a:spLocks noChangeArrowheads="1"/>
          </p:cNvSpPr>
          <p:nvPr/>
        </p:nvSpPr>
        <p:spPr bwMode="auto">
          <a:xfrm>
            <a:off x="533400" y="2209800"/>
            <a:ext cx="91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r>
              <a:rPr lang="en-US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FD</a:t>
            </a:r>
          </a:p>
          <a:p>
            <a:r>
              <a:rPr lang="en-US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Solver</a:t>
            </a:r>
            <a:endParaRPr lang="en-US">
              <a:solidFill>
                <a:srgbClr val="0000FF"/>
              </a:solidFill>
              <a:cs typeface="Nazanin" pitchFamily="2" charset="-78"/>
            </a:endParaRPr>
          </a:p>
        </p:txBody>
      </p:sp>
      <p:sp>
        <p:nvSpPr>
          <p:cNvPr id="40" name="Text Box 15"/>
          <p:cNvSpPr txBox="1">
            <a:spLocks noChangeArrowheads="1"/>
          </p:cNvSpPr>
          <p:nvPr/>
        </p:nvSpPr>
        <p:spPr bwMode="auto">
          <a:xfrm>
            <a:off x="3276600" y="2209800"/>
            <a:ext cx="60960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err="1">
                <a:latin typeface="Script"/>
              </a:rPr>
              <a:t>u</a:t>
            </a:r>
            <a:r>
              <a:rPr lang="en-US" baseline="-25000" dirty="0" err="1">
                <a:latin typeface="Script"/>
              </a:rPr>
              <a:t>i</a:t>
            </a:r>
            <a:r>
              <a:rPr lang="en-US" dirty="0">
                <a:latin typeface="Script"/>
              </a:rPr>
              <a:t> </a:t>
            </a:r>
          </a:p>
        </p:txBody>
      </p:sp>
      <p:sp>
        <p:nvSpPr>
          <p:cNvPr id="45" name="Text Box 16"/>
          <p:cNvSpPr txBox="1">
            <a:spLocks noChangeArrowheads="1"/>
          </p:cNvSpPr>
          <p:nvPr/>
        </p:nvSpPr>
        <p:spPr bwMode="auto">
          <a:xfrm>
            <a:off x="3352800" y="3886200"/>
            <a:ext cx="45720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l-GR" dirty="0">
                <a:latin typeface="Script"/>
              </a:rPr>
              <a:t>τ</a:t>
            </a:r>
            <a:r>
              <a:rPr lang="en-US" baseline="-25000" dirty="0">
                <a:latin typeface="Script"/>
              </a:rPr>
              <a:t>t</a:t>
            </a:r>
            <a:endParaRPr lang="el-GR" baseline="-25000" dirty="0">
              <a:latin typeface="Script"/>
            </a:endParaRPr>
          </a:p>
        </p:txBody>
      </p:sp>
      <p:sp>
        <p:nvSpPr>
          <p:cNvPr id="46" name="Text Box 17"/>
          <p:cNvSpPr txBox="1">
            <a:spLocks noChangeArrowheads="1"/>
          </p:cNvSpPr>
          <p:nvPr/>
        </p:nvSpPr>
        <p:spPr bwMode="auto">
          <a:xfrm>
            <a:off x="1981200" y="1219200"/>
            <a:ext cx="60960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l-GR" dirty="0">
                <a:latin typeface="Script"/>
              </a:rPr>
              <a:t>ρ</a:t>
            </a:r>
          </a:p>
        </p:txBody>
      </p:sp>
      <p:sp>
        <p:nvSpPr>
          <p:cNvPr id="47" name="Line 18"/>
          <p:cNvSpPr>
            <a:spLocks noChangeShapeType="1"/>
          </p:cNvSpPr>
          <p:nvPr/>
        </p:nvSpPr>
        <p:spPr bwMode="auto">
          <a:xfrm>
            <a:off x="3429000" y="3810000"/>
            <a:ext cx="0" cy="6096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4191000" y="3810000"/>
            <a:ext cx="68580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err="1">
                <a:latin typeface="Script"/>
              </a:rPr>
              <a:t>u</a:t>
            </a:r>
            <a:r>
              <a:rPr lang="en-US" baseline="-25000" dirty="0" err="1">
                <a:latin typeface="Script"/>
              </a:rPr>
              <a:t>i</a:t>
            </a:r>
            <a:r>
              <a:rPr lang="en-US" dirty="0">
                <a:latin typeface="Script"/>
              </a:rPr>
              <a:t>, p</a:t>
            </a:r>
            <a:endParaRPr lang="el-GR" baseline="-25000" dirty="0">
              <a:latin typeface="Script"/>
            </a:endParaRPr>
          </a:p>
        </p:txBody>
      </p:sp>
      <p:sp>
        <p:nvSpPr>
          <p:cNvPr id="49" name="Line 21"/>
          <p:cNvSpPr>
            <a:spLocks noChangeShapeType="1"/>
          </p:cNvSpPr>
          <p:nvPr/>
        </p:nvSpPr>
        <p:spPr bwMode="auto">
          <a:xfrm>
            <a:off x="4267200" y="1600200"/>
            <a:ext cx="8382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50" name="Line 22"/>
          <p:cNvSpPr>
            <a:spLocks noChangeShapeType="1"/>
          </p:cNvSpPr>
          <p:nvPr/>
        </p:nvSpPr>
        <p:spPr bwMode="auto">
          <a:xfrm>
            <a:off x="5105400" y="1600200"/>
            <a:ext cx="0" cy="259080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51" name="Line 23"/>
          <p:cNvSpPr>
            <a:spLocks noChangeShapeType="1"/>
          </p:cNvSpPr>
          <p:nvPr/>
        </p:nvSpPr>
        <p:spPr bwMode="auto">
          <a:xfrm flipH="1">
            <a:off x="3886200" y="4191000"/>
            <a:ext cx="12192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52" name="Line 24"/>
          <p:cNvSpPr>
            <a:spLocks noChangeShapeType="1"/>
          </p:cNvSpPr>
          <p:nvPr/>
        </p:nvSpPr>
        <p:spPr bwMode="auto">
          <a:xfrm>
            <a:off x="3886200" y="4191000"/>
            <a:ext cx="0" cy="22860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53" name="Line 25"/>
          <p:cNvSpPr>
            <a:spLocks noChangeShapeType="1"/>
          </p:cNvSpPr>
          <p:nvPr/>
        </p:nvSpPr>
        <p:spPr bwMode="auto">
          <a:xfrm flipH="1">
            <a:off x="1981200" y="4951413"/>
            <a:ext cx="458788" cy="1587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54" name="Line 26"/>
          <p:cNvSpPr>
            <a:spLocks noChangeShapeType="1"/>
          </p:cNvSpPr>
          <p:nvPr/>
        </p:nvSpPr>
        <p:spPr bwMode="auto">
          <a:xfrm flipV="1">
            <a:off x="1981200" y="1600200"/>
            <a:ext cx="0" cy="335280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55" name="Line 28"/>
          <p:cNvSpPr>
            <a:spLocks noChangeShapeType="1"/>
          </p:cNvSpPr>
          <p:nvPr/>
        </p:nvSpPr>
        <p:spPr bwMode="auto">
          <a:xfrm>
            <a:off x="1981200" y="1600200"/>
            <a:ext cx="685800" cy="0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US"/>
          </a:p>
        </p:txBody>
      </p:sp>
      <p:sp>
        <p:nvSpPr>
          <p:cNvPr id="56" name="AutoShape 29"/>
          <p:cNvSpPr>
            <a:spLocks/>
          </p:cNvSpPr>
          <p:nvPr/>
        </p:nvSpPr>
        <p:spPr bwMode="auto">
          <a:xfrm>
            <a:off x="1447800" y="1066800"/>
            <a:ext cx="304800" cy="2819400"/>
          </a:xfrm>
          <a:prstGeom prst="leftBrace">
            <a:avLst>
              <a:gd name="adj1" fmla="val 77083"/>
              <a:gd name="adj2" fmla="val 50000"/>
            </a:avLst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57" name="AutoShape 30"/>
          <p:cNvSpPr>
            <a:spLocks/>
          </p:cNvSpPr>
          <p:nvPr/>
        </p:nvSpPr>
        <p:spPr bwMode="auto">
          <a:xfrm>
            <a:off x="1447800" y="4191000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58" name="AutoShape 32"/>
          <p:cNvSpPr>
            <a:spLocks noChangeArrowheads="1"/>
          </p:cNvSpPr>
          <p:nvPr/>
        </p:nvSpPr>
        <p:spPr bwMode="auto">
          <a:xfrm>
            <a:off x="5562600" y="2743200"/>
            <a:ext cx="3352800" cy="3581400"/>
          </a:xfrm>
          <a:prstGeom prst="wedgeRectCallout">
            <a:avLst>
              <a:gd name="adj1" fmla="val -87057"/>
              <a:gd name="adj2" fmla="val 12397"/>
            </a:avLst>
          </a:prstGeom>
          <a:noFill/>
          <a:ln w="25400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/>
          <a:p>
            <a:endParaRPr lang="en-US"/>
          </a:p>
        </p:txBody>
      </p:sp>
      <p:sp>
        <p:nvSpPr>
          <p:cNvPr id="62" name="Text Box 37"/>
          <p:cNvSpPr txBox="1">
            <a:spLocks noChangeArrowheads="1"/>
          </p:cNvSpPr>
          <p:nvPr/>
        </p:nvSpPr>
        <p:spPr bwMode="auto">
          <a:xfrm>
            <a:off x="6248400" y="2362200"/>
            <a:ext cx="2133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Fractional steps</a:t>
            </a:r>
            <a:endParaRPr lang="en-US" sz="2000" dirty="0">
              <a:solidFill>
                <a:srgbClr val="0000FF"/>
              </a:solidFill>
              <a:cs typeface="Nazanin" pitchFamily="2" charset="-78"/>
            </a:endParaRPr>
          </a:p>
        </p:txBody>
      </p:sp>
      <p:sp>
        <p:nvSpPr>
          <p:cNvPr id="69" name="Text Box 16"/>
          <p:cNvSpPr txBox="1">
            <a:spLocks noChangeArrowheads="1"/>
          </p:cNvSpPr>
          <p:nvPr/>
        </p:nvSpPr>
        <p:spPr bwMode="auto">
          <a:xfrm>
            <a:off x="5638800" y="2819400"/>
            <a:ext cx="1676400" cy="1143000"/>
          </a:xfrm>
          <a:prstGeom prst="rect">
            <a:avLst/>
          </a:prstGeom>
          <a:noFill/>
          <a:ln w="2540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Convection</a:t>
            </a:r>
            <a:endParaRPr lang="fa-IR" sz="20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And</a:t>
            </a: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Diffusion</a:t>
            </a:r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70" name="Text Box 17"/>
          <p:cNvSpPr txBox="1">
            <a:spLocks noChangeArrowheads="1"/>
          </p:cNvSpPr>
          <p:nvPr/>
        </p:nvSpPr>
        <p:spPr bwMode="auto">
          <a:xfrm>
            <a:off x="5791200" y="4267200"/>
            <a:ext cx="1371600" cy="838200"/>
          </a:xfrm>
          <a:prstGeom prst="rect">
            <a:avLst/>
          </a:prstGeom>
          <a:noFill/>
          <a:ln w="25400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Micro-Mixing</a:t>
            </a:r>
            <a:endParaRPr lang="fa-IR" dirty="0">
              <a:solidFill>
                <a:srgbClr val="0000FF"/>
              </a:solidFill>
              <a:latin typeface="Script"/>
              <a:cs typeface="Lotus" pitchFamily="2" charset="-78"/>
            </a:endParaRPr>
          </a:p>
          <a:p>
            <a:pPr rtl="1"/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71" name="Text Box 18"/>
          <p:cNvSpPr txBox="1">
            <a:spLocks noChangeArrowheads="1"/>
          </p:cNvSpPr>
          <p:nvPr/>
        </p:nvSpPr>
        <p:spPr bwMode="auto">
          <a:xfrm>
            <a:off x="5791200" y="5410200"/>
            <a:ext cx="1371600" cy="685800"/>
          </a:xfrm>
          <a:prstGeom prst="rect">
            <a:avLst/>
          </a:prstGeom>
          <a:noFill/>
          <a:ln w="25400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endParaRPr lang="fa-IR" sz="800" dirty="0">
              <a:latin typeface="Script"/>
              <a:cs typeface="Lotus" pitchFamily="2" charset="-78"/>
            </a:endParaRPr>
          </a:p>
          <a:p>
            <a:pPr rtl="1"/>
            <a:r>
              <a:rPr lang="en-US" sz="2000" dirty="0" smtClean="0">
                <a:latin typeface="Script"/>
                <a:cs typeface="Lotus" pitchFamily="2" charset="-78"/>
              </a:rPr>
              <a:t>Reaction</a:t>
            </a:r>
            <a:endParaRPr lang="fa-IR" sz="2000" dirty="0">
              <a:latin typeface="Script"/>
              <a:cs typeface="Lotus" pitchFamily="2" charset="-78"/>
            </a:endParaRPr>
          </a:p>
          <a:p>
            <a:pPr rtl="1"/>
            <a:endParaRPr lang="en-US" sz="2000" dirty="0">
              <a:latin typeface="Script"/>
              <a:cs typeface="Lotus" pitchFamily="2" charset="-78"/>
            </a:endParaRPr>
          </a:p>
        </p:txBody>
      </p:sp>
      <p:sp>
        <p:nvSpPr>
          <p:cNvPr id="72" name="Line 20"/>
          <p:cNvSpPr>
            <a:spLocks noChangeShapeType="1"/>
          </p:cNvSpPr>
          <p:nvPr/>
        </p:nvSpPr>
        <p:spPr bwMode="auto">
          <a:xfrm>
            <a:off x="6477000" y="3962400"/>
            <a:ext cx="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21"/>
          <p:cNvSpPr>
            <a:spLocks noChangeShapeType="1"/>
          </p:cNvSpPr>
          <p:nvPr/>
        </p:nvSpPr>
        <p:spPr bwMode="auto">
          <a:xfrm>
            <a:off x="6477000" y="5105400"/>
            <a:ext cx="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AutoShape 22"/>
          <p:cNvSpPr>
            <a:spLocks/>
          </p:cNvSpPr>
          <p:nvPr/>
        </p:nvSpPr>
        <p:spPr bwMode="auto">
          <a:xfrm>
            <a:off x="7467600" y="2819400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75" name="AutoShape 23"/>
          <p:cNvSpPr>
            <a:spLocks/>
          </p:cNvSpPr>
          <p:nvPr/>
        </p:nvSpPr>
        <p:spPr bwMode="auto">
          <a:xfrm>
            <a:off x="7467600" y="4267200"/>
            <a:ext cx="152400" cy="1828800"/>
          </a:xfrm>
          <a:prstGeom prst="rightBrace">
            <a:avLst>
              <a:gd name="adj1" fmla="val 129167"/>
              <a:gd name="adj2" fmla="val 50000"/>
            </a:avLst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76" name="Text Box 24"/>
          <p:cNvSpPr txBox="1">
            <a:spLocks noChangeArrowheads="1"/>
          </p:cNvSpPr>
          <p:nvPr/>
        </p:nvSpPr>
        <p:spPr bwMode="auto">
          <a:xfrm>
            <a:off x="7391400" y="3048000"/>
            <a:ext cx="1676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Inter-cell processes</a:t>
            </a:r>
            <a:endParaRPr lang="en-US" dirty="0">
              <a:solidFill>
                <a:srgbClr val="0000FF"/>
              </a:solidFill>
              <a:cs typeface="Nazanin" pitchFamily="2" charset="-78"/>
            </a:endParaRP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7387771" y="4953000"/>
            <a:ext cx="1676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1pPr>
            <a:lvl2pPr marL="742950" indent="-28575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2pPr>
            <a:lvl3pPr marL="11430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3pPr>
            <a:lvl4pPr marL="16002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4pPr>
            <a:lvl5pPr marL="2057400" indent="-228600"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bg2"/>
                </a:solidFill>
                <a:latin typeface="Script" pitchFamily="66"/>
                <a:cs typeface="Times New Roman" pitchFamily="18" charset="0"/>
              </a:defRPr>
            </a:lvl9pPr>
          </a:lstStyle>
          <a:p>
            <a:pPr rtl="1"/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Intra-cell</a:t>
            </a:r>
          </a:p>
          <a:p>
            <a:pPr rtl="1"/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Nazanin" pitchFamily="2" charset="-78"/>
              </a:rPr>
              <a:t>processes</a:t>
            </a:r>
            <a:endParaRPr lang="en-US" dirty="0">
              <a:solidFill>
                <a:srgbClr val="0000FF"/>
              </a:solidFill>
              <a:cs typeface="Nazan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633313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2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/>
      <p:bldP spid="7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152400" y="76200"/>
            <a:ext cx="7696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A sample PDF </a:t>
            </a:r>
            <a:r>
              <a:rPr lang="en-US" sz="3200" kern="0" dirty="0" smtClean="0">
                <a:solidFill>
                  <a:srgbClr val="000099"/>
                </a:solidFill>
                <a:latin typeface="Cambria" pitchFamily="18" charset="0"/>
                <a:ea typeface="+mj-ea"/>
                <a:cs typeface="+mj-cs"/>
              </a:rPr>
              <a:t>c</a:t>
            </a:r>
            <a:r>
              <a:rPr kumimoji="1" lang="en-US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omputation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29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Turbulent piloted </a:t>
            </a: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methane-air flame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400" kern="0" dirty="0" smtClean="0">
                <a:latin typeface="Cambria" pitchFamily="18" charset="0"/>
              </a:rPr>
              <a:t>Sandia flame D (www.ca.sandia.gov/TNF)</a:t>
            </a:r>
            <a:endParaRPr kumimoji="1" lang="en-US" sz="24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27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grpSp>
        <p:nvGrpSpPr>
          <p:cNvPr id="34" name="Group 72"/>
          <p:cNvGrpSpPr>
            <a:grpSpLocks noChangeAspect="1"/>
          </p:cNvGrpSpPr>
          <p:nvPr/>
        </p:nvGrpSpPr>
        <p:grpSpPr bwMode="auto">
          <a:xfrm>
            <a:off x="4267200" y="2362200"/>
            <a:ext cx="4724400" cy="4117975"/>
            <a:chOff x="1953" y="1490"/>
            <a:chExt cx="3924" cy="3420"/>
          </a:xfrm>
        </p:grpSpPr>
        <p:sp>
          <p:nvSpPr>
            <p:cNvPr id="35" name="AutoShape 73"/>
            <p:cNvSpPr>
              <a:spLocks noChangeAspect="1" noChangeArrowheads="1"/>
            </p:cNvSpPr>
            <p:nvPr/>
          </p:nvSpPr>
          <p:spPr bwMode="auto">
            <a:xfrm>
              <a:off x="1953" y="1490"/>
              <a:ext cx="3924" cy="3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4"/>
            <p:cNvSpPr>
              <a:spLocks noChangeShapeType="1"/>
            </p:cNvSpPr>
            <p:nvPr/>
          </p:nvSpPr>
          <p:spPr bwMode="auto">
            <a:xfrm>
              <a:off x="2221" y="3210"/>
              <a:ext cx="33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5"/>
            <p:cNvSpPr>
              <a:spLocks noChangeShapeType="1"/>
            </p:cNvSpPr>
            <p:nvPr/>
          </p:nvSpPr>
          <p:spPr bwMode="auto">
            <a:xfrm flipH="1" flipV="1">
              <a:off x="3806" y="1670"/>
              <a:ext cx="24" cy="19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76" descr="Light upward diagonal"/>
            <p:cNvSpPr>
              <a:spLocks noChangeArrowheads="1"/>
            </p:cNvSpPr>
            <p:nvPr/>
          </p:nvSpPr>
          <p:spPr bwMode="auto">
            <a:xfrm>
              <a:off x="3428" y="3210"/>
              <a:ext cx="134" cy="402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77" descr="Light upward diagonal"/>
            <p:cNvSpPr>
              <a:spLocks noChangeArrowheads="1"/>
            </p:cNvSpPr>
            <p:nvPr/>
          </p:nvSpPr>
          <p:spPr bwMode="auto">
            <a:xfrm>
              <a:off x="4098" y="3210"/>
              <a:ext cx="134" cy="402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78" descr="Light upward diagonal"/>
            <p:cNvSpPr>
              <a:spLocks noChangeArrowheads="1"/>
            </p:cNvSpPr>
            <p:nvPr/>
          </p:nvSpPr>
          <p:spPr bwMode="auto">
            <a:xfrm>
              <a:off x="2892" y="3210"/>
              <a:ext cx="134" cy="53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79" descr="Light upward diagonal"/>
            <p:cNvSpPr>
              <a:spLocks noChangeArrowheads="1"/>
            </p:cNvSpPr>
            <p:nvPr/>
          </p:nvSpPr>
          <p:spPr bwMode="auto">
            <a:xfrm>
              <a:off x="4635" y="3210"/>
              <a:ext cx="134" cy="53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80"/>
            <p:cNvSpPr>
              <a:spLocks noChangeShapeType="1"/>
            </p:cNvSpPr>
            <p:nvPr/>
          </p:nvSpPr>
          <p:spPr bwMode="auto">
            <a:xfrm>
              <a:off x="2221" y="1670"/>
              <a:ext cx="1" cy="28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81"/>
            <p:cNvSpPr>
              <a:spLocks noChangeShapeType="1"/>
            </p:cNvSpPr>
            <p:nvPr/>
          </p:nvSpPr>
          <p:spPr bwMode="auto">
            <a:xfrm>
              <a:off x="5572" y="1670"/>
              <a:ext cx="1" cy="28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82"/>
            <p:cNvSpPr>
              <a:spLocks noChangeShapeType="1"/>
            </p:cNvSpPr>
            <p:nvPr/>
          </p:nvSpPr>
          <p:spPr bwMode="auto">
            <a:xfrm flipV="1">
              <a:off x="4366" y="2807"/>
              <a:ext cx="1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83"/>
            <p:cNvSpPr>
              <a:spLocks noChangeShapeType="1"/>
            </p:cNvSpPr>
            <p:nvPr/>
          </p:nvSpPr>
          <p:spPr bwMode="auto">
            <a:xfrm flipV="1">
              <a:off x="3294" y="2807"/>
              <a:ext cx="1" cy="4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84"/>
            <p:cNvSpPr>
              <a:spLocks noChangeShapeType="1"/>
            </p:cNvSpPr>
            <p:nvPr/>
          </p:nvSpPr>
          <p:spPr bwMode="auto">
            <a:xfrm flipV="1">
              <a:off x="3830" y="2539"/>
              <a:ext cx="1" cy="6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Box 85"/>
            <p:cNvSpPr txBox="1">
              <a:spLocks noChangeArrowheads="1"/>
            </p:cNvSpPr>
            <p:nvPr/>
          </p:nvSpPr>
          <p:spPr bwMode="auto">
            <a:xfrm>
              <a:off x="3370" y="2211"/>
              <a:ext cx="898" cy="179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Methane/Air jet</a:t>
              </a:r>
              <a:endParaRPr lang="en-US"/>
            </a:p>
          </p:txBody>
        </p:sp>
        <p:sp>
          <p:nvSpPr>
            <p:cNvPr id="48" name="Text Box 86"/>
            <p:cNvSpPr txBox="1">
              <a:spLocks noChangeArrowheads="1"/>
            </p:cNvSpPr>
            <p:nvPr/>
          </p:nvSpPr>
          <p:spPr bwMode="auto">
            <a:xfrm>
              <a:off x="4133" y="2570"/>
              <a:ext cx="664" cy="18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Hot pilot</a:t>
              </a:r>
              <a:endParaRPr lang="en-US"/>
            </a:p>
          </p:txBody>
        </p:sp>
        <p:sp>
          <p:nvSpPr>
            <p:cNvPr id="49" name="Text Box 87"/>
            <p:cNvSpPr txBox="1">
              <a:spLocks noChangeArrowheads="1"/>
            </p:cNvSpPr>
            <p:nvPr/>
          </p:nvSpPr>
          <p:spPr bwMode="auto">
            <a:xfrm>
              <a:off x="3026" y="2570"/>
              <a:ext cx="671" cy="18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Hot pilot</a:t>
              </a:r>
              <a:endParaRPr lang="en-US"/>
            </a:p>
          </p:txBody>
        </p:sp>
        <p:sp>
          <p:nvSpPr>
            <p:cNvPr id="50" name="Line 88"/>
            <p:cNvSpPr>
              <a:spLocks noChangeShapeType="1"/>
            </p:cNvSpPr>
            <p:nvPr/>
          </p:nvSpPr>
          <p:spPr bwMode="auto">
            <a:xfrm flipV="1">
              <a:off x="2623" y="2941"/>
              <a:ext cx="1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89"/>
            <p:cNvSpPr>
              <a:spLocks noChangeShapeType="1"/>
            </p:cNvSpPr>
            <p:nvPr/>
          </p:nvSpPr>
          <p:spPr bwMode="auto">
            <a:xfrm flipV="1">
              <a:off x="2355" y="2941"/>
              <a:ext cx="1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90"/>
            <p:cNvSpPr>
              <a:spLocks noChangeShapeType="1"/>
            </p:cNvSpPr>
            <p:nvPr/>
          </p:nvSpPr>
          <p:spPr bwMode="auto">
            <a:xfrm flipV="1">
              <a:off x="5037" y="2941"/>
              <a:ext cx="1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91"/>
            <p:cNvSpPr>
              <a:spLocks noChangeShapeType="1"/>
            </p:cNvSpPr>
            <p:nvPr/>
          </p:nvSpPr>
          <p:spPr bwMode="auto">
            <a:xfrm flipV="1">
              <a:off x="5305" y="2941"/>
              <a:ext cx="1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Box 92"/>
            <p:cNvSpPr txBox="1">
              <a:spLocks noChangeArrowheads="1"/>
            </p:cNvSpPr>
            <p:nvPr/>
          </p:nvSpPr>
          <p:spPr bwMode="auto">
            <a:xfrm>
              <a:off x="2280" y="2750"/>
              <a:ext cx="763" cy="179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Air coflow</a:t>
              </a:r>
              <a:endParaRPr lang="en-US"/>
            </a:p>
          </p:txBody>
        </p:sp>
        <p:sp>
          <p:nvSpPr>
            <p:cNvPr id="55" name="Text Box 93"/>
            <p:cNvSpPr txBox="1">
              <a:spLocks noChangeArrowheads="1"/>
            </p:cNvSpPr>
            <p:nvPr/>
          </p:nvSpPr>
          <p:spPr bwMode="auto">
            <a:xfrm>
              <a:off x="4787" y="2750"/>
              <a:ext cx="763" cy="191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Air coflow</a:t>
              </a:r>
              <a:endParaRPr lang="en-US"/>
            </a:p>
          </p:txBody>
        </p:sp>
        <p:sp>
          <p:nvSpPr>
            <p:cNvPr id="56" name="Line 94"/>
            <p:cNvSpPr>
              <a:spLocks noChangeShapeType="1"/>
            </p:cNvSpPr>
            <p:nvPr/>
          </p:nvSpPr>
          <p:spPr bwMode="auto">
            <a:xfrm>
              <a:off x="3562" y="3612"/>
              <a:ext cx="1" cy="2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95"/>
            <p:cNvSpPr>
              <a:spLocks noChangeShapeType="1"/>
            </p:cNvSpPr>
            <p:nvPr/>
          </p:nvSpPr>
          <p:spPr bwMode="auto">
            <a:xfrm>
              <a:off x="4098" y="3612"/>
              <a:ext cx="1" cy="2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96"/>
            <p:cNvSpPr>
              <a:spLocks noChangeShapeType="1"/>
            </p:cNvSpPr>
            <p:nvPr/>
          </p:nvSpPr>
          <p:spPr bwMode="auto">
            <a:xfrm>
              <a:off x="3562" y="3746"/>
              <a:ext cx="53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97"/>
            <p:cNvSpPr>
              <a:spLocks noChangeShapeType="1"/>
            </p:cNvSpPr>
            <p:nvPr/>
          </p:nvSpPr>
          <p:spPr bwMode="auto">
            <a:xfrm>
              <a:off x="3026" y="3746"/>
              <a:ext cx="1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98"/>
            <p:cNvSpPr>
              <a:spLocks noChangeShapeType="1"/>
            </p:cNvSpPr>
            <p:nvPr/>
          </p:nvSpPr>
          <p:spPr bwMode="auto">
            <a:xfrm>
              <a:off x="4635" y="3746"/>
              <a:ext cx="1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99"/>
            <p:cNvSpPr>
              <a:spLocks noChangeShapeType="1"/>
            </p:cNvSpPr>
            <p:nvPr/>
          </p:nvSpPr>
          <p:spPr bwMode="auto">
            <a:xfrm>
              <a:off x="3026" y="4189"/>
              <a:ext cx="160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00"/>
            <p:cNvSpPr>
              <a:spLocks noChangeShapeType="1"/>
            </p:cNvSpPr>
            <p:nvPr/>
          </p:nvSpPr>
          <p:spPr bwMode="auto">
            <a:xfrm>
              <a:off x="2221" y="4549"/>
              <a:ext cx="33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101"/>
            <p:cNvSpPr txBox="1">
              <a:spLocks noChangeArrowheads="1"/>
            </p:cNvSpPr>
            <p:nvPr/>
          </p:nvSpPr>
          <p:spPr bwMode="auto">
            <a:xfrm>
              <a:off x="3459" y="3830"/>
              <a:ext cx="65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7.2 mm</a:t>
              </a:r>
              <a:endParaRPr lang="en-US"/>
            </a:p>
          </p:txBody>
        </p:sp>
        <p:sp>
          <p:nvSpPr>
            <p:cNvPr id="64" name="Text Box 102"/>
            <p:cNvSpPr txBox="1">
              <a:spLocks noChangeArrowheads="1"/>
            </p:cNvSpPr>
            <p:nvPr/>
          </p:nvSpPr>
          <p:spPr bwMode="auto">
            <a:xfrm>
              <a:off x="3479" y="4191"/>
              <a:ext cx="78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18.856 mm</a:t>
              </a:r>
              <a:endParaRPr lang="en-US"/>
            </a:p>
          </p:txBody>
        </p:sp>
        <p:sp>
          <p:nvSpPr>
            <p:cNvPr id="65" name="Text Box 103"/>
            <p:cNvSpPr txBox="1">
              <a:spLocks noChangeArrowheads="1"/>
            </p:cNvSpPr>
            <p:nvPr/>
          </p:nvSpPr>
          <p:spPr bwMode="auto">
            <a:xfrm>
              <a:off x="3573" y="4550"/>
              <a:ext cx="655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1pPr>
              <a:lvl2pPr marL="742950" indent="-28575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2pPr>
              <a:lvl3pPr marL="11430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3pPr>
              <a:lvl4pPr marL="16002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4pPr>
              <a:lvl5pPr marL="2057400" indent="-228600"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bg2"/>
                  </a:solidFill>
                  <a:latin typeface="Script" pitchFamily="66"/>
                  <a:cs typeface="Times New Roman" pitchFamily="18" charset="0"/>
                </a:defRPr>
              </a:lvl9pPr>
            </a:lstStyle>
            <a:p>
              <a:r>
                <a:rPr lang="en-US" sz="800">
                  <a:latin typeface="Times New Roman" pitchFamily="18" charset="0"/>
                </a:rPr>
                <a:t>300 mm</a:t>
              </a:r>
              <a:endParaRPr lang="en-US"/>
            </a:p>
          </p:txBody>
        </p:sp>
      </p:grpSp>
      <p:grpSp>
        <p:nvGrpSpPr>
          <p:cNvPr id="66" name="Group 121"/>
          <p:cNvGrpSpPr>
            <a:grpSpLocks noChangeAspect="1"/>
          </p:cNvGrpSpPr>
          <p:nvPr/>
        </p:nvGrpSpPr>
        <p:grpSpPr bwMode="auto">
          <a:xfrm>
            <a:off x="6210300" y="4305300"/>
            <a:ext cx="571500" cy="571500"/>
            <a:chOff x="6273" y="3110"/>
            <a:chExt cx="900" cy="900"/>
          </a:xfrm>
        </p:grpSpPr>
        <p:sp>
          <p:nvSpPr>
            <p:cNvPr id="67" name="AutoShape 122"/>
            <p:cNvSpPr>
              <a:spLocks noChangeAspect="1" noChangeArrowheads="1"/>
            </p:cNvSpPr>
            <p:nvPr/>
          </p:nvSpPr>
          <p:spPr bwMode="auto">
            <a:xfrm>
              <a:off x="6273" y="3110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Rectangle 123" descr="Light upward diagonal"/>
            <p:cNvSpPr>
              <a:spLocks noChangeArrowheads="1"/>
            </p:cNvSpPr>
            <p:nvPr/>
          </p:nvSpPr>
          <p:spPr bwMode="auto">
            <a:xfrm>
              <a:off x="6633" y="3290"/>
              <a:ext cx="72" cy="402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Rectangle 124" descr="Light upward diagonal"/>
            <p:cNvSpPr>
              <a:spLocks noChangeArrowheads="1"/>
            </p:cNvSpPr>
            <p:nvPr/>
          </p:nvSpPr>
          <p:spPr bwMode="auto">
            <a:xfrm>
              <a:off x="6813" y="3290"/>
              <a:ext cx="72" cy="402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125" descr="Light upward diagonal"/>
            <p:cNvSpPr>
              <a:spLocks noChangeArrowheads="1"/>
            </p:cNvSpPr>
            <p:nvPr/>
          </p:nvSpPr>
          <p:spPr bwMode="auto">
            <a:xfrm>
              <a:off x="6453" y="3290"/>
              <a:ext cx="72" cy="53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Rectangle 126" descr="Light upward diagonal"/>
            <p:cNvSpPr>
              <a:spLocks noChangeArrowheads="1"/>
            </p:cNvSpPr>
            <p:nvPr/>
          </p:nvSpPr>
          <p:spPr bwMode="auto">
            <a:xfrm>
              <a:off x="6993" y="3290"/>
              <a:ext cx="72" cy="53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2" name="sandia1-4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33600" y="0"/>
            <a:ext cx="4452938" cy="6477000"/>
          </a:xfrm>
          <a:prstGeom prst="rect">
            <a:avLst/>
          </a:prstGeom>
        </p:spPr>
      </p:pic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67362E-19 4.56647E-6 L -0.23333 4.56647E-6 " pathEditMode="relative" ptsTypes="AA">
                                      <p:cBhvr>
                                        <p:cTn id="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333 -5.20231E-7 L -0.23541 0.29688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48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3" dur="10000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8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video>
              <p:cMediaNode>
                <p:cTn id="59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Conclusion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9" name="Footer Placeholder 26"/>
          <p:cNvSpPr txBox="1">
            <a:spLocks/>
          </p:cNvSpPr>
          <p:nvPr/>
        </p:nvSpPr>
        <p:spPr bwMode="auto">
          <a:xfrm>
            <a:off x="0" y="64008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XI. PDF method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graphicFrame>
        <p:nvGraphicFramePr>
          <p:cNvPr id="8" name="Group 40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597098"/>
              </p:ext>
            </p:extLst>
          </p:nvPr>
        </p:nvGraphicFramePr>
        <p:xfrm>
          <a:off x="2514600" y="1371600"/>
          <a:ext cx="4114800" cy="1966914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655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PDF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655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AutoShape 17"/>
          <p:cNvSpPr>
            <a:spLocks noChangeArrowheads="1"/>
          </p:cNvSpPr>
          <p:nvPr/>
        </p:nvSpPr>
        <p:spPr bwMode="auto">
          <a:xfrm>
            <a:off x="762000" y="1447800"/>
            <a:ext cx="1524000" cy="1752600"/>
          </a:xfrm>
          <a:prstGeom prst="downArrow">
            <a:avLst>
              <a:gd name="adj1" fmla="val 50000"/>
              <a:gd name="adj2" fmla="val 53750"/>
            </a:avLst>
          </a:prstGeom>
          <a:gradFill rotWithShape="1">
            <a:gsLst>
              <a:gs pos="0">
                <a:schemeClr val="bg1"/>
              </a:gs>
              <a:gs pos="100000">
                <a:srgbClr val="00CC00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8"/>
          <p:cNvSpPr>
            <a:spLocks noChangeArrowheads="1"/>
          </p:cNvSpPr>
          <p:nvPr/>
        </p:nvSpPr>
        <p:spPr bwMode="auto">
          <a:xfrm>
            <a:off x="6858000" y="1447800"/>
            <a:ext cx="1524000" cy="1828800"/>
          </a:xfrm>
          <a:prstGeom prst="downArrow">
            <a:avLst>
              <a:gd name="adj1" fmla="val 50000"/>
              <a:gd name="adj2" fmla="val 53750"/>
            </a:avLst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838200" y="3276600"/>
            <a:ext cx="1371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Increasing</a:t>
            </a:r>
          </a:p>
          <a:p>
            <a:pPr algn="ctr"/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Accuracy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7010400" y="3276600"/>
            <a:ext cx="1371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Increasing</a:t>
            </a:r>
          </a:p>
          <a:p>
            <a:pPr algn="ctr"/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CPU time</a:t>
            </a:r>
          </a:p>
        </p:txBody>
      </p:sp>
      <p:graphicFrame>
        <p:nvGraphicFramePr>
          <p:cNvPr id="16" name="Group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465309"/>
              </p:ext>
            </p:extLst>
          </p:nvPr>
        </p:nvGraphicFramePr>
        <p:xfrm>
          <a:off x="2209800" y="4419600"/>
          <a:ext cx="1600200" cy="1662114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PDF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Group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3075446"/>
              </p:ext>
            </p:extLst>
          </p:nvPr>
        </p:nvGraphicFramePr>
        <p:xfrm>
          <a:off x="3810000" y="4419600"/>
          <a:ext cx="1600200" cy="838200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roup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8026566"/>
              </p:ext>
            </p:extLst>
          </p:nvPr>
        </p:nvGraphicFramePr>
        <p:xfrm>
          <a:off x="3810000" y="5257800"/>
          <a:ext cx="1600200" cy="838200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FDF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1318389"/>
              </p:ext>
            </p:extLst>
          </p:nvPr>
        </p:nvGraphicFramePr>
        <p:xfrm>
          <a:off x="5410200" y="4419600"/>
          <a:ext cx="1562100" cy="1676400"/>
        </p:xfrm>
        <a:graphic>
          <a:graphicData uri="http://schemas.openxmlformats.org/drawingml/2006/table">
            <a:tbl>
              <a:tblPr/>
              <a:tblGrid>
                <a:gridCol w="1562100"/>
              </a:tblGrid>
              <a:tr h="167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DES-FDF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/>
          <p:cNvSpPr>
            <a:spLocks noChangeArrowheads="1"/>
          </p:cNvSpPr>
          <p:nvPr/>
        </p:nvSpPr>
        <p:spPr bwMode="auto">
          <a:xfrm>
            <a:off x="0" y="38862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4" name="Rectangle 54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5" name="Rectangle 57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6" name="Rectangle 58"/>
          <p:cNvSpPr>
            <a:spLocks noChangeArrowheads="1"/>
          </p:cNvSpPr>
          <p:nvPr/>
        </p:nvSpPr>
        <p:spPr bwMode="auto">
          <a:xfrm>
            <a:off x="0" y="36957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7" name="Rectangle 64"/>
          <p:cNvSpPr>
            <a:spLocks noChangeArrowheads="1"/>
          </p:cNvSpPr>
          <p:nvPr/>
        </p:nvSpPr>
        <p:spPr bwMode="auto">
          <a:xfrm>
            <a:off x="0" y="3171825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8" name="Rectangle 65"/>
          <p:cNvSpPr>
            <a:spLocks noChangeArrowheads="1"/>
          </p:cNvSpPr>
          <p:nvPr/>
        </p:nvSpPr>
        <p:spPr bwMode="auto">
          <a:xfrm>
            <a:off x="0" y="3686175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30264" y="1475125"/>
            <a:ext cx="657551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Numerical Simulation</a:t>
            </a: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 of </a:t>
            </a: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Turbulent Flows</a:t>
            </a:r>
            <a:r>
              <a:rPr lang="en-US" sz="44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 - </a:t>
            </a:r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lin ang="5400000" scaled="1"/>
                  <a:tileRect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LES</a:t>
            </a:r>
            <a:endParaRPr lang="en-US" sz="4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99"/>
                  </a:gs>
                  <a:gs pos="39999">
                    <a:srgbClr val="0A128C"/>
                  </a:gs>
                  <a:gs pos="70000">
                    <a:srgbClr val="181CC7"/>
                  </a:gs>
                  <a:gs pos="88000">
                    <a:srgbClr val="7005D4"/>
                  </a:gs>
                  <a:gs pos="100000">
                    <a:srgbClr val="8C3D91"/>
                  </a:gs>
                </a:gsLst>
                <a:lin ang="5400000" scaled="0"/>
              </a:gradFill>
              <a:effectLst>
                <a:outerShdw blurRad="50800" algn="tl" rotWithShape="0">
                  <a:srgbClr val="000000"/>
                </a:outerShdw>
              </a:effectLst>
              <a:latin typeface="Cooper Black" pitchFamily="18" charset="0"/>
            </a:endParaRPr>
          </a:p>
        </p:txBody>
      </p:sp>
      <p:sp>
        <p:nvSpPr>
          <p:cNvPr id="12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3124200" y="4446925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sz="240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Amani</a:t>
            </a:r>
            <a:endParaRPr lang="en-US" sz="24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71600" y="1475125"/>
            <a:ext cx="6629400" cy="3477875"/>
          </a:xfrm>
          <a:prstGeom prst="rect">
            <a:avLst/>
          </a:prstGeom>
          <a:solidFill>
            <a:srgbClr val="0066F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40000">
                      <a:srgbClr val="FF0000"/>
                    </a:gs>
                    <a:gs pos="86000">
                      <a:srgbClr val="FFFF00"/>
                    </a:gs>
                    <a:gs pos="62000">
                      <a:srgbClr val="FFC000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Thank You</a:t>
            </a:r>
          </a:p>
          <a:p>
            <a:pPr algn="ctr"/>
            <a:r>
              <a:rPr lang="en-US" sz="44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40000">
                      <a:srgbClr val="FF0000"/>
                    </a:gs>
                    <a:gs pos="86000">
                      <a:srgbClr val="FFFF00"/>
                    </a:gs>
                    <a:gs pos="62000">
                      <a:srgbClr val="FFC000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For</a:t>
            </a: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40000">
                      <a:srgbClr val="FF0000"/>
                    </a:gs>
                    <a:gs pos="86000">
                      <a:srgbClr val="FFFF00"/>
                    </a:gs>
                    <a:gs pos="62000">
                      <a:srgbClr val="FFC000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Your Attendance</a:t>
            </a:r>
          </a:p>
          <a:p>
            <a:pPr algn="ctr"/>
            <a:endParaRPr lang="en-US" sz="4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40000">
                    <a:srgbClr val="FF0000"/>
                  </a:gs>
                  <a:gs pos="86000">
                    <a:srgbClr val="FFFF00"/>
                  </a:gs>
                  <a:gs pos="62000">
                    <a:srgbClr val="FFC000"/>
                  </a:gs>
                </a:gsLst>
                <a:lin ang="5400000" scaled="0"/>
              </a:gradFill>
              <a:effectLst>
                <a:outerShdw blurRad="50800" algn="tl" rotWithShape="0">
                  <a:srgbClr val="000000"/>
                </a:outerShdw>
              </a:effectLst>
              <a:latin typeface="Cooper Black" pitchFamily="18" charset="0"/>
            </a:endParaRP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40000">
                      <a:srgbClr val="FF0000"/>
                    </a:gs>
                    <a:gs pos="86000">
                      <a:srgbClr val="FFFF00"/>
                    </a:gs>
                    <a:gs pos="62000">
                      <a:srgbClr val="FFC000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Best Wishes</a:t>
            </a:r>
            <a:endParaRPr lang="en-US" sz="4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40000">
                    <a:srgbClr val="FF0000"/>
                  </a:gs>
                  <a:gs pos="86000">
                    <a:srgbClr val="FFFF00"/>
                  </a:gs>
                  <a:gs pos="62000">
                    <a:srgbClr val="FFC000"/>
                  </a:gs>
                </a:gsLst>
                <a:lin ang="5400000" scaled="0"/>
              </a:gradFill>
              <a:effectLst>
                <a:outerShdw blurRad="50800" algn="tl" rotWithShape="0">
                  <a:srgbClr val="000000"/>
                </a:out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379134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9999"/>
      </a:dk1>
      <a:lt1>
        <a:srgbClr val="FFFFFF"/>
      </a:lt1>
      <a:dk2>
        <a:srgbClr val="336699"/>
      </a:dk2>
      <a:lt2>
        <a:srgbClr val="010000"/>
      </a:lt2>
      <a:accent1>
        <a:srgbClr val="CCECFF"/>
      </a:accent1>
      <a:accent2>
        <a:srgbClr val="FFFFCC"/>
      </a:accent2>
      <a:accent3>
        <a:srgbClr val="FFFFFF"/>
      </a:accent3>
      <a:accent4>
        <a:srgbClr val="008282"/>
      </a:accent4>
      <a:accent5>
        <a:srgbClr val="E2F4FF"/>
      </a:accent5>
      <a:accent6>
        <a:srgbClr val="E7E7B9"/>
      </a:accent6>
      <a:hlink>
        <a:srgbClr val="00B050"/>
      </a:hlink>
      <a:folHlink>
        <a:srgbClr val="FFFFCC"/>
      </a:folHlink>
    </a:clrScheme>
    <a:fontScheme name="Default Design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sq" algn="ctr">
          <a:solidFill>
            <a:srgbClr val="0000FF"/>
          </a:solidFill>
          <a:miter lim="800000"/>
          <a:headEnd/>
          <a:tailEnd/>
        </a:ln>
      </a:spPr>
      <a:bodyPr lIns="90000" tIns="46800" rIns="90000" bIns="46800"/>
      <a:lstStyle>
        <a:defPPr algn="l">
          <a:defRPr sz="2400" dirty="0" smtClean="0">
            <a:solidFill>
              <a:srgbClr val="0000FF"/>
            </a:solidFill>
            <a:latin typeface="Cambria" pitchFamily="18" charset="0"/>
            <a:ea typeface="Cambria Math" pitchFamily="18" charset="0"/>
            <a:cs typeface="B Nazanin" pitchFamily="2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25400" cap="sq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Script" pitchFamily="66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Generic</Template>
  <TotalTime>12701</TotalTime>
  <Words>651</Words>
  <Application>Microsoft Office PowerPoint</Application>
  <PresentationFormat>On-screen Show (4:3)</PresentationFormat>
  <Paragraphs>241</Paragraphs>
  <Slides>14</Slides>
  <Notes>12</Notes>
  <HiddenSlides>0</HiddenSlides>
  <MMClips>1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Default Design</vt:lpstr>
      <vt:lpstr>Equation</vt:lpstr>
      <vt:lpstr>CHAP IX. An introduction to probability density function (PDF) method</vt:lpstr>
      <vt:lpstr>PowerPoint Presentation</vt:lpstr>
      <vt:lpstr>PDF</vt:lpstr>
      <vt:lpstr>Objective</vt:lpstr>
      <vt:lpstr>PDF transport equation</vt:lpstr>
      <vt:lpstr>Numerical Solution</vt:lpstr>
      <vt:lpstr>Monte Carlo particle method</vt:lpstr>
      <vt:lpstr>Composition PDF</vt:lpstr>
      <vt:lpstr>Composition PDF</vt:lpstr>
      <vt:lpstr>Semi-Eulerian Monte Carlo</vt:lpstr>
      <vt:lpstr>Flowchart of a sample code</vt:lpstr>
      <vt:lpstr>PowerPoint Presentation</vt:lpstr>
      <vt:lpstr>Conclusion</vt:lpstr>
      <vt:lpstr>PowerPoint Presentation</vt:lpstr>
    </vt:vector>
  </TitlesOfParts>
  <Company>University of Kentucky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>walters</dc:creator>
  <cp:lastModifiedBy>Ehsan</cp:lastModifiedBy>
  <cp:revision>1152</cp:revision>
  <cp:lastPrinted>1998-11-16T01:39:37Z</cp:lastPrinted>
  <dcterms:created xsi:type="dcterms:W3CDTF">1998-09-29T16:04:35Z</dcterms:created>
  <dcterms:modified xsi:type="dcterms:W3CDTF">2013-12-16T07:50:46Z</dcterms:modified>
</cp:coreProperties>
</file>