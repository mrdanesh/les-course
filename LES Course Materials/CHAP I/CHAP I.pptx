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notesSlides/notesSlide8.xml" ContentType="application/vnd.openxmlformats-officedocument.presentationml.notesSlide+xml"/>
  <Default Extension="vml" ContentType="application/vnd.openxmlformats-officedocument.vmlDrawing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352" r:id="rId2"/>
    <p:sldId id="437" r:id="rId3"/>
    <p:sldId id="444" r:id="rId4"/>
    <p:sldId id="445" r:id="rId5"/>
    <p:sldId id="446" r:id="rId6"/>
    <p:sldId id="447" r:id="rId7"/>
    <p:sldId id="448" r:id="rId8"/>
    <p:sldId id="449" r:id="rId9"/>
    <p:sldId id="451" r:id="rId10"/>
    <p:sldId id="452" r:id="rId11"/>
    <p:sldId id="453" r:id="rId12"/>
    <p:sldId id="438" r:id="rId13"/>
    <p:sldId id="454" r:id="rId14"/>
  </p:sldIdLst>
  <p:sldSz cx="9144000" cy="6858000" type="screen4x3"/>
  <p:notesSz cx="6858000" cy="91440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bg2"/>
        </a:solidFill>
        <a:latin typeface="Script" pitchFamily="66"/>
        <a:ea typeface="+mn-ea"/>
        <a:cs typeface="Times New Roman" pitchFamily="18" charset="0"/>
      </a:defRPr>
    </a:lvl1pPr>
    <a:lvl2pPr marL="457200" algn="ctr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bg2"/>
        </a:solidFill>
        <a:latin typeface="Script" pitchFamily="66"/>
        <a:ea typeface="+mn-ea"/>
        <a:cs typeface="Times New Roman" pitchFamily="18" charset="0"/>
      </a:defRPr>
    </a:lvl2pPr>
    <a:lvl3pPr marL="914400" algn="ctr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bg2"/>
        </a:solidFill>
        <a:latin typeface="Script" pitchFamily="66"/>
        <a:ea typeface="+mn-ea"/>
        <a:cs typeface="Times New Roman" pitchFamily="18" charset="0"/>
      </a:defRPr>
    </a:lvl3pPr>
    <a:lvl4pPr marL="1371600" algn="ctr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bg2"/>
        </a:solidFill>
        <a:latin typeface="Script" pitchFamily="66"/>
        <a:ea typeface="+mn-ea"/>
        <a:cs typeface="Times New Roman" pitchFamily="18" charset="0"/>
      </a:defRPr>
    </a:lvl4pPr>
    <a:lvl5pPr marL="1828800" algn="ctr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bg2"/>
        </a:solidFill>
        <a:latin typeface="Script" pitchFamily="66"/>
        <a:ea typeface="+mn-ea"/>
        <a:cs typeface="Times New Roman" pitchFamily="18" charset="0"/>
      </a:defRPr>
    </a:lvl5pPr>
    <a:lvl6pPr marL="2286000" algn="l" defTabSz="914400" rtl="0" eaLnBrk="1" latinLnBrk="0" hangingPunct="1">
      <a:defRPr kumimoji="1" b="1" kern="1200">
        <a:solidFill>
          <a:schemeClr val="bg2"/>
        </a:solidFill>
        <a:latin typeface="Script" pitchFamily="66"/>
        <a:ea typeface="+mn-ea"/>
        <a:cs typeface="Times New Roman" pitchFamily="18" charset="0"/>
      </a:defRPr>
    </a:lvl6pPr>
    <a:lvl7pPr marL="2743200" algn="l" defTabSz="914400" rtl="0" eaLnBrk="1" latinLnBrk="0" hangingPunct="1">
      <a:defRPr kumimoji="1" b="1" kern="1200">
        <a:solidFill>
          <a:schemeClr val="bg2"/>
        </a:solidFill>
        <a:latin typeface="Script" pitchFamily="66"/>
        <a:ea typeface="+mn-ea"/>
        <a:cs typeface="Times New Roman" pitchFamily="18" charset="0"/>
      </a:defRPr>
    </a:lvl7pPr>
    <a:lvl8pPr marL="3200400" algn="l" defTabSz="914400" rtl="0" eaLnBrk="1" latinLnBrk="0" hangingPunct="1">
      <a:defRPr kumimoji="1" b="1" kern="1200">
        <a:solidFill>
          <a:schemeClr val="bg2"/>
        </a:solidFill>
        <a:latin typeface="Script" pitchFamily="66"/>
        <a:ea typeface="+mn-ea"/>
        <a:cs typeface="Times New Roman" pitchFamily="18" charset="0"/>
      </a:defRPr>
    </a:lvl8pPr>
    <a:lvl9pPr marL="3657600" algn="l" defTabSz="914400" rtl="0" eaLnBrk="1" latinLnBrk="0" hangingPunct="1">
      <a:defRPr kumimoji="1" b="1" kern="1200">
        <a:solidFill>
          <a:schemeClr val="bg2"/>
        </a:solidFill>
        <a:latin typeface="Script" pitchFamily="66"/>
        <a:ea typeface="+mn-ea"/>
        <a:cs typeface="Times New Roman" pitchFamily="18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</p:showPr>
  <p:clrMru>
    <a:srgbClr val="0066FF"/>
    <a:srgbClr val="009900"/>
    <a:srgbClr val="FF0000"/>
    <a:srgbClr val="0000CC"/>
    <a:srgbClr val="FFFFFF"/>
    <a:srgbClr val="000099"/>
    <a:srgbClr val="0000FF"/>
    <a:srgbClr val="339933"/>
    <a:srgbClr val="FF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49" autoAdjust="0"/>
    <p:restoredTop sz="90189" autoAdjust="0"/>
  </p:normalViewPr>
  <p:slideViewPr>
    <p:cSldViewPr>
      <p:cViewPr>
        <p:scale>
          <a:sx n="66" d="100"/>
          <a:sy n="66" d="100"/>
        </p:scale>
        <p:origin x="-120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44"/>
    </p:cViewPr>
  </p:sorterViewPr>
  <p:notesViewPr>
    <p:cSldViewPr>
      <p:cViewPr>
        <p:scale>
          <a:sx n="100" d="100"/>
          <a:sy n="100" d="100"/>
        </p:scale>
        <p:origin x="-864" y="246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4" Type="http://schemas.openxmlformats.org/officeDocument/2006/relationships/image" Target="../media/image1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kumimoji="0" sz="12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Your name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174C6947-A137-4DFB-8E2C-F9E5B6E57AF5}" type="datetime1">
              <a:rPr lang="en-US"/>
              <a:pPr>
                <a:defRPr/>
              </a:pPr>
              <a:t>9/8/2013</a:t>
            </a:fld>
            <a:endParaRPr lang="en-US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kumimoji="0" sz="12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C0E69996-3522-4297-9598-3C82927E52AA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8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kumimoji="0" sz="12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7" name="Rectangle 9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8" name="Rectangle 10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59" name="Rectangle 11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CA38603D-4D37-4190-8AFD-940960CB69CE}" type="datetime1">
              <a:rPr lang="en-US"/>
              <a:pPr>
                <a:defRPr/>
              </a:pPr>
              <a:t>9/8/2013</a:t>
            </a:fld>
            <a:endParaRPr lang="en-US"/>
          </a:p>
        </p:txBody>
      </p:sp>
      <p:sp>
        <p:nvSpPr>
          <p:cNvPr id="2060" name="Rectangle 12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kumimoji="0" sz="12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3A1EA3FD-E1F2-4856-9983-755A94860B02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1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C3A9ED01-ED18-4F68-8723-24AE22B5C17E}" type="datetime1">
              <a:rPr lang="en-US" smtClean="0"/>
              <a:pPr/>
              <a:t>9/8/2013</a:t>
            </a:fld>
            <a:endParaRPr lang="en-US" smtClean="0"/>
          </a:p>
        </p:txBody>
      </p:sp>
      <p:sp>
        <p:nvSpPr>
          <p:cNvPr id="73731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E24B1C-61D7-4926-AE9D-EF29E6C0955C}" type="slidenum">
              <a:rPr lang="ar-SA" smtClean="0"/>
              <a:pPr/>
              <a:t>1</a:t>
            </a:fld>
            <a:endParaRPr lang="en-US" smtClean="0"/>
          </a:p>
        </p:txBody>
      </p:sp>
      <p:sp>
        <p:nvSpPr>
          <p:cNvPr id="737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r" rtl="1" eaLnBrk="1" hangingPunct="1"/>
            <a:endParaRPr lang="fa-IR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1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ED303CD-9DAD-4284-89B0-5D274414E0C8}" type="datetime1">
              <a:rPr lang="en-US" smtClean="0"/>
              <a:pPr/>
              <a:t>9/8/2013</a:t>
            </a:fld>
            <a:endParaRPr lang="en-US" smtClean="0"/>
          </a:p>
        </p:txBody>
      </p:sp>
      <p:sp>
        <p:nvSpPr>
          <p:cNvPr id="74755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2E8A0D-ABAF-4BC0-9072-FAAE70672E58}" type="slidenum">
              <a:rPr lang="ar-SA" smtClean="0"/>
              <a:pPr/>
              <a:t>2</a:t>
            </a:fld>
            <a:endParaRPr lang="en-US" smtClean="0"/>
          </a:p>
        </p:txBody>
      </p:sp>
      <p:sp>
        <p:nvSpPr>
          <p:cNvPr id="747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r" rtl="1" eaLnBrk="1" hangingPunct="1"/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1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ED303CD-9DAD-4284-89B0-5D274414E0C8}" type="datetime1">
              <a:rPr lang="en-US" smtClean="0"/>
              <a:pPr/>
              <a:t>9/8/2013</a:t>
            </a:fld>
            <a:endParaRPr lang="en-US" smtClean="0"/>
          </a:p>
        </p:txBody>
      </p:sp>
      <p:sp>
        <p:nvSpPr>
          <p:cNvPr id="74755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2E8A0D-ABAF-4BC0-9072-FAAE70672E58}" type="slidenum">
              <a:rPr lang="ar-SA" smtClean="0"/>
              <a:pPr/>
              <a:t>3</a:t>
            </a:fld>
            <a:endParaRPr lang="en-US" smtClean="0"/>
          </a:p>
        </p:txBody>
      </p:sp>
      <p:sp>
        <p:nvSpPr>
          <p:cNvPr id="747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r" rtl="1" eaLnBrk="1" hangingPunct="1"/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1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ED303CD-9DAD-4284-89B0-5D274414E0C8}" type="datetime1">
              <a:rPr lang="en-US" smtClean="0"/>
              <a:pPr/>
              <a:t>9/8/2013</a:t>
            </a:fld>
            <a:endParaRPr lang="en-US" smtClean="0"/>
          </a:p>
        </p:txBody>
      </p:sp>
      <p:sp>
        <p:nvSpPr>
          <p:cNvPr id="74755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2E8A0D-ABAF-4BC0-9072-FAAE70672E58}" type="slidenum">
              <a:rPr lang="ar-SA" smtClean="0"/>
              <a:pPr/>
              <a:t>4</a:t>
            </a:fld>
            <a:endParaRPr lang="en-US" smtClean="0"/>
          </a:p>
        </p:txBody>
      </p:sp>
      <p:sp>
        <p:nvSpPr>
          <p:cNvPr id="747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r" rtl="1" eaLnBrk="1" hangingPunct="1"/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1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ED303CD-9DAD-4284-89B0-5D274414E0C8}" type="datetime1">
              <a:rPr lang="en-US" smtClean="0"/>
              <a:pPr/>
              <a:t>9/8/2013</a:t>
            </a:fld>
            <a:endParaRPr lang="en-US" smtClean="0"/>
          </a:p>
        </p:txBody>
      </p:sp>
      <p:sp>
        <p:nvSpPr>
          <p:cNvPr id="74755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2E8A0D-ABAF-4BC0-9072-FAAE70672E58}" type="slidenum">
              <a:rPr lang="ar-SA" smtClean="0"/>
              <a:pPr/>
              <a:t>5</a:t>
            </a:fld>
            <a:endParaRPr lang="en-US" smtClean="0"/>
          </a:p>
        </p:txBody>
      </p:sp>
      <p:sp>
        <p:nvSpPr>
          <p:cNvPr id="747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r" rtl="1" eaLnBrk="1" hangingPunct="1"/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1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ED303CD-9DAD-4284-89B0-5D274414E0C8}" type="datetime1">
              <a:rPr lang="en-US" smtClean="0"/>
              <a:pPr/>
              <a:t>9/8/2013</a:t>
            </a:fld>
            <a:endParaRPr lang="en-US" smtClean="0"/>
          </a:p>
        </p:txBody>
      </p:sp>
      <p:sp>
        <p:nvSpPr>
          <p:cNvPr id="74755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2E8A0D-ABAF-4BC0-9072-FAAE70672E58}" type="slidenum">
              <a:rPr lang="ar-SA" smtClean="0"/>
              <a:pPr/>
              <a:t>6</a:t>
            </a:fld>
            <a:endParaRPr lang="en-US" smtClean="0"/>
          </a:p>
        </p:txBody>
      </p:sp>
      <p:sp>
        <p:nvSpPr>
          <p:cNvPr id="747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r" rtl="1" eaLnBrk="1" hangingPunct="1"/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1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ED303CD-9DAD-4284-89B0-5D274414E0C8}" type="datetime1">
              <a:rPr lang="en-US" smtClean="0"/>
              <a:pPr/>
              <a:t>9/8/2013</a:t>
            </a:fld>
            <a:endParaRPr lang="en-US" smtClean="0"/>
          </a:p>
        </p:txBody>
      </p:sp>
      <p:sp>
        <p:nvSpPr>
          <p:cNvPr id="74755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2E8A0D-ABAF-4BC0-9072-FAAE70672E58}" type="slidenum">
              <a:rPr lang="ar-SA" smtClean="0"/>
              <a:pPr/>
              <a:t>7</a:t>
            </a:fld>
            <a:endParaRPr lang="en-US" smtClean="0"/>
          </a:p>
        </p:txBody>
      </p:sp>
      <p:sp>
        <p:nvSpPr>
          <p:cNvPr id="747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r" rtl="1" eaLnBrk="1" hangingPunct="1"/>
            <a:endParaRPr lang="en-US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1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ED303CD-9DAD-4284-89B0-5D274414E0C8}" type="datetime1">
              <a:rPr lang="en-US" smtClean="0"/>
              <a:pPr/>
              <a:t>9/8/2013</a:t>
            </a:fld>
            <a:endParaRPr lang="en-US" smtClean="0"/>
          </a:p>
        </p:txBody>
      </p:sp>
      <p:sp>
        <p:nvSpPr>
          <p:cNvPr id="74755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2E8A0D-ABAF-4BC0-9072-FAAE70672E58}" type="slidenum">
              <a:rPr lang="ar-SA" smtClean="0"/>
              <a:pPr/>
              <a:t>8</a:t>
            </a:fld>
            <a:endParaRPr lang="en-US" smtClean="0"/>
          </a:p>
        </p:txBody>
      </p:sp>
      <p:sp>
        <p:nvSpPr>
          <p:cNvPr id="747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r" rtl="1" eaLnBrk="1" hangingPunct="1"/>
            <a:endParaRPr lang="en-US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1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ED303CD-9DAD-4284-89B0-5D274414E0C8}" type="datetime1">
              <a:rPr lang="en-US" smtClean="0"/>
              <a:pPr/>
              <a:t>9/8/2013</a:t>
            </a:fld>
            <a:endParaRPr lang="en-US" smtClean="0"/>
          </a:p>
        </p:txBody>
      </p:sp>
      <p:sp>
        <p:nvSpPr>
          <p:cNvPr id="74755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2E8A0D-ABAF-4BC0-9072-FAAE70672E58}" type="slidenum">
              <a:rPr lang="ar-SA" smtClean="0"/>
              <a:pPr/>
              <a:t>10</a:t>
            </a:fld>
            <a:endParaRPr lang="en-US" smtClean="0"/>
          </a:p>
        </p:txBody>
      </p:sp>
      <p:sp>
        <p:nvSpPr>
          <p:cNvPr id="747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r" rtl="1" eaLnBrk="1" hangingPunct="1"/>
            <a:endParaRPr lang="en-US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1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ED303CD-9DAD-4284-89B0-5D274414E0C8}" type="datetime1">
              <a:rPr lang="en-US" smtClean="0"/>
              <a:pPr/>
              <a:t>9/8/2013</a:t>
            </a:fld>
            <a:endParaRPr lang="en-US" smtClean="0"/>
          </a:p>
        </p:txBody>
      </p:sp>
      <p:sp>
        <p:nvSpPr>
          <p:cNvPr id="74755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2E8A0D-ABAF-4BC0-9072-FAAE70672E58}" type="slidenum">
              <a:rPr lang="ar-SA" smtClean="0"/>
              <a:pPr/>
              <a:t>11</a:t>
            </a:fld>
            <a:endParaRPr lang="en-US" smtClean="0"/>
          </a:p>
        </p:txBody>
      </p:sp>
      <p:sp>
        <p:nvSpPr>
          <p:cNvPr id="747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r" rtl="1" eaLnBrk="1" hangingPunct="1"/>
            <a:endParaRPr lang="en-US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11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342A4506-A7CE-42BE-BFAA-05E82E911C08}" type="datetime1">
              <a:rPr lang="en-US" smtClean="0"/>
              <a:pPr/>
              <a:t>9/8/2013</a:t>
            </a:fld>
            <a:endParaRPr lang="en-US" smtClean="0"/>
          </a:p>
        </p:txBody>
      </p:sp>
      <p:sp>
        <p:nvSpPr>
          <p:cNvPr id="94211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26011C9-0920-4331-91D1-3DD2E580AE6C}" type="slidenum">
              <a:rPr lang="ar-SA" smtClean="0"/>
              <a:pPr/>
              <a:t>12</a:t>
            </a:fld>
            <a:endParaRPr lang="en-US" smtClean="0"/>
          </a:p>
        </p:txBody>
      </p:sp>
      <p:sp>
        <p:nvSpPr>
          <p:cNvPr id="9421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r" rtl="1" eaLnBrk="1" hangingPunct="1"/>
            <a:endParaRPr lang="en-US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1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ED303CD-9DAD-4284-89B0-5D274414E0C8}" type="datetime1">
              <a:rPr lang="en-US" smtClean="0"/>
              <a:pPr/>
              <a:t>9/8/2013</a:t>
            </a:fld>
            <a:endParaRPr lang="en-US" smtClean="0"/>
          </a:p>
        </p:txBody>
      </p:sp>
      <p:sp>
        <p:nvSpPr>
          <p:cNvPr id="74755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2E8A0D-ABAF-4BC0-9072-FAAE70672E58}" type="slidenum">
              <a:rPr lang="ar-SA" smtClean="0"/>
              <a:pPr/>
              <a:t>13</a:t>
            </a:fld>
            <a:endParaRPr lang="en-US" smtClean="0"/>
          </a:p>
        </p:txBody>
      </p:sp>
      <p:sp>
        <p:nvSpPr>
          <p:cNvPr id="747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r" rtl="1" eaLnBrk="1" hangingPunct="1"/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0" y="1708150"/>
            <a:ext cx="9147175" cy="0"/>
          </a:xfrm>
          <a:prstGeom prst="line">
            <a:avLst/>
          </a:prstGeom>
          <a:noFill/>
          <a:ln w="12700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Arc 3"/>
          <p:cNvSpPr>
            <a:spLocks/>
          </p:cNvSpPr>
          <p:nvPr/>
        </p:nvSpPr>
        <p:spPr bwMode="auto">
          <a:xfrm>
            <a:off x="0" y="842963"/>
            <a:ext cx="2895600" cy="6018212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>
            <a:noFill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2743200" y="427038"/>
            <a:ext cx="6399213" cy="1524000"/>
          </a:xfrm>
        </p:spPr>
        <p:txBody>
          <a:bodyPr anchor="b"/>
          <a:lstStyle>
            <a:lvl1pPr>
              <a:lnSpc>
                <a:spcPct val="80000"/>
              </a:lnSpc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191000" y="1752600"/>
            <a:ext cx="4572000" cy="1752600"/>
          </a:xfrm>
        </p:spPr>
        <p:txBody>
          <a:bodyPr/>
          <a:lstStyle>
            <a:lvl1pPr marL="0" indent="0">
              <a:buFont typeface="Monotype Sorts" pitchFamily="2" charset="2"/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5DC40C-818B-48DA-B714-2FF992E56D49}" type="datetime1">
              <a:rPr lang="en-US" smtClean="0"/>
              <a:pPr>
                <a:defRPr/>
              </a:pPr>
              <a:t>9/8/2013</a:t>
            </a:fld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56E4BB-5083-427D-889F-71AA4537B9D3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plit orient="vert" dir="in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6254F0-1850-45DC-B099-26EECFDE17B1}" type="datetime1">
              <a:rPr lang="en-US" smtClean="0"/>
              <a:pPr>
                <a:defRPr/>
              </a:pPr>
              <a:t>9/8/2013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0C3564-4D1F-4D60-8110-108EEE6DB99B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plit orient="vert" dir="in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8A3DA5-2B9E-43E0-945B-FF62DD883718}" type="datetime1">
              <a:rPr lang="en-US" smtClean="0"/>
              <a:pPr>
                <a:defRPr/>
              </a:pPr>
              <a:t>9/8/2013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2738CA-ACBC-4504-ADC0-CAA669E75AAA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plit orient="vert" dir="in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19400" y="1981200"/>
            <a:ext cx="29718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600" y="1981200"/>
            <a:ext cx="29718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B827C3-A030-4B6B-BFB7-5E47AB34228E}" type="datetime1">
              <a:rPr lang="en-US" smtClean="0"/>
              <a:pPr>
                <a:defRPr/>
              </a:pPr>
              <a:t>9/8/2013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069E82-402D-467E-AC56-6FE5B5B3678E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plit orient="vert" dir="in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91CFD2-96C6-4A22-B436-FA99A0E8B154}" type="datetime1">
              <a:rPr lang="en-US" smtClean="0"/>
              <a:pPr>
                <a:defRPr/>
              </a:pPr>
              <a:t>9/8/2013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8DA0CE-A904-4F2B-9D33-F7F5B0CF86D1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plit orient="vert" dir="in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227F34-E71F-4BC1-B75B-310700F31AB6}" type="datetime1">
              <a:rPr lang="en-US" smtClean="0"/>
              <a:pPr>
                <a:defRPr/>
              </a:pPr>
              <a:t>9/8/2013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C02D4D-7DAA-4B9D-9AED-BD2B67337C4E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plit orient="vert" dir="in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732AD3-8B1D-43C6-9DCC-3996B4AA38A4}" type="datetime1">
              <a:rPr lang="en-US" smtClean="0"/>
              <a:pPr>
                <a:defRPr/>
              </a:pPr>
              <a:t>9/8/2013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FE8294-AB82-4198-B9F0-C509E13612B6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plit orient="vert" dir="in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6E37AD-07DB-443C-8A72-25657C11B78D}" type="datetime1">
              <a:rPr lang="en-US" smtClean="0"/>
              <a:pPr>
                <a:defRPr/>
              </a:pPr>
              <a:t>9/8/2013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0D6148-412E-4D8C-BC2A-A1334A51E714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plit orient="vert" dir="in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D53FE8-7C7B-4041-9FAB-69F03C40A457}" type="datetime1">
              <a:rPr lang="en-US" smtClean="0"/>
              <a:pPr>
                <a:defRPr/>
              </a:pPr>
              <a:t>9/8/2013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8DC550-B673-4CAD-BD2D-87559E4A7872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plit orient="vert" dir="in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72FF53-6C07-44A2-954E-F545E30DCF85}" type="datetime1">
              <a:rPr lang="en-US" smtClean="0"/>
              <a:pPr>
                <a:defRPr/>
              </a:pPr>
              <a:t>9/8/2013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94C629-FF8D-45AD-A0D2-D41376162330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plit orient="vert" dir="in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609600"/>
            <a:ext cx="15240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19400" y="609600"/>
            <a:ext cx="44196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986D78-158B-4E7A-AA56-28B50F590BE0}" type="datetime1">
              <a:rPr lang="en-US" smtClean="0"/>
              <a:pPr>
                <a:defRPr/>
              </a:pPr>
              <a:t>9/8/2013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2625F7-4E0B-489A-B758-710384248713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plit orient="vert" dir="in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2819400" y="609600"/>
            <a:ext cx="6096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819400" y="1981200"/>
            <a:ext cx="29718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943600" y="1981200"/>
            <a:ext cx="29718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2819400" y="4114800"/>
            <a:ext cx="29718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43600" y="4114800"/>
            <a:ext cx="29718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7D441B-DB4B-44EA-96A5-FFE492AF7E37}" type="datetime1">
              <a:rPr lang="en-US" smtClean="0"/>
              <a:pPr>
                <a:defRPr/>
              </a:pPr>
              <a:t>9/8/2013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038657-F97C-4B69-BBA3-11D592EB2882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plit orient="vert" dir="in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2819400" y="609600"/>
            <a:ext cx="6096000" cy="5486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67F139-FF1F-4130-8663-CB180BC76D3D}" type="datetime1">
              <a:rPr lang="en-US" smtClean="0"/>
              <a:pPr>
                <a:defRPr/>
              </a:pPr>
              <a:t>9/8/2013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555CB5-637F-4580-939F-65B97B3AA67F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plit orient="vert" dir="in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609600"/>
            <a:ext cx="6096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19400" y="1981200"/>
            <a:ext cx="29718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943600" y="1981200"/>
            <a:ext cx="29718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943600" y="4114800"/>
            <a:ext cx="29718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FE0799-DB24-4ED4-881A-7908C721BE3F}" type="datetime1">
              <a:rPr lang="en-US" smtClean="0"/>
              <a:pPr>
                <a:defRPr/>
              </a:pPr>
              <a:t>9/8/2013</a:t>
            </a:fld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CBA841-D39C-4919-AAEB-1523556FDBEB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split orient="vert" dir="in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rc 2"/>
          <p:cNvSpPr>
            <a:spLocks/>
          </p:cNvSpPr>
          <p:nvPr/>
        </p:nvSpPr>
        <p:spPr bwMode="auto">
          <a:xfrm>
            <a:off x="0" y="842963"/>
            <a:ext cx="2895600" cy="6018212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>
            <a:noFill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2819400" y="609600"/>
            <a:ext cx="6096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819400" y="1981200"/>
            <a:ext cx="6096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4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l">
              <a:defRPr sz="1400" b="0">
                <a:solidFill>
                  <a:schemeClr val="hlink"/>
                </a:solidFill>
                <a:latin typeface="+mn-lt"/>
              </a:defRPr>
            </a:lvl1pPr>
          </a:lstStyle>
          <a:p>
            <a:pPr>
              <a:defRPr/>
            </a:pPr>
            <a:fld id="{D07BB062-62B9-435F-BA85-969C4B12BE72}" type="datetime1">
              <a:rPr lang="en-US" smtClean="0"/>
              <a:pPr>
                <a:defRPr/>
              </a:pPr>
              <a:t>9/8/2013</a:t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 b="0">
                <a:solidFill>
                  <a:schemeClr val="hlink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smtClean="0"/>
              <a:t>By E. Amani</a:t>
            </a:r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 b="0">
                <a:solidFill>
                  <a:schemeClr val="hlink"/>
                </a:solidFill>
                <a:latin typeface="+mn-lt"/>
                <a:cs typeface="Arial" charset="0"/>
              </a:defRPr>
            </a:lvl1pPr>
          </a:lstStyle>
          <a:p>
            <a:pPr>
              <a:defRPr/>
            </a:pPr>
            <a:fld id="{DA50D7D3-78DD-4D58-B511-85E8AE2B5CC5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  <p:sldLayoutId id="2147483855" r:id="rId13"/>
    <p:sldLayoutId id="2147483856" r:id="rId14"/>
  </p:sldLayoutIdLst>
  <p:transition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" grpId="0"/>
      <p:bldP spid="1028" grpId="0" build="p">
        <p:tmplLst>
          <p:tmpl lvl="1">
            <p:tnLst>
              <p:par>
                <p:cTn presetID="50" presetClass="entr" presetSubtype="0" de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10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1028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0" presetClass="entr" presetSubtype="0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10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1028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50" presetClass="entr" presetSubtype="0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10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1028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50" presetClass="entr" presetSubtype="0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10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1028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50" presetClass="entr" presetSubtype="0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000" fill="hold"/>
                        <p:tgtEl>
                          <p:spTgt spid="10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+.3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1000"/>
                        <p:tgtEl>
                          <p:spTgt spid="102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itchFamily="34" charset="0"/>
        </a:defRPr>
      </a:lvl2pPr>
      <a:lvl3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itchFamily="34" charset="0"/>
        </a:defRPr>
      </a:lvl3pPr>
      <a:lvl4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itchFamily="34" charset="0"/>
        </a:defRPr>
      </a:lvl4pPr>
      <a:lvl5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itchFamily="34" charset="0"/>
        </a:defRPr>
      </a:lvl5pPr>
      <a:lvl6pPr marL="457200"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itchFamily="34" charset="0"/>
        </a:defRPr>
      </a:lvl6pPr>
      <a:lvl7pPr marL="914400"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itchFamily="34" charset="0"/>
        </a:defRPr>
      </a:lvl7pPr>
      <a:lvl8pPr marL="1371600"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itchFamily="34" charset="0"/>
        </a:defRPr>
      </a:lvl8pPr>
      <a:lvl9pPr marL="1828800"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Monotype Sorts" pitchFamily="2" charset="2"/>
        <a:buChar char="n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u"/>
        <a:defRPr kumimoji="1" sz="2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Monotype Sorts" pitchFamily="2" charset="2"/>
        <a:buChar char="F"/>
        <a:defRPr kumimoji="1"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00000"/>
        <a:buChar char="•"/>
        <a:defRPr kumimoji="1"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gif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8.jpeg"/><Relationship Id="rId4" Type="http://schemas.openxmlformats.org/officeDocument/2006/relationships/image" Target="../media/image17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6"/>
          <p:cNvSpPr>
            <a:spLocks noChangeArrowheads="1"/>
          </p:cNvSpPr>
          <p:nvPr/>
        </p:nvSpPr>
        <p:spPr bwMode="auto">
          <a:xfrm>
            <a:off x="0" y="3886200"/>
            <a:ext cx="9144000" cy="0"/>
          </a:xfrm>
          <a:prstGeom prst="rect">
            <a:avLst/>
          </a:prstGeom>
          <a:noFill/>
          <a:ln w="9525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0243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0244" name="Rectangle 54"/>
          <p:cNvSpPr>
            <a:spLocks noChangeArrowheads="1"/>
          </p:cNvSpPr>
          <p:nvPr/>
        </p:nvSpPr>
        <p:spPr bwMode="auto">
          <a:xfrm>
            <a:off x="0" y="3162300"/>
            <a:ext cx="9144000" cy="0"/>
          </a:xfrm>
          <a:prstGeom prst="rect">
            <a:avLst/>
          </a:prstGeom>
          <a:noFill/>
          <a:ln w="9525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0245" name="Rectangle 57"/>
          <p:cNvSpPr>
            <a:spLocks noChangeArrowheads="1"/>
          </p:cNvSpPr>
          <p:nvPr/>
        </p:nvSpPr>
        <p:spPr bwMode="auto">
          <a:xfrm>
            <a:off x="0" y="3162300"/>
            <a:ext cx="9144000" cy="0"/>
          </a:xfrm>
          <a:prstGeom prst="rect">
            <a:avLst/>
          </a:prstGeom>
          <a:noFill/>
          <a:ln w="9525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0246" name="Rectangle 58"/>
          <p:cNvSpPr>
            <a:spLocks noChangeArrowheads="1"/>
          </p:cNvSpPr>
          <p:nvPr/>
        </p:nvSpPr>
        <p:spPr bwMode="auto">
          <a:xfrm>
            <a:off x="0" y="3695700"/>
            <a:ext cx="9144000" cy="0"/>
          </a:xfrm>
          <a:prstGeom prst="rect">
            <a:avLst/>
          </a:prstGeom>
          <a:noFill/>
          <a:ln w="9525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0247" name="Rectangle 64"/>
          <p:cNvSpPr>
            <a:spLocks noChangeArrowheads="1"/>
          </p:cNvSpPr>
          <p:nvPr/>
        </p:nvSpPr>
        <p:spPr bwMode="auto">
          <a:xfrm>
            <a:off x="0" y="3171825"/>
            <a:ext cx="9144000" cy="0"/>
          </a:xfrm>
          <a:prstGeom prst="rect">
            <a:avLst/>
          </a:prstGeom>
          <a:noFill/>
          <a:ln w="9525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0248" name="Rectangle 65"/>
          <p:cNvSpPr>
            <a:spLocks noChangeArrowheads="1"/>
          </p:cNvSpPr>
          <p:nvPr/>
        </p:nvSpPr>
        <p:spPr bwMode="auto">
          <a:xfrm>
            <a:off x="0" y="3686175"/>
            <a:ext cx="9144000" cy="0"/>
          </a:xfrm>
          <a:prstGeom prst="rect">
            <a:avLst/>
          </a:prstGeom>
          <a:noFill/>
          <a:ln w="9525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101664" y="685800"/>
            <a:ext cx="6575518" cy="212365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99"/>
                    </a:gs>
                    <a:gs pos="39999">
                      <a:srgbClr val="0A128C"/>
                    </a:gs>
                    <a:gs pos="70000">
                      <a:srgbClr val="181CC7"/>
                    </a:gs>
                    <a:gs pos="88000">
                      <a:srgbClr val="7005D4"/>
                    </a:gs>
                    <a:gs pos="100000">
                      <a:srgbClr val="8C3D91"/>
                    </a:gs>
                  </a:gsLst>
                  <a:lin ang="5400000" scaled="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ooper Black" pitchFamily="18" charset="0"/>
              </a:rPr>
              <a:t>Numerical Simulation</a:t>
            </a:r>
          </a:p>
          <a:p>
            <a:pPr algn="ctr"/>
            <a:r>
              <a:rPr lang="en-US" sz="4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99"/>
                    </a:gs>
                    <a:gs pos="39999">
                      <a:srgbClr val="0A128C"/>
                    </a:gs>
                    <a:gs pos="70000">
                      <a:srgbClr val="181CC7"/>
                    </a:gs>
                    <a:gs pos="88000">
                      <a:srgbClr val="7005D4"/>
                    </a:gs>
                    <a:gs pos="100000">
                      <a:srgbClr val="8C3D91"/>
                    </a:gs>
                  </a:gsLst>
                  <a:lin ang="5400000" scaled="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ooper Black" pitchFamily="18" charset="0"/>
              </a:rPr>
              <a:t> of </a:t>
            </a:r>
          </a:p>
          <a:p>
            <a:pPr algn="ctr"/>
            <a:r>
              <a:rPr lang="en-US" sz="4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99"/>
                    </a:gs>
                    <a:gs pos="39999">
                      <a:srgbClr val="0A128C"/>
                    </a:gs>
                    <a:gs pos="70000">
                      <a:srgbClr val="181CC7"/>
                    </a:gs>
                    <a:gs pos="88000">
                      <a:srgbClr val="7005D4"/>
                    </a:gs>
                    <a:gs pos="100000">
                      <a:srgbClr val="8C3D91"/>
                    </a:gs>
                  </a:gsLst>
                  <a:lin ang="5400000" scaled="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ooper Black" pitchFamily="18" charset="0"/>
              </a:rPr>
              <a:t>Turbulent Flows</a:t>
            </a:r>
            <a:r>
              <a:rPr lang="en-US" sz="440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99"/>
                    </a:gs>
                    <a:gs pos="39999">
                      <a:srgbClr val="0A128C"/>
                    </a:gs>
                    <a:gs pos="70000">
                      <a:srgbClr val="181CC7"/>
                    </a:gs>
                    <a:gs pos="88000">
                      <a:srgbClr val="7005D4"/>
                    </a:gs>
                    <a:gs pos="100000">
                      <a:srgbClr val="8C3D91"/>
                    </a:gs>
                  </a:gsLst>
                  <a:lin ang="5400000" scaled="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ooper Black" pitchFamily="18" charset="0"/>
              </a:rPr>
              <a:t> - </a:t>
            </a:r>
            <a:r>
              <a:rPr lang="en-US" sz="4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45000">
                      <a:srgbClr val="FF7A00"/>
                    </a:gs>
                    <a:gs pos="70000">
                      <a:srgbClr val="FF0300"/>
                    </a:gs>
                    <a:gs pos="100000">
                      <a:srgbClr val="4D0808"/>
                    </a:gs>
                  </a:gsLst>
                  <a:lin ang="5400000" scaled="1"/>
                  <a:tileRect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ooper Black" pitchFamily="18" charset="0"/>
              </a:rPr>
              <a:t>LES</a:t>
            </a:r>
            <a:endParaRPr lang="en-US" sz="4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99"/>
                  </a:gs>
                  <a:gs pos="39999">
                    <a:srgbClr val="0A128C"/>
                  </a:gs>
                  <a:gs pos="70000">
                    <a:srgbClr val="181CC7"/>
                  </a:gs>
                  <a:gs pos="88000">
                    <a:srgbClr val="7005D4"/>
                  </a:gs>
                  <a:gs pos="100000">
                    <a:srgbClr val="8C3D91"/>
                  </a:gs>
                </a:gsLst>
                <a:lin ang="5400000" scaled="0"/>
              </a:gradFill>
              <a:effectLst>
                <a:outerShdw blurRad="50800" algn="tl" rotWithShape="0">
                  <a:srgbClr val="000000"/>
                </a:outerShdw>
              </a:effectLst>
              <a:latin typeface="Cooper Black" pitchFamily="18" charset="0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4495800"/>
            <a:ext cx="6324600" cy="12192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CHAP I. Introduction</a:t>
            </a:r>
          </a:p>
        </p:txBody>
      </p:sp>
      <p:sp>
        <p:nvSpPr>
          <p:cNvPr id="12" name="Footer Placeholder 26"/>
          <p:cNvSpPr>
            <a:spLocks noGrp="1"/>
          </p:cNvSpPr>
          <p:nvPr>
            <p:ph type="ftr" sz="quarter" idx="11"/>
          </p:nvPr>
        </p:nvSpPr>
        <p:spPr>
          <a:xfrm>
            <a:off x="2895600" y="3657600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en-US" sz="2400" dirty="0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By </a:t>
            </a:r>
            <a:r>
              <a:rPr lang="en-US" sz="2400" dirty="0" err="1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Ehsan</a:t>
            </a:r>
            <a:r>
              <a:rPr lang="en-US" sz="2400" dirty="0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 </a:t>
            </a:r>
            <a:r>
              <a:rPr lang="en-US" sz="2400" dirty="0" err="1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Amani</a:t>
            </a:r>
            <a:endParaRPr lang="en-US" sz="2400" dirty="0">
              <a:solidFill>
                <a:srgbClr val="0066FF"/>
              </a:solidFill>
              <a:latin typeface="Cooper Black" pitchFamily="18" charset="0"/>
              <a:ea typeface="Cambria Math" pitchFamily="18" charset="0"/>
            </a:endParaRPr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1269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7696200" cy="914400"/>
          </a:xfrm>
        </p:spPr>
        <p:txBody>
          <a:bodyPr/>
          <a:lstStyle/>
          <a:p>
            <a:r>
              <a:rPr lang="en-US" sz="3200" dirty="0" smtClean="0">
                <a:solidFill>
                  <a:srgbClr val="000099"/>
                </a:solidFill>
                <a:latin typeface="Cambria" pitchFamily="18" charset="0"/>
              </a:rPr>
              <a:t>Turbulence</a:t>
            </a:r>
          </a:p>
        </p:txBody>
      </p:sp>
      <p:sp>
        <p:nvSpPr>
          <p:cNvPr id="27" name="Footer Placeholder 26"/>
          <p:cNvSpPr>
            <a:spLocks noGrp="1"/>
          </p:cNvSpPr>
          <p:nvPr>
            <p:ph type="ftr" sz="quarter" idx="11"/>
          </p:nvPr>
        </p:nvSpPr>
        <p:spPr>
          <a:xfrm>
            <a:off x="7162800" y="6400800"/>
            <a:ext cx="1981200" cy="457200"/>
          </a:xfrm>
        </p:spPr>
        <p:txBody>
          <a:bodyPr/>
          <a:lstStyle/>
          <a:p>
            <a:pPr>
              <a:defRPr/>
            </a:pPr>
            <a:r>
              <a:rPr lang="en-US" sz="1600" dirty="0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By E. </a:t>
            </a:r>
            <a:r>
              <a:rPr lang="en-US" sz="1600" dirty="0" err="1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Amani</a:t>
            </a:r>
            <a:endParaRPr lang="en-US" sz="1600" dirty="0">
              <a:solidFill>
                <a:srgbClr val="0066FF"/>
              </a:solidFill>
              <a:latin typeface="Cooper Black" pitchFamily="18" charset="0"/>
              <a:ea typeface="Cambria Math" pitchFamily="18" charset="0"/>
            </a:endParaRPr>
          </a:p>
        </p:txBody>
      </p:sp>
      <p:sp>
        <p:nvSpPr>
          <p:cNvPr id="24" name="Footer Placeholder 26"/>
          <p:cNvSpPr txBox="1">
            <a:spLocks/>
          </p:cNvSpPr>
          <p:nvPr/>
        </p:nvSpPr>
        <p:spPr bwMode="auto">
          <a:xfrm>
            <a:off x="0" y="6400800"/>
            <a:ext cx="220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ooper Black" pitchFamily="18" charset="0"/>
                <a:ea typeface="Cambria Math" pitchFamily="18" charset="0"/>
                <a:cs typeface="Times New Roman" pitchFamily="18" charset="0"/>
              </a:rPr>
              <a:t>I. Introduction</a:t>
            </a: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ooper Black" pitchFamily="18" charset="0"/>
              <a:ea typeface="Cambria Math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2000" y="1978223"/>
            <a:ext cx="34290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000" b="1" dirty="0" smtClean="0">
                <a:solidFill>
                  <a:schemeClr val="accent1">
                    <a:lumMod val="25000"/>
                  </a:schemeClr>
                </a:solidFill>
                <a:latin typeface="Cambria" pitchFamily="18" charset="0"/>
              </a:rPr>
              <a:t>Laminar Flow</a:t>
            </a:r>
            <a:endParaRPr lang="en-US" sz="2000" b="1" dirty="0">
              <a:solidFill>
                <a:schemeClr val="accent1">
                  <a:lumMod val="25000"/>
                </a:schemeClr>
              </a:solidFill>
              <a:latin typeface="Cambria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9600" y="4264223"/>
            <a:ext cx="28956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000" b="1" dirty="0" smtClean="0">
                <a:solidFill>
                  <a:schemeClr val="accent1">
                    <a:lumMod val="25000"/>
                  </a:schemeClr>
                </a:solidFill>
                <a:latin typeface="Cambria" pitchFamily="18" charset="0"/>
              </a:rPr>
              <a:t>Turbulent Flow</a:t>
            </a:r>
            <a:endParaRPr lang="en-US" sz="2000" b="1" dirty="0">
              <a:solidFill>
                <a:schemeClr val="accent1">
                  <a:lumMod val="25000"/>
                </a:schemeClr>
              </a:solidFill>
              <a:latin typeface="Cambria" pitchFamily="18" charset="0"/>
            </a:endParaRPr>
          </a:p>
        </p:txBody>
      </p:sp>
      <p:pic>
        <p:nvPicPr>
          <p:cNvPr id="16" name="Picture 15" descr="medium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14600" y="1143000"/>
            <a:ext cx="5419551" cy="4572000"/>
          </a:xfrm>
          <a:prstGeom prst="rect">
            <a:avLst/>
          </a:prstGeom>
        </p:spPr>
      </p:pic>
      <p:sp>
        <p:nvSpPr>
          <p:cNvPr id="29" name="Freeform 28"/>
          <p:cNvSpPr/>
          <p:nvPr/>
        </p:nvSpPr>
        <p:spPr bwMode="auto">
          <a:xfrm>
            <a:off x="4953000" y="3785446"/>
            <a:ext cx="834157" cy="1167554"/>
          </a:xfrm>
          <a:custGeom>
            <a:avLst/>
            <a:gdLst>
              <a:gd name="connsiteX0" fmla="*/ 0 w 834157"/>
              <a:gd name="connsiteY0" fmla="*/ 0 h 1167554"/>
              <a:gd name="connsiteX1" fmla="*/ 58058 w 834157"/>
              <a:gd name="connsiteY1" fmla="*/ 14514 h 1167554"/>
              <a:gd name="connsiteX2" fmla="*/ 101600 w 834157"/>
              <a:gd name="connsiteY2" fmla="*/ 43543 h 1167554"/>
              <a:gd name="connsiteX3" fmla="*/ 304800 w 834157"/>
              <a:gd name="connsiteY3" fmla="*/ 29029 h 1167554"/>
              <a:gd name="connsiteX4" fmla="*/ 261258 w 834157"/>
              <a:gd name="connsiteY4" fmla="*/ 14514 h 1167554"/>
              <a:gd name="connsiteX5" fmla="*/ 290286 w 834157"/>
              <a:gd name="connsiteY5" fmla="*/ 58057 h 1167554"/>
              <a:gd name="connsiteX6" fmla="*/ 348343 w 834157"/>
              <a:gd name="connsiteY6" fmla="*/ 72572 h 1167554"/>
              <a:gd name="connsiteX7" fmla="*/ 638629 w 834157"/>
              <a:gd name="connsiteY7" fmla="*/ 87086 h 1167554"/>
              <a:gd name="connsiteX8" fmla="*/ 522515 w 834157"/>
              <a:gd name="connsiteY8" fmla="*/ 101600 h 1167554"/>
              <a:gd name="connsiteX9" fmla="*/ 478972 w 834157"/>
              <a:gd name="connsiteY9" fmla="*/ 116114 h 1167554"/>
              <a:gd name="connsiteX10" fmla="*/ 522515 w 834157"/>
              <a:gd name="connsiteY10" fmla="*/ 145143 h 1167554"/>
              <a:gd name="connsiteX11" fmla="*/ 609600 w 834157"/>
              <a:gd name="connsiteY11" fmla="*/ 174172 h 1167554"/>
              <a:gd name="connsiteX12" fmla="*/ 522515 w 834157"/>
              <a:gd name="connsiteY12" fmla="*/ 217714 h 1167554"/>
              <a:gd name="connsiteX13" fmla="*/ 537029 w 834157"/>
              <a:gd name="connsiteY13" fmla="*/ 261257 h 1167554"/>
              <a:gd name="connsiteX14" fmla="*/ 566058 w 834157"/>
              <a:gd name="connsiteY14" fmla="*/ 304800 h 1167554"/>
              <a:gd name="connsiteX15" fmla="*/ 769258 w 834157"/>
              <a:gd name="connsiteY15" fmla="*/ 319314 h 1167554"/>
              <a:gd name="connsiteX16" fmla="*/ 682172 w 834157"/>
              <a:gd name="connsiteY16" fmla="*/ 362857 h 1167554"/>
              <a:gd name="connsiteX17" fmla="*/ 595086 w 834157"/>
              <a:gd name="connsiteY17" fmla="*/ 435429 h 1167554"/>
              <a:gd name="connsiteX18" fmla="*/ 638629 w 834157"/>
              <a:gd name="connsiteY18" fmla="*/ 449943 h 1167554"/>
              <a:gd name="connsiteX19" fmla="*/ 667658 w 834157"/>
              <a:gd name="connsiteY19" fmla="*/ 537029 h 1167554"/>
              <a:gd name="connsiteX20" fmla="*/ 624115 w 834157"/>
              <a:gd name="connsiteY20" fmla="*/ 580572 h 1167554"/>
              <a:gd name="connsiteX21" fmla="*/ 696686 w 834157"/>
              <a:gd name="connsiteY21" fmla="*/ 595086 h 1167554"/>
              <a:gd name="connsiteX22" fmla="*/ 812800 w 834157"/>
              <a:gd name="connsiteY22" fmla="*/ 609600 h 1167554"/>
              <a:gd name="connsiteX23" fmla="*/ 827315 w 834157"/>
              <a:gd name="connsiteY23" fmla="*/ 653143 h 1167554"/>
              <a:gd name="connsiteX24" fmla="*/ 783772 w 834157"/>
              <a:gd name="connsiteY24" fmla="*/ 667657 h 1167554"/>
              <a:gd name="connsiteX25" fmla="*/ 740229 w 834157"/>
              <a:gd name="connsiteY25" fmla="*/ 696686 h 1167554"/>
              <a:gd name="connsiteX26" fmla="*/ 653143 w 834157"/>
              <a:gd name="connsiteY26" fmla="*/ 725714 h 1167554"/>
              <a:gd name="connsiteX27" fmla="*/ 653143 w 834157"/>
              <a:gd name="connsiteY27" fmla="*/ 769257 h 1167554"/>
              <a:gd name="connsiteX28" fmla="*/ 551543 w 834157"/>
              <a:gd name="connsiteY28" fmla="*/ 812800 h 1167554"/>
              <a:gd name="connsiteX29" fmla="*/ 595086 w 834157"/>
              <a:gd name="connsiteY29" fmla="*/ 841829 h 1167554"/>
              <a:gd name="connsiteX30" fmla="*/ 740229 w 834157"/>
              <a:gd name="connsiteY30" fmla="*/ 856343 h 1167554"/>
              <a:gd name="connsiteX31" fmla="*/ 653143 w 834157"/>
              <a:gd name="connsiteY31" fmla="*/ 885372 h 1167554"/>
              <a:gd name="connsiteX32" fmla="*/ 609600 w 834157"/>
              <a:gd name="connsiteY32" fmla="*/ 914400 h 1167554"/>
              <a:gd name="connsiteX33" fmla="*/ 667658 w 834157"/>
              <a:gd name="connsiteY33" fmla="*/ 943429 h 1167554"/>
              <a:gd name="connsiteX34" fmla="*/ 580572 w 834157"/>
              <a:gd name="connsiteY34" fmla="*/ 972457 h 1167554"/>
              <a:gd name="connsiteX35" fmla="*/ 595086 w 834157"/>
              <a:gd name="connsiteY35" fmla="*/ 1016000 h 1167554"/>
              <a:gd name="connsiteX36" fmla="*/ 580572 w 834157"/>
              <a:gd name="connsiteY36" fmla="*/ 1059543 h 1167554"/>
              <a:gd name="connsiteX37" fmla="*/ 537029 w 834157"/>
              <a:gd name="connsiteY37" fmla="*/ 1074057 h 1167554"/>
              <a:gd name="connsiteX38" fmla="*/ 464458 w 834157"/>
              <a:gd name="connsiteY38" fmla="*/ 1088572 h 1167554"/>
              <a:gd name="connsiteX39" fmla="*/ 508000 w 834157"/>
              <a:gd name="connsiteY39" fmla="*/ 1103086 h 1167554"/>
              <a:gd name="connsiteX40" fmla="*/ 406400 w 834157"/>
              <a:gd name="connsiteY40" fmla="*/ 1146629 h 1167554"/>
              <a:gd name="connsiteX41" fmla="*/ 101600 w 834157"/>
              <a:gd name="connsiteY41" fmla="*/ 1161143 h 1167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834157" h="1167554">
                <a:moveTo>
                  <a:pt x="0" y="0"/>
                </a:moveTo>
                <a:cubicBezTo>
                  <a:pt x="19353" y="4838"/>
                  <a:pt x="39723" y="6656"/>
                  <a:pt x="58058" y="14514"/>
                </a:cubicBezTo>
                <a:cubicBezTo>
                  <a:pt x="74091" y="21385"/>
                  <a:pt x="84186" y="42519"/>
                  <a:pt x="101600" y="43543"/>
                </a:cubicBezTo>
                <a:cubicBezTo>
                  <a:pt x="169389" y="47531"/>
                  <a:pt x="237067" y="33867"/>
                  <a:pt x="304800" y="29029"/>
                </a:cubicBezTo>
                <a:cubicBezTo>
                  <a:pt x="290286" y="24191"/>
                  <a:pt x="268100" y="830"/>
                  <a:pt x="261258" y="14514"/>
                </a:cubicBezTo>
                <a:cubicBezTo>
                  <a:pt x="253457" y="30116"/>
                  <a:pt x="275772" y="48381"/>
                  <a:pt x="290286" y="58057"/>
                </a:cubicBezTo>
                <a:cubicBezTo>
                  <a:pt x="306884" y="69122"/>
                  <a:pt x="328464" y="70915"/>
                  <a:pt x="348343" y="72572"/>
                </a:cubicBezTo>
                <a:cubicBezTo>
                  <a:pt x="444891" y="80618"/>
                  <a:pt x="541867" y="82248"/>
                  <a:pt x="638629" y="87086"/>
                </a:cubicBezTo>
                <a:cubicBezTo>
                  <a:pt x="599924" y="91924"/>
                  <a:pt x="560892" y="94623"/>
                  <a:pt x="522515" y="101600"/>
                </a:cubicBezTo>
                <a:cubicBezTo>
                  <a:pt x="507462" y="104337"/>
                  <a:pt x="478972" y="100815"/>
                  <a:pt x="478972" y="116114"/>
                </a:cubicBezTo>
                <a:cubicBezTo>
                  <a:pt x="478972" y="133558"/>
                  <a:pt x="506574" y="138058"/>
                  <a:pt x="522515" y="145143"/>
                </a:cubicBezTo>
                <a:cubicBezTo>
                  <a:pt x="550476" y="157570"/>
                  <a:pt x="609600" y="174172"/>
                  <a:pt x="609600" y="174172"/>
                </a:cubicBezTo>
                <a:cubicBezTo>
                  <a:pt x="591270" y="180282"/>
                  <a:pt x="531172" y="196072"/>
                  <a:pt x="522515" y="217714"/>
                </a:cubicBezTo>
                <a:cubicBezTo>
                  <a:pt x="516833" y="231919"/>
                  <a:pt x="530187" y="247573"/>
                  <a:pt x="537029" y="261257"/>
                </a:cubicBezTo>
                <a:cubicBezTo>
                  <a:pt x="544830" y="276859"/>
                  <a:pt x="549135" y="300569"/>
                  <a:pt x="566058" y="304800"/>
                </a:cubicBezTo>
                <a:cubicBezTo>
                  <a:pt x="631936" y="321270"/>
                  <a:pt x="701525" y="314476"/>
                  <a:pt x="769258" y="319314"/>
                </a:cubicBezTo>
                <a:cubicBezTo>
                  <a:pt x="644469" y="402507"/>
                  <a:pt x="802356" y="302765"/>
                  <a:pt x="682172" y="362857"/>
                </a:cubicBezTo>
                <a:cubicBezTo>
                  <a:pt x="641758" y="383064"/>
                  <a:pt x="627185" y="403330"/>
                  <a:pt x="595086" y="435429"/>
                </a:cubicBezTo>
                <a:cubicBezTo>
                  <a:pt x="609600" y="440267"/>
                  <a:pt x="629736" y="437493"/>
                  <a:pt x="638629" y="449943"/>
                </a:cubicBezTo>
                <a:cubicBezTo>
                  <a:pt x="656414" y="474842"/>
                  <a:pt x="667658" y="537029"/>
                  <a:pt x="667658" y="537029"/>
                </a:cubicBezTo>
                <a:cubicBezTo>
                  <a:pt x="653144" y="551543"/>
                  <a:pt x="614935" y="562213"/>
                  <a:pt x="624115" y="580572"/>
                </a:cubicBezTo>
                <a:cubicBezTo>
                  <a:pt x="635147" y="602637"/>
                  <a:pt x="672303" y="591335"/>
                  <a:pt x="696686" y="595086"/>
                </a:cubicBezTo>
                <a:cubicBezTo>
                  <a:pt x="735238" y="601017"/>
                  <a:pt x="774095" y="604762"/>
                  <a:pt x="812800" y="609600"/>
                </a:cubicBezTo>
                <a:cubicBezTo>
                  <a:pt x="817638" y="624114"/>
                  <a:pt x="834157" y="639459"/>
                  <a:pt x="827315" y="653143"/>
                </a:cubicBezTo>
                <a:cubicBezTo>
                  <a:pt x="820473" y="666827"/>
                  <a:pt x="797456" y="660815"/>
                  <a:pt x="783772" y="667657"/>
                </a:cubicBezTo>
                <a:cubicBezTo>
                  <a:pt x="768170" y="675458"/>
                  <a:pt x="756170" y="689601"/>
                  <a:pt x="740229" y="696686"/>
                </a:cubicBezTo>
                <a:cubicBezTo>
                  <a:pt x="712267" y="709113"/>
                  <a:pt x="653143" y="725714"/>
                  <a:pt x="653143" y="725714"/>
                </a:cubicBezTo>
                <a:cubicBezTo>
                  <a:pt x="528354" y="808907"/>
                  <a:pt x="653143" y="709165"/>
                  <a:pt x="653143" y="769257"/>
                </a:cubicBezTo>
                <a:cubicBezTo>
                  <a:pt x="653143" y="794316"/>
                  <a:pt x="557751" y="811248"/>
                  <a:pt x="551543" y="812800"/>
                </a:cubicBezTo>
                <a:cubicBezTo>
                  <a:pt x="566057" y="822476"/>
                  <a:pt x="578089" y="837907"/>
                  <a:pt x="595086" y="841829"/>
                </a:cubicBezTo>
                <a:cubicBezTo>
                  <a:pt x="642463" y="852762"/>
                  <a:pt x="701331" y="827170"/>
                  <a:pt x="740229" y="856343"/>
                </a:cubicBezTo>
                <a:cubicBezTo>
                  <a:pt x="764708" y="874702"/>
                  <a:pt x="678603" y="868399"/>
                  <a:pt x="653143" y="885372"/>
                </a:cubicBezTo>
                <a:lnTo>
                  <a:pt x="609600" y="914400"/>
                </a:lnTo>
                <a:cubicBezTo>
                  <a:pt x="628953" y="924076"/>
                  <a:pt x="677334" y="924076"/>
                  <a:pt x="667658" y="943429"/>
                </a:cubicBezTo>
                <a:cubicBezTo>
                  <a:pt x="653974" y="970798"/>
                  <a:pt x="580572" y="972457"/>
                  <a:pt x="580572" y="972457"/>
                </a:cubicBezTo>
                <a:cubicBezTo>
                  <a:pt x="585410" y="986971"/>
                  <a:pt x="595086" y="1000701"/>
                  <a:pt x="595086" y="1016000"/>
                </a:cubicBezTo>
                <a:cubicBezTo>
                  <a:pt x="595086" y="1031299"/>
                  <a:pt x="591390" y="1048725"/>
                  <a:pt x="580572" y="1059543"/>
                </a:cubicBezTo>
                <a:cubicBezTo>
                  <a:pt x="569754" y="1070361"/>
                  <a:pt x="551872" y="1070346"/>
                  <a:pt x="537029" y="1074057"/>
                </a:cubicBezTo>
                <a:cubicBezTo>
                  <a:pt x="513096" y="1080040"/>
                  <a:pt x="488648" y="1083734"/>
                  <a:pt x="464458" y="1088572"/>
                </a:cubicBezTo>
                <a:cubicBezTo>
                  <a:pt x="478972" y="1093410"/>
                  <a:pt x="508000" y="1087787"/>
                  <a:pt x="508000" y="1103086"/>
                </a:cubicBezTo>
                <a:cubicBezTo>
                  <a:pt x="508000" y="1127622"/>
                  <a:pt x="412606" y="1145674"/>
                  <a:pt x="406400" y="1146629"/>
                </a:cubicBezTo>
                <a:cubicBezTo>
                  <a:pt x="270388" y="1167554"/>
                  <a:pt x="250252" y="1161143"/>
                  <a:pt x="101600" y="1161143"/>
                </a:cubicBezTo>
              </a:path>
            </a:pathLst>
          </a:custGeom>
          <a:noFill/>
          <a:ln w="25400" cap="sq" cmpd="sng" algn="ctr">
            <a:solidFill>
              <a:schemeClr val="bg2">
                <a:alpha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rgbClr val="FFFFFF">
                <a:alpha val="0"/>
              </a:srgbClr>
            </a:outerShdw>
          </a:effectLst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 smtClean="0">
              <a:ln>
                <a:noFill/>
              </a:ln>
              <a:solidFill>
                <a:schemeClr val="bg2"/>
              </a:solidFill>
              <a:effectLst/>
              <a:latin typeface="Script" pitchFamily="66"/>
              <a:cs typeface="Times New Roman" pitchFamily="18" charset="0"/>
            </a:endParaRPr>
          </a:p>
        </p:txBody>
      </p:sp>
      <p:sp>
        <p:nvSpPr>
          <p:cNvPr id="50" name="Freeform 49"/>
          <p:cNvSpPr/>
          <p:nvPr/>
        </p:nvSpPr>
        <p:spPr bwMode="auto">
          <a:xfrm>
            <a:off x="5029200" y="3802743"/>
            <a:ext cx="775226" cy="1219200"/>
          </a:xfrm>
          <a:custGeom>
            <a:avLst/>
            <a:gdLst>
              <a:gd name="connsiteX0" fmla="*/ 29029 w 775226"/>
              <a:gd name="connsiteY0" fmla="*/ 1161143 h 1219200"/>
              <a:gd name="connsiteX1" fmla="*/ 159657 w 775226"/>
              <a:gd name="connsiteY1" fmla="*/ 1219200 h 1219200"/>
              <a:gd name="connsiteX2" fmla="*/ 203200 w 775226"/>
              <a:gd name="connsiteY2" fmla="*/ 1190171 h 1219200"/>
              <a:gd name="connsiteX3" fmla="*/ 159657 w 775226"/>
              <a:gd name="connsiteY3" fmla="*/ 1161143 h 1219200"/>
              <a:gd name="connsiteX4" fmla="*/ 116114 w 775226"/>
              <a:gd name="connsiteY4" fmla="*/ 1175657 h 1219200"/>
              <a:gd name="connsiteX5" fmla="*/ 232229 w 775226"/>
              <a:gd name="connsiteY5" fmla="*/ 1161143 h 1219200"/>
              <a:gd name="connsiteX6" fmla="*/ 159657 w 775226"/>
              <a:gd name="connsiteY6" fmla="*/ 1175657 h 1219200"/>
              <a:gd name="connsiteX7" fmla="*/ 362857 w 775226"/>
              <a:gd name="connsiteY7" fmla="*/ 1146628 h 1219200"/>
              <a:gd name="connsiteX8" fmla="*/ 232229 w 775226"/>
              <a:gd name="connsiteY8" fmla="*/ 1132114 h 1219200"/>
              <a:gd name="connsiteX9" fmla="*/ 348343 w 775226"/>
              <a:gd name="connsiteY9" fmla="*/ 1117600 h 1219200"/>
              <a:gd name="connsiteX10" fmla="*/ 391886 w 775226"/>
              <a:gd name="connsiteY10" fmla="*/ 1103086 h 1219200"/>
              <a:gd name="connsiteX11" fmla="*/ 362857 w 775226"/>
              <a:gd name="connsiteY11" fmla="*/ 1146628 h 1219200"/>
              <a:gd name="connsiteX12" fmla="*/ 493486 w 775226"/>
              <a:gd name="connsiteY12" fmla="*/ 1103086 h 1219200"/>
              <a:gd name="connsiteX13" fmla="*/ 537029 w 775226"/>
              <a:gd name="connsiteY13" fmla="*/ 1088571 h 1219200"/>
              <a:gd name="connsiteX14" fmla="*/ 464457 w 775226"/>
              <a:gd name="connsiteY14" fmla="*/ 1074057 h 1219200"/>
              <a:gd name="connsiteX15" fmla="*/ 478971 w 775226"/>
              <a:gd name="connsiteY15" fmla="*/ 1030514 h 1219200"/>
              <a:gd name="connsiteX16" fmla="*/ 566057 w 775226"/>
              <a:gd name="connsiteY16" fmla="*/ 1001486 h 1219200"/>
              <a:gd name="connsiteX17" fmla="*/ 435429 w 775226"/>
              <a:gd name="connsiteY17" fmla="*/ 986971 h 1219200"/>
              <a:gd name="connsiteX18" fmla="*/ 595086 w 775226"/>
              <a:gd name="connsiteY18" fmla="*/ 943428 h 1219200"/>
              <a:gd name="connsiteX19" fmla="*/ 638629 w 775226"/>
              <a:gd name="connsiteY19" fmla="*/ 899886 h 1219200"/>
              <a:gd name="connsiteX20" fmla="*/ 725714 w 775226"/>
              <a:gd name="connsiteY20" fmla="*/ 841828 h 1219200"/>
              <a:gd name="connsiteX21" fmla="*/ 653143 w 775226"/>
              <a:gd name="connsiteY21" fmla="*/ 827314 h 1219200"/>
              <a:gd name="connsiteX22" fmla="*/ 609600 w 775226"/>
              <a:gd name="connsiteY22" fmla="*/ 812800 h 1219200"/>
              <a:gd name="connsiteX23" fmla="*/ 508000 w 775226"/>
              <a:gd name="connsiteY23" fmla="*/ 798286 h 1219200"/>
              <a:gd name="connsiteX24" fmla="*/ 464457 w 775226"/>
              <a:gd name="connsiteY24" fmla="*/ 769257 h 1219200"/>
              <a:gd name="connsiteX25" fmla="*/ 478971 w 775226"/>
              <a:gd name="connsiteY25" fmla="*/ 725714 h 1219200"/>
              <a:gd name="connsiteX26" fmla="*/ 653143 w 775226"/>
              <a:gd name="connsiteY26" fmla="*/ 682171 h 1219200"/>
              <a:gd name="connsiteX27" fmla="*/ 696686 w 775226"/>
              <a:gd name="connsiteY27" fmla="*/ 667657 h 1219200"/>
              <a:gd name="connsiteX28" fmla="*/ 595086 w 775226"/>
              <a:gd name="connsiteY28" fmla="*/ 653143 h 1219200"/>
              <a:gd name="connsiteX29" fmla="*/ 653143 w 775226"/>
              <a:gd name="connsiteY29" fmla="*/ 638628 h 1219200"/>
              <a:gd name="connsiteX30" fmla="*/ 537029 w 775226"/>
              <a:gd name="connsiteY30" fmla="*/ 624114 h 1219200"/>
              <a:gd name="connsiteX31" fmla="*/ 580571 w 775226"/>
              <a:gd name="connsiteY31" fmla="*/ 595086 h 1219200"/>
              <a:gd name="connsiteX32" fmla="*/ 566057 w 775226"/>
              <a:gd name="connsiteY32" fmla="*/ 566057 h 1219200"/>
              <a:gd name="connsiteX33" fmla="*/ 609600 w 775226"/>
              <a:gd name="connsiteY33" fmla="*/ 537028 h 1219200"/>
              <a:gd name="connsiteX34" fmla="*/ 551543 w 775226"/>
              <a:gd name="connsiteY34" fmla="*/ 508000 h 1219200"/>
              <a:gd name="connsiteX35" fmla="*/ 667657 w 775226"/>
              <a:gd name="connsiteY35" fmla="*/ 493486 h 1219200"/>
              <a:gd name="connsiteX36" fmla="*/ 537029 w 775226"/>
              <a:gd name="connsiteY36" fmla="*/ 449943 h 1219200"/>
              <a:gd name="connsiteX37" fmla="*/ 595086 w 775226"/>
              <a:gd name="connsiteY37" fmla="*/ 435428 h 1219200"/>
              <a:gd name="connsiteX38" fmla="*/ 464457 w 775226"/>
              <a:gd name="connsiteY38" fmla="*/ 420914 h 1219200"/>
              <a:gd name="connsiteX39" fmla="*/ 522514 w 775226"/>
              <a:gd name="connsiteY39" fmla="*/ 406400 h 1219200"/>
              <a:gd name="connsiteX40" fmla="*/ 595086 w 775226"/>
              <a:gd name="connsiteY40" fmla="*/ 348343 h 1219200"/>
              <a:gd name="connsiteX41" fmla="*/ 551543 w 775226"/>
              <a:gd name="connsiteY41" fmla="*/ 333828 h 1219200"/>
              <a:gd name="connsiteX42" fmla="*/ 391886 w 775226"/>
              <a:gd name="connsiteY42" fmla="*/ 319314 h 1219200"/>
              <a:gd name="connsiteX43" fmla="*/ 478971 w 775226"/>
              <a:gd name="connsiteY43" fmla="*/ 290286 h 1219200"/>
              <a:gd name="connsiteX44" fmla="*/ 522514 w 775226"/>
              <a:gd name="connsiteY44" fmla="*/ 275771 h 1219200"/>
              <a:gd name="connsiteX45" fmla="*/ 493486 w 775226"/>
              <a:gd name="connsiteY45" fmla="*/ 232228 h 1219200"/>
              <a:gd name="connsiteX46" fmla="*/ 537029 w 775226"/>
              <a:gd name="connsiteY46" fmla="*/ 145143 h 1219200"/>
              <a:gd name="connsiteX47" fmla="*/ 580571 w 775226"/>
              <a:gd name="connsiteY47" fmla="*/ 159657 h 1219200"/>
              <a:gd name="connsiteX48" fmla="*/ 537029 w 775226"/>
              <a:gd name="connsiteY48" fmla="*/ 174171 h 1219200"/>
              <a:gd name="connsiteX49" fmla="*/ 478971 w 775226"/>
              <a:gd name="connsiteY49" fmla="*/ 188686 h 1219200"/>
              <a:gd name="connsiteX50" fmla="*/ 362857 w 775226"/>
              <a:gd name="connsiteY50" fmla="*/ 174171 h 1219200"/>
              <a:gd name="connsiteX51" fmla="*/ 406400 w 775226"/>
              <a:gd name="connsiteY51" fmla="*/ 130628 h 1219200"/>
              <a:gd name="connsiteX52" fmla="*/ 493486 w 775226"/>
              <a:gd name="connsiteY52" fmla="*/ 116114 h 1219200"/>
              <a:gd name="connsiteX53" fmla="*/ 290286 w 775226"/>
              <a:gd name="connsiteY53" fmla="*/ 101600 h 1219200"/>
              <a:gd name="connsiteX54" fmla="*/ 304800 w 775226"/>
              <a:gd name="connsiteY54" fmla="*/ 58057 h 1219200"/>
              <a:gd name="connsiteX55" fmla="*/ 362857 w 775226"/>
              <a:gd name="connsiteY55" fmla="*/ 43543 h 1219200"/>
              <a:gd name="connsiteX56" fmla="*/ 232229 w 775226"/>
              <a:gd name="connsiteY56" fmla="*/ 29028 h 1219200"/>
              <a:gd name="connsiteX57" fmla="*/ 188686 w 775226"/>
              <a:gd name="connsiteY57" fmla="*/ 14514 h 1219200"/>
              <a:gd name="connsiteX58" fmla="*/ 0 w 775226"/>
              <a:gd name="connsiteY58" fmla="*/ 0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775226" h="1219200">
                <a:moveTo>
                  <a:pt x="29029" y="1161143"/>
                </a:moveTo>
                <a:cubicBezTo>
                  <a:pt x="132663" y="1195687"/>
                  <a:pt x="90655" y="1173198"/>
                  <a:pt x="159657" y="1219200"/>
                </a:cubicBezTo>
                <a:cubicBezTo>
                  <a:pt x="174171" y="1209524"/>
                  <a:pt x="203200" y="1207615"/>
                  <a:pt x="203200" y="1190171"/>
                </a:cubicBezTo>
                <a:cubicBezTo>
                  <a:pt x="203200" y="1172727"/>
                  <a:pt x="176864" y="1164011"/>
                  <a:pt x="159657" y="1161143"/>
                </a:cubicBezTo>
                <a:cubicBezTo>
                  <a:pt x="144566" y="1158628"/>
                  <a:pt x="100815" y="1175657"/>
                  <a:pt x="116114" y="1175657"/>
                </a:cubicBezTo>
                <a:cubicBezTo>
                  <a:pt x="155120" y="1175657"/>
                  <a:pt x="193223" y="1161143"/>
                  <a:pt x="232229" y="1161143"/>
                </a:cubicBezTo>
                <a:cubicBezTo>
                  <a:pt x="256899" y="1161143"/>
                  <a:pt x="134987" y="1175657"/>
                  <a:pt x="159657" y="1175657"/>
                </a:cubicBezTo>
                <a:cubicBezTo>
                  <a:pt x="228618" y="1175657"/>
                  <a:pt x="295856" y="1160029"/>
                  <a:pt x="362857" y="1146628"/>
                </a:cubicBezTo>
                <a:cubicBezTo>
                  <a:pt x="319314" y="1141790"/>
                  <a:pt x="251822" y="1171299"/>
                  <a:pt x="232229" y="1132114"/>
                </a:cubicBezTo>
                <a:cubicBezTo>
                  <a:pt x="214785" y="1097226"/>
                  <a:pt x="309966" y="1124577"/>
                  <a:pt x="348343" y="1117600"/>
                </a:cubicBezTo>
                <a:cubicBezTo>
                  <a:pt x="363396" y="1114863"/>
                  <a:pt x="377372" y="1107924"/>
                  <a:pt x="391886" y="1103086"/>
                </a:cubicBezTo>
                <a:cubicBezTo>
                  <a:pt x="382210" y="1117600"/>
                  <a:pt x="347255" y="1138827"/>
                  <a:pt x="362857" y="1146628"/>
                </a:cubicBezTo>
                <a:cubicBezTo>
                  <a:pt x="416749" y="1173573"/>
                  <a:pt x="455331" y="1122163"/>
                  <a:pt x="493486" y="1103086"/>
                </a:cubicBezTo>
                <a:cubicBezTo>
                  <a:pt x="507170" y="1096244"/>
                  <a:pt x="522515" y="1093409"/>
                  <a:pt x="537029" y="1088571"/>
                </a:cubicBezTo>
                <a:cubicBezTo>
                  <a:pt x="512838" y="1083733"/>
                  <a:pt x="481901" y="1091501"/>
                  <a:pt x="464457" y="1074057"/>
                </a:cubicBezTo>
                <a:cubicBezTo>
                  <a:pt x="453639" y="1063239"/>
                  <a:pt x="466521" y="1039407"/>
                  <a:pt x="478971" y="1030514"/>
                </a:cubicBezTo>
                <a:cubicBezTo>
                  <a:pt x="503870" y="1012729"/>
                  <a:pt x="566057" y="1001486"/>
                  <a:pt x="566057" y="1001486"/>
                </a:cubicBezTo>
                <a:cubicBezTo>
                  <a:pt x="522514" y="996648"/>
                  <a:pt x="466408" y="1017950"/>
                  <a:pt x="435429" y="986971"/>
                </a:cubicBezTo>
                <a:cubicBezTo>
                  <a:pt x="423154" y="974696"/>
                  <a:pt x="591487" y="944148"/>
                  <a:pt x="595086" y="943428"/>
                </a:cubicBezTo>
                <a:cubicBezTo>
                  <a:pt x="609600" y="928914"/>
                  <a:pt x="622427" y="912488"/>
                  <a:pt x="638629" y="899886"/>
                </a:cubicBezTo>
                <a:cubicBezTo>
                  <a:pt x="666168" y="878467"/>
                  <a:pt x="725714" y="841828"/>
                  <a:pt x="725714" y="841828"/>
                </a:cubicBezTo>
                <a:cubicBezTo>
                  <a:pt x="701524" y="836990"/>
                  <a:pt x="677076" y="833297"/>
                  <a:pt x="653143" y="827314"/>
                </a:cubicBezTo>
                <a:cubicBezTo>
                  <a:pt x="638300" y="823603"/>
                  <a:pt x="624602" y="815800"/>
                  <a:pt x="609600" y="812800"/>
                </a:cubicBezTo>
                <a:cubicBezTo>
                  <a:pt x="576054" y="806091"/>
                  <a:pt x="541867" y="803124"/>
                  <a:pt x="508000" y="798286"/>
                </a:cubicBezTo>
                <a:cubicBezTo>
                  <a:pt x="609146" y="764569"/>
                  <a:pt x="509536" y="805320"/>
                  <a:pt x="464457" y="769257"/>
                </a:cubicBezTo>
                <a:cubicBezTo>
                  <a:pt x="452510" y="759700"/>
                  <a:pt x="466521" y="734607"/>
                  <a:pt x="478971" y="725714"/>
                </a:cubicBezTo>
                <a:cubicBezTo>
                  <a:pt x="518703" y="697334"/>
                  <a:pt x="608270" y="692143"/>
                  <a:pt x="653143" y="682171"/>
                </a:cubicBezTo>
                <a:cubicBezTo>
                  <a:pt x="668078" y="678852"/>
                  <a:pt x="682172" y="672495"/>
                  <a:pt x="696686" y="667657"/>
                </a:cubicBezTo>
                <a:cubicBezTo>
                  <a:pt x="662819" y="662819"/>
                  <a:pt x="623551" y="672120"/>
                  <a:pt x="595086" y="653143"/>
                </a:cubicBezTo>
                <a:cubicBezTo>
                  <a:pt x="578488" y="642078"/>
                  <a:pt x="670985" y="647549"/>
                  <a:pt x="653143" y="638628"/>
                </a:cubicBezTo>
                <a:cubicBezTo>
                  <a:pt x="618255" y="621184"/>
                  <a:pt x="575734" y="628952"/>
                  <a:pt x="537029" y="624114"/>
                </a:cubicBezTo>
                <a:cubicBezTo>
                  <a:pt x="551543" y="614438"/>
                  <a:pt x="563863" y="600098"/>
                  <a:pt x="580571" y="595086"/>
                </a:cubicBezTo>
                <a:cubicBezTo>
                  <a:pt x="668943" y="568574"/>
                  <a:pt x="775226" y="592203"/>
                  <a:pt x="566057" y="566057"/>
                </a:cubicBezTo>
                <a:cubicBezTo>
                  <a:pt x="580571" y="556381"/>
                  <a:pt x="593998" y="544829"/>
                  <a:pt x="609600" y="537028"/>
                </a:cubicBezTo>
                <a:cubicBezTo>
                  <a:pt x="665894" y="508881"/>
                  <a:pt x="712348" y="530972"/>
                  <a:pt x="551543" y="508000"/>
                </a:cubicBezTo>
                <a:cubicBezTo>
                  <a:pt x="590248" y="503162"/>
                  <a:pt x="702545" y="510930"/>
                  <a:pt x="667657" y="493486"/>
                </a:cubicBezTo>
                <a:cubicBezTo>
                  <a:pt x="640848" y="480081"/>
                  <a:pt x="395683" y="510520"/>
                  <a:pt x="537029" y="449943"/>
                </a:cubicBezTo>
                <a:cubicBezTo>
                  <a:pt x="555364" y="442085"/>
                  <a:pt x="575734" y="440266"/>
                  <a:pt x="595086" y="435428"/>
                </a:cubicBezTo>
                <a:cubicBezTo>
                  <a:pt x="551543" y="430590"/>
                  <a:pt x="505135" y="437185"/>
                  <a:pt x="464457" y="420914"/>
                </a:cubicBezTo>
                <a:cubicBezTo>
                  <a:pt x="445936" y="413506"/>
                  <a:pt x="505916" y="417465"/>
                  <a:pt x="522514" y="406400"/>
                </a:cubicBezTo>
                <a:cubicBezTo>
                  <a:pt x="653816" y="318866"/>
                  <a:pt x="452738" y="395791"/>
                  <a:pt x="595086" y="348343"/>
                </a:cubicBezTo>
                <a:cubicBezTo>
                  <a:pt x="580572" y="343505"/>
                  <a:pt x="566689" y="335992"/>
                  <a:pt x="551543" y="333828"/>
                </a:cubicBezTo>
                <a:cubicBezTo>
                  <a:pt x="498642" y="326271"/>
                  <a:pt x="437709" y="346807"/>
                  <a:pt x="391886" y="319314"/>
                </a:cubicBezTo>
                <a:cubicBezTo>
                  <a:pt x="365648" y="303572"/>
                  <a:pt x="449943" y="299962"/>
                  <a:pt x="478971" y="290286"/>
                </a:cubicBezTo>
                <a:lnTo>
                  <a:pt x="522514" y="275771"/>
                </a:lnTo>
                <a:cubicBezTo>
                  <a:pt x="512838" y="261257"/>
                  <a:pt x="496354" y="249435"/>
                  <a:pt x="493486" y="232228"/>
                </a:cubicBezTo>
                <a:cubicBezTo>
                  <a:pt x="489480" y="208191"/>
                  <a:pt x="526920" y="160306"/>
                  <a:pt x="537029" y="145143"/>
                </a:cubicBezTo>
                <a:cubicBezTo>
                  <a:pt x="551543" y="149981"/>
                  <a:pt x="580571" y="144358"/>
                  <a:pt x="580571" y="159657"/>
                </a:cubicBezTo>
                <a:cubicBezTo>
                  <a:pt x="580571" y="174956"/>
                  <a:pt x="551739" y="169968"/>
                  <a:pt x="537029" y="174171"/>
                </a:cubicBezTo>
                <a:cubicBezTo>
                  <a:pt x="517848" y="179651"/>
                  <a:pt x="498324" y="183848"/>
                  <a:pt x="478971" y="188686"/>
                </a:cubicBezTo>
                <a:lnTo>
                  <a:pt x="362857" y="174171"/>
                </a:lnTo>
                <a:cubicBezTo>
                  <a:pt x="346829" y="161348"/>
                  <a:pt x="387643" y="138965"/>
                  <a:pt x="406400" y="130628"/>
                </a:cubicBezTo>
                <a:cubicBezTo>
                  <a:pt x="433293" y="118676"/>
                  <a:pt x="464457" y="120952"/>
                  <a:pt x="493486" y="116114"/>
                </a:cubicBezTo>
                <a:cubicBezTo>
                  <a:pt x="425753" y="111276"/>
                  <a:pt x="355189" y="121570"/>
                  <a:pt x="290286" y="101600"/>
                </a:cubicBezTo>
                <a:cubicBezTo>
                  <a:pt x="275663" y="97101"/>
                  <a:pt x="292853" y="67614"/>
                  <a:pt x="304800" y="58057"/>
                </a:cubicBezTo>
                <a:cubicBezTo>
                  <a:pt x="320377" y="45596"/>
                  <a:pt x="343505" y="48381"/>
                  <a:pt x="362857" y="43543"/>
                </a:cubicBezTo>
                <a:cubicBezTo>
                  <a:pt x="319314" y="38705"/>
                  <a:pt x="275444" y="36231"/>
                  <a:pt x="232229" y="29028"/>
                </a:cubicBezTo>
                <a:cubicBezTo>
                  <a:pt x="217138" y="26513"/>
                  <a:pt x="203867" y="16412"/>
                  <a:pt x="188686" y="14514"/>
                </a:cubicBezTo>
                <a:cubicBezTo>
                  <a:pt x="126092" y="6690"/>
                  <a:pt x="0" y="0"/>
                  <a:pt x="0" y="0"/>
                </a:cubicBezTo>
              </a:path>
            </a:pathLst>
          </a:custGeom>
          <a:noFill/>
          <a:ln w="25400" cap="sq" cmpd="sng" algn="ctr">
            <a:solidFill>
              <a:schemeClr val="bg2">
                <a:alpha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 smtClean="0">
              <a:ln>
                <a:noFill/>
              </a:ln>
              <a:solidFill>
                <a:schemeClr val="bg2"/>
              </a:solidFill>
              <a:effectLst/>
              <a:latin typeface="Script" pitchFamily="66"/>
              <a:cs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9" grpId="0" animBg="1"/>
      <p:bldP spid="5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1269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7696200" cy="914400"/>
          </a:xfrm>
        </p:spPr>
        <p:txBody>
          <a:bodyPr/>
          <a:lstStyle/>
          <a:p>
            <a:r>
              <a:rPr lang="en-US" sz="3200" dirty="0" smtClean="0">
                <a:solidFill>
                  <a:srgbClr val="000099"/>
                </a:solidFill>
                <a:latin typeface="Cambria" pitchFamily="18" charset="0"/>
              </a:rPr>
              <a:t>Techniques for Turbulence Simulation</a:t>
            </a:r>
          </a:p>
        </p:txBody>
      </p:sp>
      <p:sp>
        <p:nvSpPr>
          <p:cNvPr id="27" name="Footer Placeholder 26"/>
          <p:cNvSpPr>
            <a:spLocks noGrp="1"/>
          </p:cNvSpPr>
          <p:nvPr>
            <p:ph type="ftr" sz="quarter" idx="11"/>
          </p:nvPr>
        </p:nvSpPr>
        <p:spPr>
          <a:xfrm>
            <a:off x="7162800" y="6400800"/>
            <a:ext cx="1981200" cy="457200"/>
          </a:xfrm>
        </p:spPr>
        <p:txBody>
          <a:bodyPr/>
          <a:lstStyle/>
          <a:p>
            <a:pPr>
              <a:defRPr/>
            </a:pPr>
            <a:r>
              <a:rPr lang="en-US" sz="1600" dirty="0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By E. </a:t>
            </a:r>
            <a:r>
              <a:rPr lang="en-US" sz="1600" dirty="0" err="1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Amani</a:t>
            </a:r>
            <a:endParaRPr lang="en-US" sz="1600" dirty="0">
              <a:solidFill>
                <a:srgbClr val="0066FF"/>
              </a:solidFill>
              <a:latin typeface="Cooper Black" pitchFamily="18" charset="0"/>
              <a:ea typeface="Cambria Math" pitchFamily="18" charset="0"/>
            </a:endParaRPr>
          </a:p>
        </p:txBody>
      </p:sp>
      <p:sp>
        <p:nvSpPr>
          <p:cNvPr id="24" name="Footer Placeholder 26"/>
          <p:cNvSpPr txBox="1">
            <a:spLocks/>
          </p:cNvSpPr>
          <p:nvPr/>
        </p:nvSpPr>
        <p:spPr bwMode="auto">
          <a:xfrm>
            <a:off x="0" y="6400800"/>
            <a:ext cx="220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ooper Black" pitchFamily="18" charset="0"/>
                <a:ea typeface="Cambria Math" pitchFamily="18" charset="0"/>
                <a:cs typeface="Times New Roman" pitchFamily="18" charset="0"/>
              </a:rPr>
              <a:t>I. Introduction</a:t>
            </a: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ooper Black" pitchFamily="18" charset="0"/>
              <a:ea typeface="Cambria Math" pitchFamily="18" charset="0"/>
              <a:cs typeface="Times New Roman" pitchFamily="18" charset="0"/>
            </a:endParaRP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 bwMode="auto">
          <a:xfrm>
            <a:off x="76200" y="1219200"/>
            <a:ext cx="82296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r>
              <a:rPr kumimoji="1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ambria" pitchFamily="18" charset="0"/>
              </a:rPr>
              <a:t>Governing</a:t>
            </a:r>
            <a:r>
              <a:rPr lang="en-US" sz="2800" kern="0" dirty="0" smtClean="0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 Equations of Fluid Mechanics</a:t>
            </a:r>
          </a:p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endParaRPr kumimoji="1" lang="en-US" sz="800" b="1" i="0" u="none" strike="noStrike" kern="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ambria" pitchFamily="18" charset="0"/>
            </a:endParaRPr>
          </a:p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Blip>
                <a:blip r:embed="rId3"/>
              </a:buBlip>
              <a:tabLst/>
              <a:defRPr/>
            </a:pPr>
            <a:r>
              <a:rPr kumimoji="1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Mass</a:t>
            </a:r>
            <a:r>
              <a:rPr kumimoji="1" lang="en-US" sz="2200" b="0" i="0" u="none" strike="noStrike" kern="0" cap="none" spc="0" normalizeH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 conservation</a:t>
            </a:r>
            <a:endParaRPr kumimoji="1" lang="en-US" sz="2200" b="0" i="0" u="none" strike="noStrike" kern="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mbria" pitchFamily="18" charset="0"/>
            </a:endParaRPr>
          </a:p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Blip>
                <a:blip r:embed="rId3"/>
              </a:buBlip>
              <a:tabLst/>
              <a:defRPr/>
            </a:pPr>
            <a:r>
              <a:rPr kumimoji="1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Momentum conservation</a:t>
            </a:r>
          </a:p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Blip>
                <a:blip r:embed="rId3"/>
              </a:buBlip>
              <a:tabLst/>
              <a:defRPr/>
            </a:pPr>
            <a:r>
              <a:rPr kumimoji="1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Species transport</a:t>
            </a:r>
          </a:p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Blip>
                <a:blip r:embed="rId3"/>
              </a:buBlip>
              <a:tabLst/>
              <a:defRPr/>
            </a:pPr>
            <a:r>
              <a:rPr kumimoji="1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Energy conservation</a:t>
            </a:r>
          </a:p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mbria" pitchFamily="18" charset="0"/>
            </a:endParaRPr>
          </a:p>
        </p:txBody>
      </p:sp>
      <p:sp>
        <p:nvSpPr>
          <p:cNvPr id="32" name="AutoShape 22"/>
          <p:cNvSpPr>
            <a:spLocks/>
          </p:cNvSpPr>
          <p:nvPr/>
        </p:nvSpPr>
        <p:spPr bwMode="auto">
          <a:xfrm rot="10800000">
            <a:off x="4191000" y="1968896"/>
            <a:ext cx="137160" cy="685800"/>
          </a:xfrm>
          <a:prstGeom prst="leftBrace">
            <a:avLst>
              <a:gd name="adj1" fmla="val 80556"/>
              <a:gd name="adj2" fmla="val 50000"/>
            </a:avLst>
          </a:prstGeom>
          <a:noFill/>
          <a:ln w="25400" cap="sq">
            <a:solidFill>
              <a:srgbClr val="0000FF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33" name="AutoShape 21"/>
          <p:cNvSpPr>
            <a:spLocks noChangeArrowheads="1"/>
          </p:cNvSpPr>
          <p:nvPr/>
        </p:nvSpPr>
        <p:spPr bwMode="auto">
          <a:xfrm>
            <a:off x="4648198" y="1981200"/>
            <a:ext cx="3505201" cy="609600"/>
          </a:xfrm>
          <a:prstGeom prst="wedgeRoundRectCallout">
            <a:avLst>
              <a:gd name="adj1" fmla="val -55867"/>
              <a:gd name="adj2" fmla="val 3570"/>
              <a:gd name="adj3" fmla="val 16667"/>
            </a:avLst>
          </a:prstGeom>
          <a:noFill/>
          <a:ln w="25400" cap="sq" algn="ctr">
            <a:solidFill>
              <a:srgbClr val="0000FF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 rtl="1"/>
            <a:r>
              <a:rPr lang="en-US" sz="2000" dirty="0" err="1" smtClean="0">
                <a:solidFill>
                  <a:srgbClr val="0000FF"/>
                </a:solidFill>
                <a:latin typeface="Cambria" pitchFamily="18" charset="0"/>
              </a:rPr>
              <a:t>Navier</a:t>
            </a:r>
            <a:r>
              <a:rPr lang="en-US" sz="2000" dirty="0" smtClean="0">
                <a:solidFill>
                  <a:srgbClr val="0000FF"/>
                </a:solidFill>
                <a:latin typeface="Cambria" pitchFamily="18" charset="0"/>
              </a:rPr>
              <a:t>-Stokes equations</a:t>
            </a:r>
            <a:endParaRPr lang="en-US" sz="2000" dirty="0">
              <a:solidFill>
                <a:srgbClr val="0000FF"/>
              </a:solidFill>
              <a:latin typeface="Cambria" pitchFamily="18" charset="0"/>
            </a:endParaRPr>
          </a:p>
        </p:txBody>
      </p:sp>
      <p:sp>
        <p:nvSpPr>
          <p:cNvPr id="35" name="AutoShape 22"/>
          <p:cNvSpPr>
            <a:spLocks/>
          </p:cNvSpPr>
          <p:nvPr/>
        </p:nvSpPr>
        <p:spPr bwMode="auto">
          <a:xfrm rot="10800000">
            <a:off x="4191000" y="2819399"/>
            <a:ext cx="137160" cy="685800"/>
          </a:xfrm>
          <a:prstGeom prst="leftBrace">
            <a:avLst>
              <a:gd name="adj1" fmla="val 80556"/>
              <a:gd name="adj2" fmla="val 50000"/>
            </a:avLst>
          </a:prstGeom>
          <a:noFill/>
          <a:ln w="25400" cap="sq">
            <a:solidFill>
              <a:srgbClr val="0000FF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36" name="AutoShape 21"/>
          <p:cNvSpPr>
            <a:spLocks noChangeArrowheads="1"/>
          </p:cNvSpPr>
          <p:nvPr/>
        </p:nvSpPr>
        <p:spPr bwMode="auto">
          <a:xfrm>
            <a:off x="4648198" y="2831703"/>
            <a:ext cx="3581402" cy="609600"/>
          </a:xfrm>
          <a:prstGeom prst="wedgeRoundRectCallout">
            <a:avLst>
              <a:gd name="adj1" fmla="val -55505"/>
              <a:gd name="adj2" fmla="val 5951"/>
              <a:gd name="adj3" fmla="val 16667"/>
            </a:avLst>
          </a:prstGeom>
          <a:noFill/>
          <a:ln w="25400" cap="sq" algn="ctr">
            <a:solidFill>
              <a:srgbClr val="0000FF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 rtl="1"/>
            <a:r>
              <a:rPr lang="en-US" sz="2000" dirty="0" smtClean="0">
                <a:solidFill>
                  <a:srgbClr val="0000FF"/>
                </a:solidFill>
                <a:latin typeface="Cambria" pitchFamily="18" charset="0"/>
              </a:rPr>
              <a:t>Scalar transport equations</a:t>
            </a:r>
            <a:endParaRPr lang="en-US" sz="2000" dirty="0">
              <a:solidFill>
                <a:srgbClr val="0000FF"/>
              </a:solidFill>
              <a:latin typeface="Cambria" pitchFamily="18" charset="0"/>
            </a:endParaRPr>
          </a:p>
        </p:txBody>
      </p:sp>
      <p:sp>
        <p:nvSpPr>
          <p:cNvPr id="37" name="Rectangle 3"/>
          <p:cNvSpPr txBox="1">
            <a:spLocks noChangeArrowheads="1"/>
          </p:cNvSpPr>
          <p:nvPr/>
        </p:nvSpPr>
        <p:spPr bwMode="auto">
          <a:xfrm>
            <a:off x="76200" y="3810000"/>
            <a:ext cx="86868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952500" marR="0" lvl="1" indent="-4953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r>
              <a:rPr kumimoji="1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ambria" pitchFamily="18" charset="0"/>
              </a:rPr>
              <a:t>Turbulence  information</a:t>
            </a:r>
          </a:p>
          <a:p>
            <a:pPr marL="952500" lvl="1" indent="-495300" algn="just">
              <a:spcBef>
                <a:spcPct val="20000"/>
              </a:spcBef>
              <a:buClr>
                <a:schemeClr val="bg2"/>
              </a:buClr>
              <a:buSzPct val="75000"/>
              <a:buBlip>
                <a:blip r:embed="rId3"/>
              </a:buBlip>
            </a:pPr>
            <a:r>
              <a:rPr lang="en-US" sz="2200" b="0" kern="0" dirty="0" smtClean="0">
                <a:solidFill>
                  <a:srgbClr val="000099"/>
                </a:solidFill>
                <a:latin typeface="Cambria" pitchFamily="18" charset="0"/>
              </a:rPr>
              <a:t>The </a:t>
            </a:r>
            <a:r>
              <a:rPr lang="en-US" sz="2200" b="0" kern="0" dirty="0" smtClean="0">
                <a:solidFill>
                  <a:srgbClr val="FF0000"/>
                </a:solidFill>
                <a:latin typeface="Cambria" pitchFamily="18" charset="0"/>
              </a:rPr>
              <a:t>non-linear</a:t>
            </a:r>
            <a:r>
              <a:rPr lang="en-US" sz="2200" b="0" kern="0" dirty="0" smtClean="0">
                <a:solidFill>
                  <a:srgbClr val="000099"/>
                </a:solidFill>
                <a:latin typeface="Cambria" pitchFamily="18" charset="0"/>
              </a:rPr>
              <a:t> governing PDEs contains </a:t>
            </a:r>
            <a:r>
              <a:rPr lang="en-US" sz="2200" b="0" kern="0" dirty="0" smtClean="0">
                <a:solidFill>
                  <a:srgbClr val="FF0000"/>
                </a:solidFill>
                <a:latin typeface="Cambria" pitchFamily="18" charset="0"/>
              </a:rPr>
              <a:t>the whole </a:t>
            </a:r>
            <a:r>
              <a:rPr lang="en-US" sz="2200" b="0" kern="0" dirty="0" smtClean="0">
                <a:solidFill>
                  <a:srgbClr val="000099"/>
                </a:solidFill>
                <a:latin typeface="Cambria" pitchFamily="18" charset="0"/>
              </a:rPr>
              <a:t>information on turbulent fields.</a:t>
            </a:r>
            <a:endParaRPr kumimoji="1" lang="en-US" sz="2200" b="0" i="0" u="none" strike="noStrike" kern="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mbria" pitchFamily="18" charset="0"/>
            </a:endParaRPr>
          </a:p>
          <a:p>
            <a:pPr marL="952500" marR="0" lvl="1" indent="-4953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Blip>
                <a:blip r:embed="rId3"/>
              </a:buBlip>
              <a:tabLst/>
              <a:defRPr/>
            </a:pPr>
            <a:r>
              <a:rPr kumimoji="1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Accept solutions </a:t>
            </a:r>
            <a:r>
              <a:rPr kumimoji="1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itchFamily="18" charset="0"/>
              </a:rPr>
              <a:t>fluctuating</a:t>
            </a:r>
            <a:r>
              <a:rPr kumimoji="1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 over a wide range of scales</a:t>
            </a:r>
            <a:r>
              <a:rPr kumimoji="1" lang="en-US" sz="2200" b="0" i="0" u="none" strike="noStrike" kern="0" cap="none" spc="0" normalizeH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 when some p</a:t>
            </a:r>
            <a:r>
              <a:rPr kumimoji="1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arameters (e.g. </a:t>
            </a:r>
            <a:r>
              <a:rPr kumimoji="1" lang="en-US" sz="22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Re </a:t>
            </a:r>
            <a:r>
              <a:rPr kumimoji="1" lang="en-US" sz="2200" b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number</a:t>
            </a:r>
            <a:r>
              <a:rPr kumimoji="1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) </a:t>
            </a:r>
            <a:r>
              <a:rPr lang="en-US" sz="2200" b="0" kern="0" dirty="0" smtClean="0">
                <a:solidFill>
                  <a:srgbClr val="000099"/>
                </a:solidFill>
                <a:latin typeface="Cambria" pitchFamily="18" charset="0"/>
              </a:rPr>
              <a:t>exceeds a threshold.  </a:t>
            </a:r>
          </a:p>
          <a:p>
            <a:pPr marL="952500" marR="0" lvl="1" indent="-4953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mbria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5" grpId="0" animBg="1"/>
      <p:bldP spid="3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1269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7696200" cy="914400"/>
          </a:xfrm>
        </p:spPr>
        <p:txBody>
          <a:bodyPr/>
          <a:lstStyle/>
          <a:p>
            <a:r>
              <a:rPr lang="en-US" sz="3200" dirty="0" smtClean="0">
                <a:solidFill>
                  <a:srgbClr val="000099"/>
                </a:solidFill>
                <a:latin typeface="Cambria" pitchFamily="18" charset="0"/>
              </a:rPr>
              <a:t>Techniques for Turbulence Simulation</a:t>
            </a:r>
          </a:p>
        </p:txBody>
      </p:sp>
      <p:sp>
        <p:nvSpPr>
          <p:cNvPr id="27" name="Footer Placeholder 26"/>
          <p:cNvSpPr>
            <a:spLocks noGrp="1"/>
          </p:cNvSpPr>
          <p:nvPr>
            <p:ph type="ftr" sz="quarter" idx="11"/>
          </p:nvPr>
        </p:nvSpPr>
        <p:spPr>
          <a:xfrm>
            <a:off x="7162800" y="6400800"/>
            <a:ext cx="1981200" cy="457200"/>
          </a:xfrm>
        </p:spPr>
        <p:txBody>
          <a:bodyPr/>
          <a:lstStyle/>
          <a:p>
            <a:pPr>
              <a:defRPr/>
            </a:pPr>
            <a:r>
              <a:rPr lang="en-US" sz="1600" dirty="0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By E. </a:t>
            </a:r>
            <a:r>
              <a:rPr lang="en-US" sz="1600" dirty="0" err="1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Amani</a:t>
            </a:r>
            <a:endParaRPr lang="en-US" sz="1600" dirty="0">
              <a:solidFill>
                <a:srgbClr val="0066FF"/>
              </a:solidFill>
              <a:latin typeface="Cooper Black" pitchFamily="18" charset="0"/>
              <a:ea typeface="Cambria Math" pitchFamily="18" charset="0"/>
            </a:endParaRPr>
          </a:p>
        </p:txBody>
      </p:sp>
      <p:sp>
        <p:nvSpPr>
          <p:cNvPr id="24" name="Footer Placeholder 26"/>
          <p:cNvSpPr txBox="1">
            <a:spLocks/>
          </p:cNvSpPr>
          <p:nvPr/>
        </p:nvSpPr>
        <p:spPr bwMode="auto">
          <a:xfrm>
            <a:off x="0" y="6400800"/>
            <a:ext cx="220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ooper Black" pitchFamily="18" charset="0"/>
                <a:ea typeface="Cambria Math" pitchFamily="18" charset="0"/>
                <a:cs typeface="Times New Roman" pitchFamily="18" charset="0"/>
              </a:rPr>
              <a:t>I. Introduction</a:t>
            </a: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ooper Black" pitchFamily="18" charset="0"/>
              <a:ea typeface="Cambria Math" pitchFamily="18" charset="0"/>
              <a:cs typeface="Times New Roman" pitchFamily="18" charset="0"/>
            </a:endParaRP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 bwMode="auto">
          <a:xfrm>
            <a:off x="76200" y="1219200"/>
            <a:ext cx="82296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952500" lvl="1" indent="-495300" algn="l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lang="en-US" sz="2800" kern="0" dirty="0" smtClean="0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DNS (</a:t>
            </a:r>
            <a:r>
              <a:rPr lang="en-US" sz="2800" kern="0" dirty="0" smtClean="0">
                <a:solidFill>
                  <a:srgbClr val="C00000"/>
                </a:solidFill>
                <a:latin typeface="Cambria" pitchFamily="18" charset="0"/>
              </a:rPr>
              <a:t>D</a:t>
            </a:r>
            <a:r>
              <a:rPr lang="en-US" sz="2800" kern="0" dirty="0" smtClean="0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irect </a:t>
            </a:r>
            <a:r>
              <a:rPr lang="en-US" sz="2800" kern="0" dirty="0" smtClean="0">
                <a:solidFill>
                  <a:srgbClr val="C00000"/>
                </a:solidFill>
                <a:latin typeface="Cambria" pitchFamily="18" charset="0"/>
              </a:rPr>
              <a:t>N</a:t>
            </a:r>
            <a:r>
              <a:rPr lang="en-US" sz="2800" kern="0" dirty="0" smtClean="0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umerical </a:t>
            </a:r>
            <a:r>
              <a:rPr lang="en-US" sz="2800" kern="0" dirty="0" smtClean="0">
                <a:solidFill>
                  <a:srgbClr val="C00000"/>
                </a:solidFill>
                <a:latin typeface="Cambria" pitchFamily="18" charset="0"/>
              </a:rPr>
              <a:t>S</a:t>
            </a:r>
            <a:r>
              <a:rPr lang="en-US" sz="2800" kern="0" dirty="0" smtClean="0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imulations</a:t>
            </a:r>
            <a:r>
              <a:rPr kumimoji="1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ambria" pitchFamily="18" charset="0"/>
              </a:rPr>
              <a:t>)</a:t>
            </a:r>
            <a:endParaRPr lang="en-US" sz="2800" kern="0" dirty="0" smtClean="0">
              <a:solidFill>
                <a:schemeClr val="tx2">
                  <a:lumMod val="75000"/>
                </a:schemeClr>
              </a:solidFill>
              <a:latin typeface="Cambria" pitchFamily="18" charset="0"/>
            </a:endParaRPr>
          </a:p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endParaRPr kumimoji="1" lang="en-US" sz="800" b="1" i="0" u="none" strike="noStrike" kern="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ambria" pitchFamily="18" charset="0"/>
            </a:endParaRPr>
          </a:p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Blip>
                <a:blip r:embed="rId3"/>
              </a:buBlip>
              <a:tabLst/>
              <a:defRPr/>
            </a:pPr>
            <a:r>
              <a:rPr kumimoji="1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No modeling</a:t>
            </a:r>
          </a:p>
          <a:p>
            <a:pPr marL="952500" lvl="1" indent="-495300" algn="l">
              <a:spcBef>
                <a:spcPct val="20000"/>
              </a:spcBef>
              <a:buClr>
                <a:schemeClr val="bg2"/>
              </a:buClr>
              <a:buSzPct val="75000"/>
              <a:buBlip>
                <a:blip r:embed="rId3"/>
              </a:buBlip>
              <a:defRPr/>
            </a:pPr>
            <a:r>
              <a:rPr lang="en-US" sz="2200" b="0" kern="0" dirty="0" smtClean="0">
                <a:solidFill>
                  <a:srgbClr val="000099"/>
                </a:solidFill>
                <a:latin typeface="Cambria" pitchFamily="18" charset="0"/>
              </a:rPr>
              <a:t>Resolution of all scales</a:t>
            </a:r>
          </a:p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Blip>
                <a:blip r:embed="rId3"/>
              </a:buBlip>
              <a:tabLst/>
              <a:defRPr/>
            </a:pPr>
            <a:r>
              <a:rPr kumimoji="1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Prohibitive computational costs</a:t>
            </a:r>
          </a:p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Blip>
                <a:blip r:embed="rId3"/>
              </a:buBlip>
              <a:tabLst/>
              <a:defRPr/>
            </a:pPr>
            <a:r>
              <a:rPr lang="en-US" sz="2200" b="0" kern="0" dirty="0" smtClean="0">
                <a:solidFill>
                  <a:srgbClr val="000099"/>
                </a:solidFill>
                <a:latin typeface="Cambria" pitchFamily="18" charset="0"/>
              </a:rPr>
              <a:t>Moderate</a:t>
            </a:r>
            <a:r>
              <a:rPr lang="en-US" sz="2200" b="0" i="1" kern="0" dirty="0" smtClean="0">
                <a:solidFill>
                  <a:srgbClr val="000099"/>
                </a:solidFill>
                <a:latin typeface="Cambria" pitchFamily="18" charset="0"/>
              </a:rPr>
              <a:t> Re</a:t>
            </a:r>
            <a:r>
              <a:rPr lang="en-US" sz="2200" b="0" kern="0" dirty="0" smtClean="0">
                <a:solidFill>
                  <a:srgbClr val="000099"/>
                </a:solidFill>
                <a:latin typeface="Cambria" pitchFamily="18" charset="0"/>
              </a:rPr>
              <a:t> number and simple geometries</a:t>
            </a:r>
            <a:endParaRPr kumimoji="1" lang="en-US" sz="2200" b="0" i="0" u="none" strike="noStrike" kern="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mbria" pitchFamily="18" charset="0"/>
            </a:endParaRPr>
          </a:p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mbria" pitchFamily="18" charset="0"/>
            </a:endParaRPr>
          </a:p>
        </p:txBody>
      </p:sp>
      <p:pic>
        <p:nvPicPr>
          <p:cNvPr id="13" name="Picture 12" descr="Enstrophy_cube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57400" y="3581400"/>
            <a:ext cx="2686929" cy="2743200"/>
          </a:xfrm>
          <a:prstGeom prst="rect">
            <a:avLst/>
          </a:prstGeom>
        </p:spPr>
      </p:pic>
      <p:pic>
        <p:nvPicPr>
          <p:cNvPr id="15" name="Picture 14" descr="A10_02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24400" y="3581400"/>
            <a:ext cx="2743200" cy="27432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1269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7696200" cy="914400"/>
          </a:xfrm>
        </p:spPr>
        <p:txBody>
          <a:bodyPr/>
          <a:lstStyle/>
          <a:p>
            <a:r>
              <a:rPr lang="en-US" sz="3200" dirty="0" smtClean="0">
                <a:solidFill>
                  <a:srgbClr val="000099"/>
                </a:solidFill>
                <a:latin typeface="Cambria" pitchFamily="18" charset="0"/>
              </a:rPr>
              <a:t>Techniques for Turbulence Simulation</a:t>
            </a:r>
          </a:p>
        </p:txBody>
      </p:sp>
      <p:sp>
        <p:nvSpPr>
          <p:cNvPr id="27" name="Footer Placeholder 26"/>
          <p:cNvSpPr>
            <a:spLocks noGrp="1"/>
          </p:cNvSpPr>
          <p:nvPr>
            <p:ph type="ftr" sz="quarter" idx="11"/>
          </p:nvPr>
        </p:nvSpPr>
        <p:spPr>
          <a:xfrm>
            <a:off x="7162800" y="6400800"/>
            <a:ext cx="1981200" cy="457200"/>
          </a:xfrm>
        </p:spPr>
        <p:txBody>
          <a:bodyPr/>
          <a:lstStyle/>
          <a:p>
            <a:pPr>
              <a:defRPr/>
            </a:pPr>
            <a:r>
              <a:rPr lang="en-US" sz="1600" dirty="0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By E. </a:t>
            </a:r>
            <a:r>
              <a:rPr lang="en-US" sz="1600" dirty="0" err="1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Amani</a:t>
            </a:r>
            <a:endParaRPr lang="en-US" sz="1600" dirty="0">
              <a:solidFill>
                <a:srgbClr val="0066FF"/>
              </a:solidFill>
              <a:latin typeface="Cooper Black" pitchFamily="18" charset="0"/>
              <a:ea typeface="Cambria Math" pitchFamily="18" charset="0"/>
            </a:endParaRPr>
          </a:p>
        </p:txBody>
      </p:sp>
      <p:sp>
        <p:nvSpPr>
          <p:cNvPr id="24" name="Footer Placeholder 26"/>
          <p:cNvSpPr txBox="1">
            <a:spLocks/>
          </p:cNvSpPr>
          <p:nvPr/>
        </p:nvSpPr>
        <p:spPr bwMode="auto">
          <a:xfrm>
            <a:off x="0" y="6400800"/>
            <a:ext cx="220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ooper Black" pitchFamily="18" charset="0"/>
                <a:ea typeface="Cambria Math" pitchFamily="18" charset="0"/>
                <a:cs typeface="Times New Roman" pitchFamily="18" charset="0"/>
              </a:rPr>
              <a:t>I. Introduction</a:t>
            </a: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ooper Black" pitchFamily="18" charset="0"/>
              <a:ea typeface="Cambria Math" pitchFamily="18" charset="0"/>
              <a:cs typeface="Times New Roman" pitchFamily="18" charset="0"/>
            </a:endParaRP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 bwMode="auto">
          <a:xfrm>
            <a:off x="76200" y="1066800"/>
            <a:ext cx="82296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r>
              <a:rPr kumimoji="1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ambria" pitchFamily="18" charset="0"/>
              </a:rPr>
              <a:t>Filtering (LES) and Averaging (RANS)</a:t>
            </a:r>
            <a:endParaRPr lang="en-US" sz="2800" kern="0" dirty="0" smtClean="0">
              <a:solidFill>
                <a:schemeClr val="tx2">
                  <a:lumMod val="75000"/>
                </a:schemeClr>
              </a:solidFill>
              <a:latin typeface="Cambria" pitchFamily="18" charset="0"/>
            </a:endParaRPr>
          </a:p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endParaRPr kumimoji="1" lang="en-US" sz="800" b="1" i="0" u="none" strike="noStrike" kern="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ambria" pitchFamily="18" charset="0"/>
            </a:endParaRPr>
          </a:p>
          <a:p>
            <a:pPr marL="952500" lvl="1" indent="-495300" algn="l">
              <a:spcBef>
                <a:spcPct val="20000"/>
              </a:spcBef>
              <a:buClr>
                <a:schemeClr val="bg2"/>
              </a:buClr>
              <a:buSzPct val="75000"/>
              <a:buBlip>
                <a:blip r:embed="rId3"/>
              </a:buBlip>
              <a:defRPr/>
            </a:pPr>
            <a:r>
              <a:rPr kumimoji="1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Removing high frequency fluctuations</a:t>
            </a:r>
          </a:p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mbria" pitchFamily="18" charset="0"/>
            </a:endParaRPr>
          </a:p>
        </p:txBody>
      </p:sp>
      <p:pic>
        <p:nvPicPr>
          <p:cNvPr id="19" name="Picture 18" descr="retProjImg.php.jpe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247900" y="1876425"/>
            <a:ext cx="4991100" cy="38385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438400" y="5864423"/>
            <a:ext cx="13716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b="1" dirty="0" smtClean="0">
                <a:latin typeface="Cambria" pitchFamily="18" charset="0"/>
              </a:rPr>
              <a:t>Experiment</a:t>
            </a:r>
            <a:endParaRPr lang="en-US" sz="2000" b="1" dirty="0">
              <a:latin typeface="Cambria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91000" y="5867400"/>
            <a:ext cx="13716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b="1" dirty="0" smtClean="0">
                <a:latin typeface="Cambria" pitchFamily="18" charset="0"/>
              </a:rPr>
              <a:t>LES</a:t>
            </a:r>
            <a:endParaRPr lang="en-US" sz="2000" b="1" dirty="0">
              <a:latin typeface="Cambria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15000" y="5867400"/>
            <a:ext cx="13716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b="1" dirty="0" smtClean="0">
                <a:latin typeface="Cambria" pitchFamily="18" charset="0"/>
              </a:rPr>
              <a:t>RANS</a:t>
            </a:r>
            <a:endParaRPr lang="en-US" sz="2000" b="1" dirty="0">
              <a:latin typeface="Cambria" pitchFamily="18" charset="0"/>
            </a:endParaRPr>
          </a:p>
        </p:txBody>
      </p:sp>
      <p:sp>
        <p:nvSpPr>
          <p:cNvPr id="23" name="Rectangle 3"/>
          <p:cNvSpPr txBox="1">
            <a:spLocks noChangeArrowheads="1"/>
          </p:cNvSpPr>
          <p:nvPr/>
        </p:nvSpPr>
        <p:spPr bwMode="auto">
          <a:xfrm>
            <a:off x="76200" y="3352800"/>
            <a:ext cx="2133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952500" lvl="1" indent="-49530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kumimoji="1" lang="en-US" sz="2000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Turbulent </a:t>
            </a:r>
          </a:p>
          <a:p>
            <a:pPr marL="952500" lvl="1" indent="-49530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kumimoji="1" lang="en-US" sz="2000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Flame</a:t>
            </a:r>
          </a:p>
          <a:p>
            <a:pPr marL="952500" marR="0" lvl="1" indent="-495300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mbria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2" presetClass="entr" presetSubtype="4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2" presetClass="entr" presetSubtype="4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2" presetClass="entr" presetSubtype="4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3"/>
      <p:bldP spid="21" grpId="3"/>
      <p:bldP spid="22" grpId="3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1269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7696200" cy="914400"/>
          </a:xfrm>
        </p:spPr>
        <p:txBody>
          <a:bodyPr/>
          <a:lstStyle/>
          <a:p>
            <a:r>
              <a:rPr lang="en-US" sz="3200" dirty="0" smtClean="0">
                <a:solidFill>
                  <a:srgbClr val="000099"/>
                </a:solidFill>
                <a:latin typeface="Cambria" pitchFamily="18" charset="0"/>
              </a:rPr>
              <a:t>Techniques for Turbulence Simulation</a:t>
            </a:r>
          </a:p>
        </p:txBody>
      </p:sp>
      <p:sp>
        <p:nvSpPr>
          <p:cNvPr id="27" name="Footer Placeholder 26"/>
          <p:cNvSpPr>
            <a:spLocks noGrp="1"/>
          </p:cNvSpPr>
          <p:nvPr>
            <p:ph type="ftr" sz="quarter" idx="11"/>
          </p:nvPr>
        </p:nvSpPr>
        <p:spPr>
          <a:xfrm>
            <a:off x="7162800" y="6400800"/>
            <a:ext cx="1981200" cy="457200"/>
          </a:xfrm>
        </p:spPr>
        <p:txBody>
          <a:bodyPr/>
          <a:lstStyle/>
          <a:p>
            <a:pPr>
              <a:defRPr/>
            </a:pPr>
            <a:r>
              <a:rPr lang="en-US" sz="1600" dirty="0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By E. </a:t>
            </a:r>
            <a:r>
              <a:rPr lang="en-US" sz="1600" dirty="0" err="1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Amani</a:t>
            </a:r>
            <a:endParaRPr lang="en-US" sz="1600" dirty="0">
              <a:solidFill>
                <a:srgbClr val="0066FF"/>
              </a:solidFill>
              <a:latin typeface="Cooper Black" pitchFamily="18" charset="0"/>
              <a:ea typeface="Cambria Math" pitchFamily="18" charset="0"/>
            </a:endParaRPr>
          </a:p>
        </p:txBody>
      </p:sp>
      <p:sp>
        <p:nvSpPr>
          <p:cNvPr id="24" name="Footer Placeholder 26"/>
          <p:cNvSpPr txBox="1">
            <a:spLocks/>
          </p:cNvSpPr>
          <p:nvPr/>
        </p:nvSpPr>
        <p:spPr bwMode="auto">
          <a:xfrm>
            <a:off x="0" y="6400800"/>
            <a:ext cx="220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ooper Black" pitchFamily="18" charset="0"/>
                <a:ea typeface="Cambria Math" pitchFamily="18" charset="0"/>
                <a:cs typeface="Times New Roman" pitchFamily="18" charset="0"/>
              </a:rPr>
              <a:t>I. Introduction</a:t>
            </a: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ooper Black" pitchFamily="18" charset="0"/>
              <a:ea typeface="Cambria Math" pitchFamily="18" charset="0"/>
              <a:cs typeface="Times New Roman" pitchFamily="18" charset="0"/>
            </a:endParaRP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 bwMode="auto">
          <a:xfrm>
            <a:off x="76200" y="1219200"/>
            <a:ext cx="82296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r>
              <a:rPr kumimoji="1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ambria" pitchFamily="18" charset="0"/>
              </a:rPr>
              <a:t>Filtering and Averaging</a:t>
            </a:r>
            <a:endParaRPr lang="en-US" sz="2800" kern="0" dirty="0" smtClean="0">
              <a:solidFill>
                <a:schemeClr val="tx2">
                  <a:lumMod val="75000"/>
                </a:schemeClr>
              </a:solidFill>
              <a:latin typeface="Cambria" pitchFamily="18" charset="0"/>
            </a:endParaRPr>
          </a:p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endParaRPr kumimoji="1" lang="en-US" sz="800" b="1" i="0" u="none" strike="noStrike" kern="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ambria" pitchFamily="18" charset="0"/>
            </a:endParaRPr>
          </a:p>
          <a:p>
            <a:pPr marL="952500" lvl="1" indent="-495300" algn="l">
              <a:spcBef>
                <a:spcPct val="20000"/>
              </a:spcBef>
              <a:buClr>
                <a:schemeClr val="bg2"/>
              </a:buClr>
              <a:buSzPct val="75000"/>
              <a:buBlip>
                <a:blip r:embed="rId3"/>
              </a:buBlip>
              <a:defRPr/>
            </a:pPr>
            <a:r>
              <a:rPr kumimoji="1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Physical space</a:t>
            </a:r>
          </a:p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mbria" pitchFamily="18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57200" y="2514600"/>
            <a:ext cx="82296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1269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7696200" cy="914400"/>
          </a:xfrm>
        </p:spPr>
        <p:txBody>
          <a:bodyPr/>
          <a:lstStyle/>
          <a:p>
            <a:r>
              <a:rPr lang="en-US" sz="3200" dirty="0" smtClean="0">
                <a:solidFill>
                  <a:srgbClr val="000099"/>
                </a:solidFill>
                <a:latin typeface="Cambria" pitchFamily="18" charset="0"/>
              </a:rPr>
              <a:t>Techniques for Turbulence Simulation</a:t>
            </a:r>
          </a:p>
        </p:txBody>
      </p:sp>
      <p:sp>
        <p:nvSpPr>
          <p:cNvPr id="27" name="Footer Placeholder 26"/>
          <p:cNvSpPr>
            <a:spLocks noGrp="1"/>
          </p:cNvSpPr>
          <p:nvPr>
            <p:ph type="ftr" sz="quarter" idx="11"/>
          </p:nvPr>
        </p:nvSpPr>
        <p:spPr>
          <a:xfrm>
            <a:off x="7162800" y="6400800"/>
            <a:ext cx="1981200" cy="457200"/>
          </a:xfrm>
        </p:spPr>
        <p:txBody>
          <a:bodyPr/>
          <a:lstStyle/>
          <a:p>
            <a:pPr>
              <a:defRPr/>
            </a:pPr>
            <a:r>
              <a:rPr lang="en-US" sz="1600" dirty="0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By E. </a:t>
            </a:r>
            <a:r>
              <a:rPr lang="en-US" sz="1600" dirty="0" err="1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Amani</a:t>
            </a:r>
            <a:endParaRPr lang="en-US" sz="1600" dirty="0">
              <a:solidFill>
                <a:srgbClr val="0066FF"/>
              </a:solidFill>
              <a:latin typeface="Cooper Black" pitchFamily="18" charset="0"/>
              <a:ea typeface="Cambria Math" pitchFamily="18" charset="0"/>
            </a:endParaRPr>
          </a:p>
        </p:txBody>
      </p:sp>
      <p:sp>
        <p:nvSpPr>
          <p:cNvPr id="24" name="Footer Placeholder 26"/>
          <p:cNvSpPr txBox="1">
            <a:spLocks/>
          </p:cNvSpPr>
          <p:nvPr/>
        </p:nvSpPr>
        <p:spPr bwMode="auto">
          <a:xfrm>
            <a:off x="0" y="6400800"/>
            <a:ext cx="220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ooper Black" pitchFamily="18" charset="0"/>
                <a:ea typeface="Cambria Math" pitchFamily="18" charset="0"/>
                <a:cs typeface="Times New Roman" pitchFamily="18" charset="0"/>
              </a:rPr>
              <a:t>I. Introduction</a:t>
            </a: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ooper Black" pitchFamily="18" charset="0"/>
              <a:ea typeface="Cambria Math" pitchFamily="18" charset="0"/>
              <a:cs typeface="Times New Roman" pitchFamily="18" charset="0"/>
            </a:endParaRP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 bwMode="auto">
          <a:xfrm>
            <a:off x="76200" y="1219200"/>
            <a:ext cx="82296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r>
              <a:rPr kumimoji="1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ambria" pitchFamily="18" charset="0"/>
              </a:rPr>
              <a:t>Filtering and Averaging</a:t>
            </a:r>
            <a:endParaRPr lang="en-US" sz="2800" kern="0" dirty="0" smtClean="0">
              <a:solidFill>
                <a:schemeClr val="tx2">
                  <a:lumMod val="75000"/>
                </a:schemeClr>
              </a:solidFill>
              <a:latin typeface="Cambria" pitchFamily="18" charset="0"/>
            </a:endParaRPr>
          </a:p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endParaRPr kumimoji="1" lang="en-US" sz="800" b="1" i="0" u="none" strike="noStrike" kern="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ambria" pitchFamily="18" charset="0"/>
            </a:endParaRPr>
          </a:p>
          <a:p>
            <a:pPr marL="952500" lvl="1" indent="-495300" algn="l">
              <a:spcBef>
                <a:spcPct val="20000"/>
              </a:spcBef>
              <a:buClr>
                <a:schemeClr val="bg2"/>
              </a:buClr>
              <a:buSzPct val="75000"/>
              <a:buBlip>
                <a:blip r:embed="rId3"/>
              </a:buBlip>
              <a:defRPr/>
            </a:pPr>
            <a:r>
              <a:rPr kumimoji="1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Spectral space</a:t>
            </a:r>
          </a:p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mbria" pitchFamily="18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57200" y="2209800"/>
            <a:ext cx="8144759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9" descr="Fourier_transform_time_and_frequency_domains_(small).gif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286000" y="2438400"/>
            <a:ext cx="4572000" cy="36576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1269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7696200" cy="914400"/>
          </a:xfrm>
        </p:spPr>
        <p:txBody>
          <a:bodyPr/>
          <a:lstStyle/>
          <a:p>
            <a:r>
              <a:rPr lang="en-US" sz="3200" dirty="0" smtClean="0">
                <a:solidFill>
                  <a:srgbClr val="000099"/>
                </a:solidFill>
                <a:latin typeface="Cambria" pitchFamily="18" charset="0"/>
              </a:rPr>
              <a:t>Techniques for Turbulence Simulation</a:t>
            </a:r>
          </a:p>
        </p:txBody>
      </p:sp>
      <p:sp>
        <p:nvSpPr>
          <p:cNvPr id="27" name="Footer Placeholder 26"/>
          <p:cNvSpPr>
            <a:spLocks noGrp="1"/>
          </p:cNvSpPr>
          <p:nvPr>
            <p:ph type="ftr" sz="quarter" idx="11"/>
          </p:nvPr>
        </p:nvSpPr>
        <p:spPr>
          <a:xfrm>
            <a:off x="7162800" y="6400800"/>
            <a:ext cx="1981200" cy="457200"/>
          </a:xfrm>
        </p:spPr>
        <p:txBody>
          <a:bodyPr/>
          <a:lstStyle/>
          <a:p>
            <a:pPr>
              <a:defRPr/>
            </a:pPr>
            <a:r>
              <a:rPr lang="en-US" sz="1600" dirty="0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By E. </a:t>
            </a:r>
            <a:r>
              <a:rPr lang="en-US" sz="1600" dirty="0" err="1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Amani</a:t>
            </a:r>
            <a:endParaRPr lang="en-US" sz="1600" dirty="0">
              <a:solidFill>
                <a:srgbClr val="0066FF"/>
              </a:solidFill>
              <a:latin typeface="Cooper Black" pitchFamily="18" charset="0"/>
              <a:ea typeface="Cambria Math" pitchFamily="18" charset="0"/>
            </a:endParaRPr>
          </a:p>
        </p:txBody>
      </p:sp>
      <p:sp>
        <p:nvSpPr>
          <p:cNvPr id="24" name="Footer Placeholder 26"/>
          <p:cNvSpPr txBox="1">
            <a:spLocks/>
          </p:cNvSpPr>
          <p:nvPr/>
        </p:nvSpPr>
        <p:spPr bwMode="auto">
          <a:xfrm>
            <a:off x="0" y="6400800"/>
            <a:ext cx="220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ooper Black" pitchFamily="18" charset="0"/>
                <a:ea typeface="Cambria Math" pitchFamily="18" charset="0"/>
                <a:cs typeface="Times New Roman" pitchFamily="18" charset="0"/>
              </a:rPr>
              <a:t>I. Introduction</a:t>
            </a: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ooper Black" pitchFamily="18" charset="0"/>
              <a:ea typeface="Cambria Math" pitchFamily="18" charset="0"/>
              <a:cs typeface="Times New Roman" pitchFamily="18" charset="0"/>
            </a:endParaRP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 bwMode="auto">
          <a:xfrm>
            <a:off x="76200" y="1219200"/>
            <a:ext cx="82296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r>
              <a:rPr kumimoji="1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ambria" pitchFamily="18" charset="0"/>
              </a:rPr>
              <a:t>Closure problem (origin)</a:t>
            </a:r>
          </a:p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endParaRPr lang="en-US" sz="2800" kern="0" dirty="0" smtClean="0">
              <a:solidFill>
                <a:schemeClr val="tx2">
                  <a:lumMod val="75000"/>
                </a:schemeClr>
              </a:solidFill>
              <a:latin typeface="Cambria" pitchFamily="18" charset="0"/>
            </a:endParaRPr>
          </a:p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endParaRPr kumimoji="1" lang="en-US" sz="800" b="1" i="0" u="none" strike="noStrike" kern="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ambria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57600" y="2667000"/>
            <a:ext cx="4610100" cy="216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3657600" y="2286000"/>
            <a:ext cx="13716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b="1" dirty="0" smtClean="0">
                <a:latin typeface="Cambria" pitchFamily="18" charset="0"/>
              </a:rPr>
              <a:t>Averaging</a:t>
            </a:r>
            <a:endParaRPr lang="en-US" sz="2000" b="1" dirty="0">
              <a:latin typeface="Cambria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283023"/>
            <a:ext cx="13716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b="1" dirty="0" smtClean="0">
                <a:latin typeface="Cambria" pitchFamily="18" charset="0"/>
              </a:rPr>
              <a:t>Filtering</a:t>
            </a:r>
            <a:endParaRPr lang="en-US" sz="2000" b="1" dirty="0">
              <a:latin typeface="Cambria" pitchFamily="18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7288" y="2590800"/>
            <a:ext cx="2977912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1752600" y="5562600"/>
            <a:ext cx="2895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952500" lvl="1" indent="-495300" algn="l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kumimoji="1" lang="en-US" sz="2000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+ non-linearity </a:t>
            </a:r>
          </a:p>
          <a:p>
            <a:pPr marL="952500" marR="0" lvl="1" indent="-495300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mbria" pitchFamily="18" charset="0"/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3657600" y="5562600"/>
            <a:ext cx="3276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952500" lvl="1" indent="-495300" algn="l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kumimoji="1" lang="en-US" sz="2000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= </a:t>
            </a:r>
            <a:r>
              <a:rPr kumimoji="1" lang="en-US" sz="2000" i="0" u="none" strike="noStrike" kern="0" cap="none" spc="0" normalizeH="0" baseline="0" noProof="0" dirty="0" smtClean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ambria" pitchFamily="18" charset="0"/>
              </a:rPr>
              <a:t>closure problem</a:t>
            </a:r>
          </a:p>
          <a:p>
            <a:pPr marL="952500" marR="0" lvl="1" indent="-495300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mbria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905000"/>
            <a:ext cx="8229600" cy="5638800"/>
          </a:xfrm>
        </p:spPr>
        <p:txBody>
          <a:bodyPr/>
          <a:lstStyle/>
          <a:p>
            <a:pPr marL="952500" lvl="1" indent="-495300">
              <a:buClr>
                <a:schemeClr val="bg2"/>
              </a:buClr>
              <a:buFontTx/>
              <a:buBlip>
                <a:blip r:embed="rId3"/>
              </a:buBlip>
            </a:pPr>
            <a:r>
              <a:rPr lang="en-US" sz="2000" b="1" dirty="0">
                <a:solidFill>
                  <a:srgbClr val="0000CC"/>
                </a:solidFill>
                <a:latin typeface="Cambria" pitchFamily="18" charset="0"/>
                <a:cs typeface="Times New Roman" pitchFamily="18" charset="0"/>
              </a:rPr>
              <a:t>Mass:</a:t>
            </a:r>
            <a:r>
              <a:rPr lang="en-US" dirty="0">
                <a:solidFill>
                  <a:srgbClr val="0000CC"/>
                </a:solidFill>
                <a:latin typeface="Cambria" pitchFamily="18" charset="0"/>
                <a:cs typeface="Times New Roman" pitchFamily="18" charset="0"/>
              </a:rPr>
              <a:t> </a:t>
            </a:r>
          </a:p>
          <a:p>
            <a:pPr marL="952500" lvl="1" indent="-495300">
              <a:buClr>
                <a:schemeClr val="bg2"/>
              </a:buClr>
              <a:buFontTx/>
              <a:buNone/>
            </a:pPr>
            <a:endParaRPr lang="en-US" dirty="0">
              <a:solidFill>
                <a:srgbClr val="0000CC"/>
              </a:solidFill>
              <a:latin typeface="Cambria" pitchFamily="18" charset="0"/>
              <a:cs typeface="Times New Roman" pitchFamily="18" charset="0"/>
            </a:endParaRPr>
          </a:p>
          <a:p>
            <a:pPr marL="952500" lvl="1" indent="-495300">
              <a:buClr>
                <a:schemeClr val="bg2"/>
              </a:buClr>
              <a:buFontTx/>
              <a:buBlip>
                <a:blip r:embed="rId3"/>
              </a:buBlip>
            </a:pPr>
            <a:r>
              <a:rPr lang="en-US" sz="2000" b="1" dirty="0">
                <a:solidFill>
                  <a:srgbClr val="0000CC"/>
                </a:solidFill>
                <a:latin typeface="Cambria" pitchFamily="18" charset="0"/>
                <a:cs typeface="Times New Roman" pitchFamily="18" charset="0"/>
              </a:rPr>
              <a:t>Momentum (</a:t>
            </a:r>
            <a:r>
              <a:rPr lang="en-US" sz="2000" b="1" dirty="0" err="1">
                <a:solidFill>
                  <a:srgbClr val="0000CC"/>
                </a:solidFill>
                <a:latin typeface="Cambria" pitchFamily="18" charset="0"/>
                <a:cs typeface="Times New Roman" pitchFamily="18" charset="0"/>
              </a:rPr>
              <a:t>i</a:t>
            </a:r>
            <a:r>
              <a:rPr lang="en-US" sz="2000" b="1" dirty="0">
                <a:solidFill>
                  <a:srgbClr val="0000CC"/>
                </a:solidFill>
                <a:latin typeface="Cambria" pitchFamily="18" charset="0"/>
                <a:cs typeface="Times New Roman" pitchFamily="18" charset="0"/>
              </a:rPr>
              <a:t> =1, 2, 3):</a:t>
            </a:r>
            <a:r>
              <a:rPr lang="en-US" dirty="0">
                <a:solidFill>
                  <a:srgbClr val="0000CC"/>
                </a:solidFill>
                <a:latin typeface="Cambria" pitchFamily="18" charset="0"/>
                <a:cs typeface="Times New Roman" pitchFamily="18" charset="0"/>
              </a:rPr>
              <a:t> </a:t>
            </a:r>
          </a:p>
          <a:p>
            <a:pPr marL="952500" lvl="1" indent="-495300">
              <a:buClr>
                <a:schemeClr val="bg2"/>
              </a:buClr>
              <a:buFontTx/>
              <a:buNone/>
            </a:pPr>
            <a:endParaRPr lang="en-US" dirty="0">
              <a:solidFill>
                <a:srgbClr val="0000CC"/>
              </a:solidFill>
              <a:latin typeface="Cambria" pitchFamily="18" charset="0"/>
              <a:cs typeface="Times New Roman" pitchFamily="18" charset="0"/>
            </a:endParaRPr>
          </a:p>
          <a:p>
            <a:pPr marL="952500" lvl="1" indent="-495300">
              <a:buClr>
                <a:schemeClr val="bg2"/>
              </a:buClr>
              <a:buFontTx/>
              <a:buBlip>
                <a:blip r:embed="rId3"/>
              </a:buBlip>
            </a:pPr>
            <a:r>
              <a:rPr lang="en-US" sz="2000" b="1" dirty="0">
                <a:solidFill>
                  <a:srgbClr val="0000CC"/>
                </a:solidFill>
                <a:latin typeface="Cambria" pitchFamily="18" charset="0"/>
                <a:cs typeface="Times New Roman" pitchFamily="18" charset="0"/>
              </a:rPr>
              <a:t>Species </a:t>
            </a:r>
            <a:r>
              <a:rPr lang="en-US" sz="2000" dirty="0">
                <a:solidFill>
                  <a:srgbClr val="0000CC"/>
                </a:solidFill>
                <a:latin typeface="Cambria" pitchFamily="18" charset="0"/>
                <a:cs typeface="Times New Roman" pitchFamily="18" charset="0"/>
              </a:rPr>
              <a:t>(N species with k=1,..,N):</a:t>
            </a:r>
            <a:r>
              <a:rPr lang="en-US" dirty="0">
                <a:solidFill>
                  <a:srgbClr val="0000CC"/>
                </a:solidFill>
                <a:latin typeface="Cambria" pitchFamily="18" charset="0"/>
                <a:cs typeface="Times New Roman" pitchFamily="18" charset="0"/>
              </a:rPr>
              <a:t> </a:t>
            </a:r>
          </a:p>
          <a:p>
            <a:pPr marL="952500" lvl="1" indent="-495300">
              <a:buClr>
                <a:schemeClr val="bg2"/>
              </a:buClr>
              <a:buFontTx/>
              <a:buNone/>
            </a:pPr>
            <a:endParaRPr lang="en-US" dirty="0">
              <a:solidFill>
                <a:srgbClr val="0000CC"/>
              </a:solidFill>
              <a:latin typeface="Cambria" pitchFamily="18" charset="0"/>
              <a:cs typeface="Times New Roman" pitchFamily="18" charset="0"/>
            </a:endParaRPr>
          </a:p>
          <a:p>
            <a:pPr marL="952500" lvl="1" indent="-495300">
              <a:buClr>
                <a:schemeClr val="bg2"/>
              </a:buClr>
              <a:buFontTx/>
              <a:buBlip>
                <a:blip r:embed="rId3"/>
              </a:buBlip>
            </a:pPr>
            <a:endParaRPr lang="en-US" sz="2000" b="1" dirty="0">
              <a:solidFill>
                <a:srgbClr val="0000CC"/>
              </a:solidFill>
              <a:latin typeface="Cambria" pitchFamily="18" charset="0"/>
              <a:cs typeface="Times New Roman" pitchFamily="18" charset="0"/>
            </a:endParaRPr>
          </a:p>
          <a:p>
            <a:pPr marL="952500" lvl="1" indent="-495300">
              <a:buClr>
                <a:schemeClr val="bg2"/>
              </a:buClr>
              <a:buFontTx/>
              <a:buBlip>
                <a:blip r:embed="rId3"/>
              </a:buBlip>
            </a:pPr>
            <a:r>
              <a:rPr lang="en-US" sz="2000" b="1" dirty="0">
                <a:solidFill>
                  <a:srgbClr val="0000CC"/>
                </a:solidFill>
                <a:latin typeface="Cambria" pitchFamily="18" charset="0"/>
                <a:cs typeface="Times New Roman" pitchFamily="18" charset="0"/>
              </a:rPr>
              <a:t>Total enthalpy </a:t>
            </a:r>
            <a:r>
              <a:rPr lang="en-US" sz="2000" dirty="0">
                <a:solidFill>
                  <a:srgbClr val="0000CC"/>
                </a:solidFill>
                <a:latin typeface="Cambria" pitchFamily="18" charset="0"/>
                <a:cs typeface="Times New Roman" pitchFamily="18" charset="0"/>
              </a:rPr>
              <a:t>(ht = h + </a:t>
            </a:r>
            <a:r>
              <a:rPr lang="en-US" sz="2000" dirty="0" err="1">
                <a:solidFill>
                  <a:srgbClr val="0000CC"/>
                </a:solidFill>
                <a:latin typeface="Cambria" pitchFamily="18" charset="0"/>
                <a:cs typeface="Times New Roman" pitchFamily="18" charset="0"/>
              </a:rPr>
              <a:t>u</a:t>
            </a:r>
            <a:r>
              <a:rPr lang="en-US" sz="2000" baseline="-25000" dirty="0" err="1">
                <a:solidFill>
                  <a:srgbClr val="0000CC"/>
                </a:solidFill>
                <a:latin typeface="Cambria" pitchFamily="18" charset="0"/>
                <a:cs typeface="Times New Roman" pitchFamily="18" charset="0"/>
              </a:rPr>
              <a:t>i</a:t>
            </a:r>
            <a:r>
              <a:rPr lang="en-US" sz="2000" dirty="0" err="1">
                <a:solidFill>
                  <a:srgbClr val="0000CC"/>
                </a:solidFill>
                <a:latin typeface="Cambria" pitchFamily="18" charset="0"/>
                <a:cs typeface="Times New Roman" pitchFamily="18" charset="0"/>
              </a:rPr>
              <a:t>u</a:t>
            </a:r>
            <a:r>
              <a:rPr lang="en-US" sz="2000" baseline="-25000" dirty="0" err="1">
                <a:solidFill>
                  <a:srgbClr val="0000CC"/>
                </a:solidFill>
                <a:latin typeface="Cambria" pitchFamily="18" charset="0"/>
                <a:cs typeface="Times New Roman" pitchFamily="18" charset="0"/>
              </a:rPr>
              <a:t>i</a:t>
            </a:r>
            <a:r>
              <a:rPr lang="en-US" sz="2000" dirty="0">
                <a:solidFill>
                  <a:srgbClr val="0000CC"/>
                </a:solidFill>
                <a:latin typeface="Cambria" pitchFamily="18" charset="0"/>
                <a:cs typeface="Times New Roman" pitchFamily="18" charset="0"/>
              </a:rPr>
              <a:t>/2): </a:t>
            </a:r>
          </a:p>
          <a:p>
            <a:pPr marL="952500" lvl="1" indent="-495300">
              <a:buClr>
                <a:schemeClr val="bg2"/>
              </a:buClr>
              <a:buFontTx/>
              <a:buNone/>
            </a:pPr>
            <a:endParaRPr lang="en-US" sz="2000" dirty="0">
              <a:solidFill>
                <a:srgbClr val="0000CC"/>
              </a:solidFill>
              <a:latin typeface="Cambria" pitchFamily="18" charset="0"/>
              <a:cs typeface="Times New Roman" pitchFamily="18" charset="0"/>
            </a:endParaRPr>
          </a:p>
        </p:txBody>
      </p:sp>
      <p:graphicFrame>
        <p:nvGraphicFramePr>
          <p:cNvPr id="17" name="Object 11"/>
          <p:cNvGraphicFramePr>
            <a:graphicFrameLocks noChangeAspect="1"/>
          </p:cNvGraphicFramePr>
          <p:nvPr/>
        </p:nvGraphicFramePr>
        <p:xfrm>
          <a:off x="2392363" y="2209800"/>
          <a:ext cx="1447800" cy="736600"/>
        </p:xfrm>
        <a:graphic>
          <a:graphicData uri="http://schemas.openxmlformats.org/presentationml/2006/ole">
            <p:oleObj spid="_x0000_s2050" name="Equation" r:id="rId4" imgW="939600" imgH="469800" progId="Equation.DSMT4">
              <p:embed/>
            </p:oleObj>
          </a:graphicData>
        </a:graphic>
      </p:graphicFrame>
      <p:sp>
        <p:nvSpPr>
          <p:cNvPr id="18" name="Oval 37"/>
          <p:cNvSpPr>
            <a:spLocks noChangeArrowheads="1"/>
          </p:cNvSpPr>
          <p:nvPr/>
        </p:nvSpPr>
        <p:spPr bwMode="auto">
          <a:xfrm>
            <a:off x="4221163" y="3251200"/>
            <a:ext cx="685800" cy="381000"/>
          </a:xfrm>
          <a:prstGeom prst="ellipse">
            <a:avLst/>
          </a:prstGeom>
          <a:noFill/>
          <a:ln w="25400" cap="sq" algn="ctr">
            <a:solidFill>
              <a:srgbClr val="FF0000"/>
            </a:solidFill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graphicFrame>
        <p:nvGraphicFramePr>
          <p:cNvPr id="19" name="Object 53"/>
          <p:cNvGraphicFramePr>
            <a:graphicFrameLocks noChangeAspect="1"/>
          </p:cNvGraphicFramePr>
          <p:nvPr/>
        </p:nvGraphicFramePr>
        <p:xfrm>
          <a:off x="2392363" y="3263900"/>
          <a:ext cx="3060700" cy="749300"/>
        </p:xfrm>
        <a:graphic>
          <a:graphicData uri="http://schemas.openxmlformats.org/presentationml/2006/ole">
            <p:oleObj spid="_x0000_s2051" name="Equation" r:id="rId5" imgW="2031840" imgH="495000" progId="Equation.DSMT4">
              <p:embed/>
            </p:oleObj>
          </a:graphicData>
        </a:graphic>
      </p:graphicFrame>
      <p:graphicFrame>
        <p:nvGraphicFramePr>
          <p:cNvPr id="20" name="Object 56"/>
          <p:cNvGraphicFramePr>
            <a:graphicFrameLocks noChangeAspect="1"/>
          </p:cNvGraphicFramePr>
          <p:nvPr/>
        </p:nvGraphicFramePr>
        <p:xfrm>
          <a:off x="2392363" y="4394200"/>
          <a:ext cx="5075237" cy="771525"/>
        </p:xfrm>
        <a:graphic>
          <a:graphicData uri="http://schemas.openxmlformats.org/presentationml/2006/ole">
            <p:oleObj spid="_x0000_s2052" name="Equation" r:id="rId6" imgW="3429000" imgH="520560" progId="Equation.DSMT4">
              <p:embed/>
            </p:oleObj>
          </a:graphicData>
        </a:graphic>
      </p:graphicFrame>
      <p:sp>
        <p:nvSpPr>
          <p:cNvPr id="21" name="Oval 59"/>
          <p:cNvSpPr>
            <a:spLocks noChangeArrowheads="1"/>
          </p:cNvSpPr>
          <p:nvPr/>
        </p:nvSpPr>
        <p:spPr bwMode="auto">
          <a:xfrm>
            <a:off x="4221163" y="4394200"/>
            <a:ext cx="685800" cy="457200"/>
          </a:xfrm>
          <a:prstGeom prst="ellipse">
            <a:avLst/>
          </a:prstGeom>
          <a:noFill/>
          <a:ln w="25400" cap="sq" algn="ctr">
            <a:solidFill>
              <a:srgbClr val="FF0000"/>
            </a:solidFill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22" name="Oval 60"/>
          <p:cNvSpPr>
            <a:spLocks noChangeArrowheads="1"/>
          </p:cNvSpPr>
          <p:nvPr/>
        </p:nvSpPr>
        <p:spPr bwMode="auto">
          <a:xfrm>
            <a:off x="5516563" y="4546600"/>
            <a:ext cx="457200" cy="457200"/>
          </a:xfrm>
          <a:prstGeom prst="ellipse">
            <a:avLst/>
          </a:prstGeom>
          <a:noFill/>
          <a:ln w="25400" cap="sq" algn="ctr">
            <a:solidFill>
              <a:srgbClr val="FF0000"/>
            </a:solidFill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graphicFrame>
        <p:nvGraphicFramePr>
          <p:cNvPr id="23" name="Object 63"/>
          <p:cNvGraphicFramePr>
            <a:graphicFrameLocks noChangeAspect="1"/>
          </p:cNvGraphicFramePr>
          <p:nvPr/>
        </p:nvGraphicFramePr>
        <p:xfrm>
          <a:off x="2468563" y="5461000"/>
          <a:ext cx="4267200" cy="822325"/>
        </p:xfrm>
        <a:graphic>
          <a:graphicData uri="http://schemas.openxmlformats.org/presentationml/2006/ole">
            <p:oleObj spid="_x0000_s2053" name="Equation" r:id="rId7" imgW="2717640" imgH="520560" progId="Equation.DSMT4">
              <p:embed/>
            </p:oleObj>
          </a:graphicData>
        </a:graphic>
      </p:graphicFrame>
      <p:sp>
        <p:nvSpPr>
          <p:cNvPr id="24" name="Oval 66"/>
          <p:cNvSpPr>
            <a:spLocks noChangeArrowheads="1"/>
          </p:cNvSpPr>
          <p:nvPr/>
        </p:nvSpPr>
        <p:spPr bwMode="auto">
          <a:xfrm>
            <a:off x="4297363" y="5461000"/>
            <a:ext cx="685800" cy="457200"/>
          </a:xfrm>
          <a:prstGeom prst="ellipse">
            <a:avLst/>
          </a:prstGeom>
          <a:noFill/>
          <a:ln w="25400" cap="sq" algn="ctr">
            <a:solidFill>
              <a:srgbClr val="FF0000"/>
            </a:solidFill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25" name="Oval 67"/>
          <p:cNvSpPr>
            <a:spLocks noChangeArrowheads="1"/>
          </p:cNvSpPr>
          <p:nvPr/>
        </p:nvSpPr>
        <p:spPr bwMode="auto">
          <a:xfrm>
            <a:off x="6354763" y="5689600"/>
            <a:ext cx="457200" cy="457200"/>
          </a:xfrm>
          <a:prstGeom prst="ellipse">
            <a:avLst/>
          </a:prstGeom>
          <a:noFill/>
          <a:ln w="25400" cap="sq" algn="ctr">
            <a:solidFill>
              <a:srgbClr val="FF0000"/>
            </a:solidFill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cxnSp>
        <p:nvCxnSpPr>
          <p:cNvPr id="26" name="AutoShape 68"/>
          <p:cNvCxnSpPr>
            <a:cxnSpLocks noChangeShapeType="1"/>
            <a:stCxn id="22" idx="5"/>
            <a:endCxn id="25" idx="1"/>
          </p:cNvCxnSpPr>
          <p:nvPr/>
        </p:nvCxnSpPr>
        <p:spPr bwMode="auto">
          <a:xfrm>
            <a:off x="5907088" y="4949825"/>
            <a:ext cx="514350" cy="793750"/>
          </a:xfrm>
          <a:prstGeom prst="straightConnector1">
            <a:avLst/>
          </a:prstGeom>
          <a:noFill/>
          <a:ln w="9525" cap="sq">
            <a:solidFill>
              <a:srgbClr val="FF0000"/>
            </a:solidFill>
            <a:round/>
            <a:headEnd type="triangle" w="med" len="lg"/>
            <a:tailEnd type="triangle" w="med" len="lg"/>
          </a:ln>
        </p:spPr>
      </p:cxnSp>
      <p:sp>
        <p:nvSpPr>
          <p:cNvPr id="28" name="Rectangle 2"/>
          <p:cNvSpPr txBox="1">
            <a:spLocks noChangeArrowheads="1"/>
          </p:cNvSpPr>
          <p:nvPr/>
        </p:nvSpPr>
        <p:spPr bwMode="auto">
          <a:xfrm>
            <a:off x="152400" y="76200"/>
            <a:ext cx="76962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3200" b="1" i="0" u="none" strike="noStrike" kern="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Techniques for Turbulence Simulation</a:t>
            </a:r>
            <a:endParaRPr kumimoji="1" lang="en-US" sz="3200" b="1" i="0" u="none" strike="noStrike" kern="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29" name="Footer Placeholder 26"/>
          <p:cNvSpPr>
            <a:spLocks noGrp="1"/>
          </p:cNvSpPr>
          <p:nvPr>
            <p:ph type="ftr" sz="quarter" idx="11"/>
          </p:nvPr>
        </p:nvSpPr>
        <p:spPr>
          <a:xfrm>
            <a:off x="7162800" y="6400800"/>
            <a:ext cx="1981200" cy="457200"/>
          </a:xfrm>
        </p:spPr>
        <p:txBody>
          <a:bodyPr/>
          <a:lstStyle/>
          <a:p>
            <a:pPr>
              <a:defRPr/>
            </a:pPr>
            <a:r>
              <a:rPr lang="en-US" sz="1600" dirty="0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By E. </a:t>
            </a:r>
            <a:r>
              <a:rPr lang="en-US" sz="1600" dirty="0" err="1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Amani</a:t>
            </a:r>
            <a:endParaRPr lang="en-US" sz="1600" dirty="0">
              <a:solidFill>
                <a:srgbClr val="0066FF"/>
              </a:solidFill>
              <a:latin typeface="Cooper Black" pitchFamily="18" charset="0"/>
              <a:ea typeface="Cambria Math" pitchFamily="18" charset="0"/>
            </a:endParaRPr>
          </a:p>
        </p:txBody>
      </p:sp>
      <p:sp>
        <p:nvSpPr>
          <p:cNvPr id="30" name="Footer Placeholder 26"/>
          <p:cNvSpPr txBox="1">
            <a:spLocks/>
          </p:cNvSpPr>
          <p:nvPr/>
        </p:nvSpPr>
        <p:spPr bwMode="auto">
          <a:xfrm>
            <a:off x="0" y="6400800"/>
            <a:ext cx="220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ooper Black" pitchFamily="18" charset="0"/>
                <a:ea typeface="Cambria Math" pitchFamily="18" charset="0"/>
                <a:cs typeface="Times New Roman" pitchFamily="18" charset="0"/>
              </a:rPr>
              <a:t>I. Introduction</a:t>
            </a: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ooper Black" pitchFamily="18" charset="0"/>
              <a:ea typeface="Cambria Math" pitchFamily="18" charset="0"/>
              <a:cs typeface="Times New Roman" pitchFamily="18" charset="0"/>
            </a:endParaRPr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 bwMode="auto">
          <a:xfrm>
            <a:off x="76200" y="1219200"/>
            <a:ext cx="82296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r>
              <a:rPr kumimoji="1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ambria" pitchFamily="18" charset="0"/>
              </a:rPr>
              <a:t>Closure problem (governing equations)</a:t>
            </a:r>
          </a:p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endParaRPr lang="en-US" sz="2800" kern="0" dirty="0" smtClean="0">
              <a:solidFill>
                <a:schemeClr val="tx2">
                  <a:lumMod val="75000"/>
                </a:schemeClr>
              </a:solidFill>
              <a:latin typeface="Cambria" pitchFamily="18" charset="0"/>
            </a:endParaRPr>
          </a:p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endParaRPr kumimoji="1" lang="en-US" sz="800" b="1" i="0" u="none" strike="noStrike" kern="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ambria" pitchFamily="18" charset="0"/>
            </a:endParaRPr>
          </a:p>
        </p:txBody>
      </p:sp>
      <p:sp>
        <p:nvSpPr>
          <p:cNvPr id="32" name="AutoShape 21"/>
          <p:cNvSpPr>
            <a:spLocks noChangeArrowheads="1"/>
          </p:cNvSpPr>
          <p:nvPr/>
        </p:nvSpPr>
        <p:spPr bwMode="auto">
          <a:xfrm>
            <a:off x="4724400" y="2362200"/>
            <a:ext cx="1524000" cy="762000"/>
          </a:xfrm>
          <a:prstGeom prst="wedgeRoundRectCallout">
            <a:avLst>
              <a:gd name="adj1" fmla="val -39480"/>
              <a:gd name="adj2" fmla="val 68333"/>
              <a:gd name="adj3" fmla="val 16667"/>
            </a:avLst>
          </a:prstGeom>
          <a:noFill/>
          <a:ln w="25400" cap="sq" algn="ctr">
            <a:solidFill>
              <a:srgbClr val="FF0000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 rtl="1"/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</a:rPr>
              <a:t>Reynolds stresses</a:t>
            </a:r>
            <a:endParaRPr lang="en-US" sz="2000" dirty="0">
              <a:solidFill>
                <a:srgbClr val="FF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3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 animBg="1"/>
      <p:bldP spid="22" grpId="0" animBg="1"/>
      <p:bldP spid="24" grpId="0" animBg="1"/>
      <p:bldP spid="25" grpId="0" animBg="1"/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1269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7696200" cy="914400"/>
          </a:xfrm>
        </p:spPr>
        <p:txBody>
          <a:bodyPr/>
          <a:lstStyle/>
          <a:p>
            <a:r>
              <a:rPr lang="en-US" sz="3200" dirty="0" smtClean="0">
                <a:solidFill>
                  <a:srgbClr val="000099"/>
                </a:solidFill>
                <a:latin typeface="Cambria" pitchFamily="18" charset="0"/>
              </a:rPr>
              <a:t>Techniques for Turbulence Simulation</a:t>
            </a:r>
          </a:p>
        </p:txBody>
      </p:sp>
      <p:sp>
        <p:nvSpPr>
          <p:cNvPr id="27" name="Footer Placeholder 26"/>
          <p:cNvSpPr>
            <a:spLocks noGrp="1"/>
          </p:cNvSpPr>
          <p:nvPr>
            <p:ph type="ftr" sz="quarter" idx="11"/>
          </p:nvPr>
        </p:nvSpPr>
        <p:spPr>
          <a:xfrm>
            <a:off x="7162800" y="6400800"/>
            <a:ext cx="1981200" cy="457200"/>
          </a:xfrm>
        </p:spPr>
        <p:txBody>
          <a:bodyPr/>
          <a:lstStyle/>
          <a:p>
            <a:pPr>
              <a:defRPr/>
            </a:pPr>
            <a:r>
              <a:rPr lang="en-US" sz="1600" dirty="0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By E. </a:t>
            </a:r>
            <a:r>
              <a:rPr lang="en-US" sz="1600" dirty="0" err="1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Amani</a:t>
            </a:r>
            <a:endParaRPr lang="en-US" sz="1600" dirty="0">
              <a:solidFill>
                <a:srgbClr val="0066FF"/>
              </a:solidFill>
              <a:latin typeface="Cooper Black" pitchFamily="18" charset="0"/>
              <a:ea typeface="Cambria Math" pitchFamily="18" charset="0"/>
            </a:endParaRPr>
          </a:p>
        </p:txBody>
      </p:sp>
      <p:sp>
        <p:nvSpPr>
          <p:cNvPr id="24" name="Footer Placeholder 26"/>
          <p:cNvSpPr txBox="1">
            <a:spLocks/>
          </p:cNvSpPr>
          <p:nvPr/>
        </p:nvSpPr>
        <p:spPr bwMode="auto">
          <a:xfrm>
            <a:off x="0" y="6400800"/>
            <a:ext cx="220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ooper Black" pitchFamily="18" charset="0"/>
                <a:ea typeface="Cambria Math" pitchFamily="18" charset="0"/>
                <a:cs typeface="Times New Roman" pitchFamily="18" charset="0"/>
              </a:rPr>
              <a:t>I. Introduction</a:t>
            </a: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ooper Black" pitchFamily="18" charset="0"/>
              <a:ea typeface="Cambria Math" pitchFamily="18" charset="0"/>
              <a:cs typeface="Times New Roman" pitchFamily="18" charset="0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-76200" y="1219200"/>
            <a:ext cx="90678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952500" lvl="1" indent="-495300" algn="l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lang="en-US" sz="2800" kern="0" dirty="0" smtClean="0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Closure problem (modeling)</a:t>
            </a:r>
          </a:p>
          <a:p>
            <a:pPr marL="952500" lvl="1" indent="-495300" algn="l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endParaRPr kumimoji="1" lang="en-US" sz="800" b="1" i="0" u="none" strike="noStrike" kern="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ambria" pitchFamily="18" charset="0"/>
            </a:endParaRPr>
          </a:p>
          <a:p>
            <a:pPr marL="952500" lvl="1" indent="-495300" algn="l">
              <a:spcBef>
                <a:spcPct val="20000"/>
              </a:spcBef>
              <a:buClr>
                <a:schemeClr val="bg2"/>
              </a:buClr>
              <a:buSzPct val="75000"/>
              <a:buBlip>
                <a:blip r:embed="rId3"/>
              </a:buBlip>
              <a:defRPr/>
            </a:pPr>
            <a:r>
              <a:rPr kumimoji="1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RANS (</a:t>
            </a:r>
            <a:r>
              <a:rPr kumimoji="1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itchFamily="18" charset="0"/>
              </a:rPr>
              <a:t>R</a:t>
            </a:r>
            <a:r>
              <a:rPr kumimoji="1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eynolds-</a:t>
            </a:r>
            <a:r>
              <a:rPr kumimoji="1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itchFamily="18" charset="0"/>
              </a:rPr>
              <a:t>A</a:t>
            </a:r>
            <a:r>
              <a:rPr kumimoji="1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veraged </a:t>
            </a:r>
            <a:r>
              <a:rPr kumimoji="1" lang="en-US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itchFamily="18" charset="0"/>
              </a:rPr>
              <a:t>N</a:t>
            </a:r>
            <a:r>
              <a:rPr kumimoji="1" lang="en-US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avier</a:t>
            </a:r>
            <a:r>
              <a:rPr kumimoji="1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-</a:t>
            </a:r>
            <a:r>
              <a:rPr kumimoji="1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itchFamily="18" charset="0"/>
              </a:rPr>
              <a:t>S</a:t>
            </a:r>
            <a:r>
              <a:rPr kumimoji="1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tokes equations) </a:t>
            </a:r>
            <a:r>
              <a:rPr lang="en-US" sz="2200" b="0" kern="0" dirty="0" smtClean="0">
                <a:solidFill>
                  <a:schemeClr val="accent6">
                    <a:lumMod val="25000"/>
                  </a:schemeClr>
                </a:solidFill>
                <a:latin typeface="Cambria" pitchFamily="18" charset="0"/>
              </a:rPr>
              <a:t>[stationary]</a:t>
            </a:r>
            <a:endParaRPr kumimoji="1" lang="en-US" sz="2200" b="0" i="0" u="none" strike="noStrike" kern="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mbria" pitchFamily="18" charset="0"/>
            </a:endParaRPr>
          </a:p>
          <a:p>
            <a:pPr marL="1409700" lvl="2" indent="-495300" algn="l">
              <a:spcBef>
                <a:spcPct val="20000"/>
              </a:spcBef>
              <a:buClr>
                <a:schemeClr val="bg2"/>
              </a:buClr>
              <a:buSzPct val="75000"/>
              <a:buBlip>
                <a:blip r:embed="rId3"/>
              </a:buBlip>
              <a:defRPr/>
            </a:pPr>
            <a:r>
              <a:rPr lang="en-US" sz="2000" b="0" kern="0" dirty="0" smtClean="0">
                <a:solidFill>
                  <a:srgbClr val="000099"/>
                </a:solidFill>
                <a:latin typeface="Cambria" pitchFamily="18" charset="0"/>
              </a:rPr>
              <a:t>Eddy-viscosity models (Gradient diffusion assumption)</a:t>
            </a:r>
          </a:p>
          <a:p>
            <a:pPr marL="1866900" lvl="3" indent="-495300" algn="l">
              <a:spcBef>
                <a:spcPct val="20000"/>
              </a:spcBef>
              <a:buClr>
                <a:schemeClr val="bg2"/>
              </a:buClr>
              <a:buSzPct val="75000"/>
              <a:buBlip>
                <a:blip r:embed="rId3"/>
              </a:buBlip>
              <a:defRPr/>
            </a:pPr>
            <a:r>
              <a:rPr lang="en-US" b="0" kern="0" dirty="0" smtClean="0">
                <a:solidFill>
                  <a:srgbClr val="000099"/>
                </a:solidFill>
                <a:latin typeface="Cambria" pitchFamily="18" charset="0"/>
              </a:rPr>
              <a:t>Zero-equation models</a:t>
            </a:r>
          </a:p>
          <a:p>
            <a:pPr marL="1866900" lvl="3" indent="-495300" algn="l">
              <a:spcBef>
                <a:spcPct val="20000"/>
              </a:spcBef>
              <a:buClr>
                <a:schemeClr val="bg2"/>
              </a:buClr>
              <a:buSzPct val="75000"/>
              <a:buBlip>
                <a:blip r:embed="rId3"/>
              </a:buBlip>
              <a:defRPr/>
            </a:pPr>
            <a:r>
              <a:rPr lang="en-US" b="0" kern="0" dirty="0" smtClean="0">
                <a:solidFill>
                  <a:srgbClr val="000099"/>
                </a:solidFill>
                <a:latin typeface="Cambria" pitchFamily="18" charset="0"/>
              </a:rPr>
              <a:t>One-equation models</a:t>
            </a:r>
          </a:p>
          <a:p>
            <a:pPr marL="1866900" lvl="3" indent="-495300" algn="l">
              <a:spcBef>
                <a:spcPct val="20000"/>
              </a:spcBef>
              <a:buClr>
                <a:schemeClr val="bg2"/>
              </a:buClr>
              <a:buSzPct val="75000"/>
              <a:buBlip>
                <a:blip r:embed="rId3"/>
              </a:buBlip>
              <a:defRPr/>
            </a:pPr>
            <a:r>
              <a:rPr lang="en-US" b="0" kern="0" dirty="0" smtClean="0">
                <a:solidFill>
                  <a:srgbClr val="000099"/>
                </a:solidFill>
                <a:latin typeface="Cambria" pitchFamily="18" charset="0"/>
              </a:rPr>
              <a:t>Two-equation models (k-</a:t>
            </a:r>
            <a:r>
              <a:rPr lang="el-GR" b="0" kern="0" dirty="0" smtClean="0">
                <a:solidFill>
                  <a:srgbClr val="000099"/>
                </a:solidFill>
                <a:latin typeface="Cambria" pitchFamily="18" charset="0"/>
              </a:rPr>
              <a:t>ε</a:t>
            </a:r>
            <a:r>
              <a:rPr lang="en-US" b="0" kern="0" dirty="0" smtClean="0">
                <a:solidFill>
                  <a:srgbClr val="000099"/>
                </a:solidFill>
                <a:latin typeface="Cambria" pitchFamily="18" charset="0"/>
              </a:rPr>
              <a:t>, k-</a:t>
            </a:r>
            <a:r>
              <a:rPr lang="el-GR" b="0" kern="0" dirty="0" smtClean="0">
                <a:solidFill>
                  <a:srgbClr val="000099"/>
                </a:solidFill>
                <a:latin typeface="Cambria" pitchFamily="18" charset="0"/>
              </a:rPr>
              <a:t>ω</a:t>
            </a:r>
            <a:r>
              <a:rPr lang="en-US" b="0" kern="0" dirty="0" smtClean="0">
                <a:solidFill>
                  <a:srgbClr val="000099"/>
                </a:solidFill>
                <a:latin typeface="Cambria" pitchFamily="18" charset="0"/>
              </a:rPr>
              <a:t>, …)</a:t>
            </a:r>
          </a:p>
          <a:p>
            <a:pPr marL="1866900" lvl="3" indent="-495300" algn="l">
              <a:spcBef>
                <a:spcPct val="20000"/>
              </a:spcBef>
              <a:buClr>
                <a:schemeClr val="bg2"/>
              </a:buClr>
              <a:buSzPct val="75000"/>
              <a:buBlip>
                <a:blip r:embed="rId3"/>
              </a:buBlip>
              <a:defRPr/>
            </a:pPr>
            <a:r>
              <a:rPr lang="en-US" b="0" kern="0" dirty="0" smtClean="0">
                <a:solidFill>
                  <a:srgbClr val="000099"/>
                </a:solidFill>
                <a:latin typeface="Cambria" pitchFamily="18" charset="0"/>
              </a:rPr>
              <a:t>Three-equation models</a:t>
            </a:r>
          </a:p>
          <a:p>
            <a:pPr marL="1866900" lvl="3" indent="-495300" algn="l">
              <a:spcBef>
                <a:spcPct val="20000"/>
              </a:spcBef>
              <a:buClr>
                <a:schemeClr val="bg2"/>
              </a:buClr>
              <a:buSzPct val="75000"/>
              <a:buBlip>
                <a:blip r:embed="rId3"/>
              </a:buBlip>
              <a:defRPr/>
            </a:pPr>
            <a:r>
              <a:rPr lang="en-US" b="0" kern="0" dirty="0" smtClean="0">
                <a:solidFill>
                  <a:srgbClr val="000099"/>
                </a:solidFill>
                <a:latin typeface="Cambria" pitchFamily="18" charset="0"/>
              </a:rPr>
              <a:t>Four-equation models (v</a:t>
            </a:r>
            <a:r>
              <a:rPr lang="en-US" b="0" kern="0" baseline="30000" dirty="0" smtClean="0">
                <a:solidFill>
                  <a:srgbClr val="000099"/>
                </a:solidFill>
                <a:latin typeface="Cambria" pitchFamily="18" charset="0"/>
              </a:rPr>
              <a:t>2</a:t>
            </a:r>
            <a:r>
              <a:rPr lang="en-US" b="0" kern="0" dirty="0" smtClean="0">
                <a:solidFill>
                  <a:srgbClr val="000099"/>
                </a:solidFill>
                <a:latin typeface="Cambria" pitchFamily="18" charset="0"/>
              </a:rPr>
              <a:t>-f)</a:t>
            </a:r>
          </a:p>
          <a:p>
            <a:pPr marL="1866900" lvl="3" indent="-495300" algn="l">
              <a:spcBef>
                <a:spcPct val="20000"/>
              </a:spcBef>
              <a:buClr>
                <a:schemeClr val="bg2"/>
              </a:buClr>
              <a:buSzPct val="75000"/>
              <a:buBlip>
                <a:blip r:embed="rId3"/>
              </a:buBlip>
              <a:defRPr/>
            </a:pPr>
            <a:r>
              <a:rPr lang="en-US" b="0" kern="0" dirty="0" smtClean="0">
                <a:solidFill>
                  <a:srgbClr val="000099"/>
                </a:solidFill>
                <a:latin typeface="Cambria" pitchFamily="18" charset="0"/>
              </a:rPr>
              <a:t>Non-linear models</a:t>
            </a:r>
          </a:p>
          <a:p>
            <a:pPr marL="1409700" lvl="2" indent="-495300" algn="l">
              <a:spcBef>
                <a:spcPct val="20000"/>
              </a:spcBef>
              <a:buClr>
                <a:schemeClr val="bg2"/>
              </a:buClr>
              <a:buSzPct val="75000"/>
              <a:buBlip>
                <a:blip r:embed="rId3"/>
              </a:buBlip>
              <a:defRPr/>
            </a:pPr>
            <a:r>
              <a:rPr lang="en-US" sz="2000" b="0" kern="0" dirty="0" smtClean="0">
                <a:solidFill>
                  <a:srgbClr val="000099"/>
                </a:solidFill>
                <a:latin typeface="Cambria" pitchFamily="18" charset="0"/>
              </a:rPr>
              <a:t>RSM (</a:t>
            </a:r>
            <a:r>
              <a:rPr lang="en-US" sz="2000" b="0" kern="0" dirty="0" smtClean="0">
                <a:solidFill>
                  <a:srgbClr val="C00000"/>
                </a:solidFill>
                <a:latin typeface="Cambria" pitchFamily="18" charset="0"/>
              </a:rPr>
              <a:t>R</a:t>
            </a:r>
            <a:r>
              <a:rPr lang="en-US" sz="2000" b="0" kern="0" dirty="0" smtClean="0">
                <a:solidFill>
                  <a:srgbClr val="000099"/>
                </a:solidFill>
                <a:latin typeface="Cambria" pitchFamily="18" charset="0"/>
              </a:rPr>
              <a:t>eynolds </a:t>
            </a:r>
            <a:r>
              <a:rPr lang="en-US" sz="2000" b="0" kern="0" dirty="0" smtClean="0">
                <a:solidFill>
                  <a:srgbClr val="C00000"/>
                </a:solidFill>
                <a:latin typeface="Cambria" pitchFamily="18" charset="0"/>
              </a:rPr>
              <a:t>S</a:t>
            </a:r>
            <a:r>
              <a:rPr lang="en-US" sz="2000" b="0" kern="0" dirty="0" smtClean="0">
                <a:solidFill>
                  <a:srgbClr val="000099"/>
                </a:solidFill>
                <a:latin typeface="Cambria" pitchFamily="18" charset="0"/>
              </a:rPr>
              <a:t>tress (transport) </a:t>
            </a:r>
            <a:r>
              <a:rPr lang="en-US" sz="2000" b="0" kern="0" dirty="0" smtClean="0">
                <a:solidFill>
                  <a:srgbClr val="C00000"/>
                </a:solidFill>
                <a:latin typeface="Cambria" pitchFamily="18" charset="0"/>
              </a:rPr>
              <a:t>M</a:t>
            </a:r>
            <a:r>
              <a:rPr lang="en-US" sz="2000" b="0" kern="0" dirty="0" smtClean="0">
                <a:solidFill>
                  <a:srgbClr val="000099"/>
                </a:solidFill>
                <a:latin typeface="Cambria" pitchFamily="18" charset="0"/>
              </a:rPr>
              <a:t>odel)</a:t>
            </a:r>
            <a:endParaRPr kumimoji="1" 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mbria" pitchFamily="18" charset="0"/>
            </a:endParaRPr>
          </a:p>
          <a:p>
            <a:pPr marL="952500" lvl="1" indent="-495300" algn="l">
              <a:spcBef>
                <a:spcPct val="20000"/>
              </a:spcBef>
              <a:buClr>
                <a:schemeClr val="bg2"/>
              </a:buClr>
              <a:buSzPct val="75000"/>
              <a:buBlip>
                <a:blip r:embed="rId3"/>
              </a:buBlip>
              <a:defRPr/>
            </a:pPr>
            <a:r>
              <a:rPr lang="en-US" sz="2200" b="0" kern="0" dirty="0" smtClean="0">
                <a:solidFill>
                  <a:srgbClr val="000099"/>
                </a:solidFill>
                <a:latin typeface="Cambria" pitchFamily="18" charset="0"/>
              </a:rPr>
              <a:t>LES (</a:t>
            </a:r>
            <a:r>
              <a:rPr lang="en-US" sz="2200" b="0" kern="0" dirty="0" smtClean="0">
                <a:solidFill>
                  <a:srgbClr val="C00000"/>
                </a:solidFill>
                <a:latin typeface="Cambria" pitchFamily="18" charset="0"/>
              </a:rPr>
              <a:t>L</a:t>
            </a:r>
            <a:r>
              <a:rPr lang="en-US" sz="2200" b="0" kern="0" dirty="0" smtClean="0">
                <a:solidFill>
                  <a:srgbClr val="000099"/>
                </a:solidFill>
                <a:latin typeface="Cambria" pitchFamily="18" charset="0"/>
              </a:rPr>
              <a:t>arge </a:t>
            </a:r>
            <a:r>
              <a:rPr lang="en-US" sz="2200" b="0" kern="0" dirty="0" smtClean="0">
                <a:solidFill>
                  <a:srgbClr val="C00000"/>
                </a:solidFill>
                <a:latin typeface="Cambria" pitchFamily="18" charset="0"/>
              </a:rPr>
              <a:t>E</a:t>
            </a:r>
            <a:r>
              <a:rPr lang="en-US" sz="2200" b="0" kern="0" dirty="0" smtClean="0">
                <a:solidFill>
                  <a:srgbClr val="000099"/>
                </a:solidFill>
                <a:latin typeface="Cambria" pitchFamily="18" charset="0"/>
              </a:rPr>
              <a:t>ddy </a:t>
            </a:r>
            <a:r>
              <a:rPr lang="en-US" sz="2200" b="0" kern="0" dirty="0" smtClean="0">
                <a:solidFill>
                  <a:srgbClr val="C00000"/>
                </a:solidFill>
                <a:latin typeface="Cambria" pitchFamily="18" charset="0"/>
              </a:rPr>
              <a:t>S</a:t>
            </a:r>
            <a:r>
              <a:rPr lang="en-US" sz="2200" b="0" kern="0" dirty="0" smtClean="0">
                <a:solidFill>
                  <a:srgbClr val="000099"/>
                </a:solidFill>
                <a:latin typeface="Cambria" pitchFamily="18" charset="0"/>
              </a:rPr>
              <a:t>imulation) </a:t>
            </a:r>
            <a:r>
              <a:rPr lang="en-US" sz="2200" b="0" kern="0" dirty="0" smtClean="0">
                <a:solidFill>
                  <a:schemeClr val="accent6">
                    <a:lumMod val="25000"/>
                  </a:schemeClr>
                </a:solidFill>
                <a:latin typeface="Cambria" pitchFamily="18" charset="0"/>
              </a:rPr>
              <a:t>[stationary and </a:t>
            </a:r>
            <a:r>
              <a:rPr lang="en-US" sz="2200" b="0" kern="0" dirty="0" err="1" smtClean="0">
                <a:solidFill>
                  <a:schemeClr val="accent6">
                    <a:lumMod val="25000"/>
                  </a:schemeClr>
                </a:solidFill>
                <a:latin typeface="Cambria" pitchFamily="18" charset="0"/>
              </a:rPr>
              <a:t>instationary</a:t>
            </a:r>
            <a:r>
              <a:rPr lang="en-US" sz="2200" b="0" kern="0" dirty="0" smtClean="0">
                <a:solidFill>
                  <a:schemeClr val="accent6">
                    <a:lumMod val="25000"/>
                  </a:schemeClr>
                </a:solidFill>
                <a:latin typeface="Cambria" pitchFamily="18" charset="0"/>
              </a:rPr>
              <a:t>]</a:t>
            </a:r>
            <a:endParaRPr lang="en-US" sz="2200" b="0" kern="0" dirty="0" smtClean="0">
              <a:solidFill>
                <a:srgbClr val="000099"/>
              </a:solidFill>
              <a:latin typeface="Cambria" pitchFamily="18" charset="0"/>
            </a:endParaRPr>
          </a:p>
          <a:p>
            <a:pPr marL="952500" lvl="1" indent="-495300" algn="l">
              <a:spcBef>
                <a:spcPct val="20000"/>
              </a:spcBef>
              <a:buClr>
                <a:schemeClr val="bg2"/>
              </a:buClr>
              <a:buSzPct val="75000"/>
              <a:buBlip>
                <a:blip r:embed="rId3"/>
              </a:buBlip>
              <a:defRPr/>
            </a:pPr>
            <a:r>
              <a:rPr kumimoji="1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PDF</a:t>
            </a:r>
            <a:r>
              <a:rPr kumimoji="1" lang="en-US" sz="2200" b="0" i="0" u="none" strike="noStrike" kern="0" cap="none" spc="0" normalizeH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 (</a:t>
            </a:r>
            <a:r>
              <a:rPr kumimoji="1" lang="en-US" sz="2200" b="0" i="0" u="none" strike="noStrike" kern="0" cap="none" spc="0" normalizeH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itchFamily="18" charset="0"/>
              </a:rPr>
              <a:t>P</a:t>
            </a:r>
            <a:r>
              <a:rPr kumimoji="1" lang="en-US" sz="2200" b="0" i="0" u="none" strike="noStrike" kern="0" cap="none" spc="0" normalizeH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robability </a:t>
            </a:r>
            <a:r>
              <a:rPr kumimoji="1" lang="en-US" sz="2200" b="0" i="0" u="none" strike="noStrike" kern="0" cap="none" spc="0" normalizeH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itchFamily="18" charset="0"/>
              </a:rPr>
              <a:t>D</a:t>
            </a:r>
            <a:r>
              <a:rPr kumimoji="1" lang="en-US" sz="2200" b="0" i="0" u="none" strike="noStrike" kern="0" cap="none" spc="0" normalizeH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ensity </a:t>
            </a:r>
            <a:r>
              <a:rPr kumimoji="1" lang="en-US" sz="2200" b="0" i="0" u="none" strike="noStrike" kern="0" cap="none" spc="0" normalizeH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itchFamily="18" charset="0"/>
              </a:rPr>
              <a:t>F</a:t>
            </a:r>
            <a:r>
              <a:rPr kumimoji="1" lang="en-US" sz="2200" b="0" i="0" u="none" strike="noStrike" kern="0" cap="none" spc="0" normalizeH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unction) </a:t>
            </a:r>
            <a:r>
              <a:rPr lang="en-US" sz="2200" b="0" kern="0" dirty="0" smtClean="0">
                <a:solidFill>
                  <a:schemeClr val="accent6">
                    <a:lumMod val="25000"/>
                  </a:schemeClr>
                </a:solidFill>
                <a:latin typeface="Cambria" pitchFamily="18" charset="0"/>
              </a:rPr>
              <a:t>[</a:t>
            </a:r>
            <a:r>
              <a:rPr kumimoji="1" lang="en-US" sz="2200" b="0" i="0" u="none" strike="noStrike" kern="0" cap="none" spc="0" normalizeH="0" noProof="0" dirty="0" smtClean="0">
                <a:ln>
                  <a:noFill/>
                </a:ln>
                <a:solidFill>
                  <a:schemeClr val="accent6">
                    <a:lumMod val="25000"/>
                  </a:schemeClr>
                </a:solidFill>
                <a:effectLst/>
                <a:uLnTx/>
                <a:uFillTx/>
                <a:latin typeface="Cambria" pitchFamily="18" charset="0"/>
              </a:rPr>
              <a:t>combustion]</a:t>
            </a:r>
            <a:endParaRPr kumimoji="1" lang="en-US" sz="2200" b="0" i="0" u="none" strike="noStrike" kern="0" cap="none" spc="0" normalizeH="0" baseline="0" noProof="0" dirty="0" smtClean="0">
              <a:ln>
                <a:noFill/>
              </a:ln>
              <a:solidFill>
                <a:schemeClr val="accent6">
                  <a:lumMod val="25000"/>
                </a:schemeClr>
              </a:solidFill>
              <a:effectLst/>
              <a:uLnTx/>
              <a:uFillTx/>
              <a:latin typeface="Cambria" pitchFamily="18" charset="0"/>
            </a:endParaRPr>
          </a:p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mbria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0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39954 " pathEditMode="relative" ptsTypes="AA">
                                      <p:cBhvr>
                                        <p:cTn id="104" dur="1000" fill="hold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39954 " pathEditMode="relative" ptsTypes="AA">
                                      <p:cBhvr>
                                        <p:cTn id="106" dur="1000" fill="hold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1269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7696200" cy="914400"/>
          </a:xfrm>
        </p:spPr>
        <p:txBody>
          <a:bodyPr/>
          <a:lstStyle/>
          <a:p>
            <a:r>
              <a:rPr lang="en-US" sz="3200" dirty="0" smtClean="0">
                <a:solidFill>
                  <a:srgbClr val="000099"/>
                </a:solidFill>
                <a:latin typeface="Cambria" pitchFamily="18" charset="0"/>
              </a:rPr>
              <a:t>Techniques for Turbulence Simulation</a:t>
            </a:r>
          </a:p>
        </p:txBody>
      </p:sp>
      <p:sp>
        <p:nvSpPr>
          <p:cNvPr id="27" name="Footer Placeholder 26"/>
          <p:cNvSpPr>
            <a:spLocks noGrp="1"/>
          </p:cNvSpPr>
          <p:nvPr>
            <p:ph type="ftr" sz="quarter" idx="11"/>
          </p:nvPr>
        </p:nvSpPr>
        <p:spPr>
          <a:xfrm>
            <a:off x="7162800" y="6400800"/>
            <a:ext cx="1981200" cy="457200"/>
          </a:xfrm>
        </p:spPr>
        <p:txBody>
          <a:bodyPr/>
          <a:lstStyle/>
          <a:p>
            <a:pPr>
              <a:defRPr/>
            </a:pPr>
            <a:r>
              <a:rPr lang="en-US" sz="1600" dirty="0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By E. </a:t>
            </a:r>
            <a:r>
              <a:rPr lang="en-US" sz="1600" dirty="0" err="1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Amani</a:t>
            </a:r>
            <a:endParaRPr lang="en-US" sz="1600" dirty="0">
              <a:solidFill>
                <a:srgbClr val="0066FF"/>
              </a:solidFill>
              <a:latin typeface="Cooper Black" pitchFamily="18" charset="0"/>
              <a:ea typeface="Cambria Math" pitchFamily="18" charset="0"/>
            </a:endParaRPr>
          </a:p>
        </p:txBody>
      </p:sp>
      <p:sp>
        <p:nvSpPr>
          <p:cNvPr id="24" name="Footer Placeholder 26"/>
          <p:cNvSpPr txBox="1">
            <a:spLocks/>
          </p:cNvSpPr>
          <p:nvPr/>
        </p:nvSpPr>
        <p:spPr bwMode="auto">
          <a:xfrm>
            <a:off x="0" y="6400800"/>
            <a:ext cx="220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ooper Black" pitchFamily="18" charset="0"/>
                <a:ea typeface="Cambria Math" pitchFamily="18" charset="0"/>
                <a:cs typeface="Times New Roman" pitchFamily="18" charset="0"/>
              </a:rPr>
              <a:t>I. Introduction</a:t>
            </a: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ooper Black" pitchFamily="18" charset="0"/>
              <a:ea typeface="Cambria Math" pitchFamily="18" charset="0"/>
              <a:cs typeface="Times New Roman" pitchFamily="18" charset="0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-76200" y="1219200"/>
            <a:ext cx="82296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952500" lvl="1" indent="-495300" algn="l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lang="en-US" sz="2800" kern="0" dirty="0" smtClean="0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Closure problem (modeling)</a:t>
            </a:r>
          </a:p>
          <a:p>
            <a:pPr marL="952500" lvl="1" indent="-495300" algn="l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endParaRPr kumimoji="1" lang="en-US" sz="800" b="1" i="0" u="none" strike="noStrike" kern="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ambria" pitchFamily="18" charset="0"/>
            </a:endParaRPr>
          </a:p>
          <a:p>
            <a:pPr marL="952500" lvl="1" indent="-495300" algn="l">
              <a:spcBef>
                <a:spcPct val="20000"/>
              </a:spcBef>
              <a:buClr>
                <a:schemeClr val="bg2"/>
              </a:buClr>
              <a:buSzPct val="75000"/>
              <a:buBlip>
                <a:blip r:embed="rId3"/>
              </a:buBlip>
              <a:defRPr/>
            </a:pPr>
            <a:r>
              <a:rPr kumimoji="1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RANS </a:t>
            </a:r>
          </a:p>
          <a:p>
            <a:pPr marL="952500" lvl="1" indent="-495300" algn="l">
              <a:spcBef>
                <a:spcPct val="20000"/>
              </a:spcBef>
              <a:buClr>
                <a:schemeClr val="bg2"/>
              </a:buClr>
              <a:buSzPct val="75000"/>
              <a:buBlip>
                <a:blip r:embed="rId3"/>
              </a:buBlip>
              <a:defRPr/>
            </a:pPr>
            <a:r>
              <a:rPr lang="en-US" sz="2200" b="0" kern="0" dirty="0" smtClean="0">
                <a:solidFill>
                  <a:srgbClr val="000099"/>
                </a:solidFill>
                <a:latin typeface="Cambria" pitchFamily="18" charset="0"/>
              </a:rPr>
              <a:t>LES</a:t>
            </a:r>
          </a:p>
          <a:p>
            <a:pPr marL="952500" lvl="1" indent="-495300" algn="l">
              <a:spcBef>
                <a:spcPct val="20000"/>
              </a:spcBef>
              <a:buClr>
                <a:schemeClr val="bg2"/>
              </a:buClr>
              <a:buSzPct val="75000"/>
              <a:buBlip>
                <a:blip r:embed="rId3"/>
              </a:buBlip>
              <a:defRPr/>
            </a:pPr>
            <a:r>
              <a:rPr kumimoji="1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PDF</a:t>
            </a:r>
          </a:p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mbria" pitchFamily="18" charset="0"/>
            </a:endParaRPr>
          </a:p>
        </p:txBody>
      </p:sp>
      <p:sp>
        <p:nvSpPr>
          <p:cNvPr id="9" name="AutoShape 22"/>
          <p:cNvSpPr>
            <a:spLocks/>
          </p:cNvSpPr>
          <p:nvPr/>
        </p:nvSpPr>
        <p:spPr bwMode="auto">
          <a:xfrm rot="10800000">
            <a:off x="1752600" y="1968896"/>
            <a:ext cx="137160" cy="685800"/>
          </a:xfrm>
          <a:prstGeom prst="leftBrace">
            <a:avLst>
              <a:gd name="adj1" fmla="val 80556"/>
              <a:gd name="adj2" fmla="val 50000"/>
            </a:avLst>
          </a:prstGeom>
          <a:noFill/>
          <a:ln w="25400" cap="sq">
            <a:solidFill>
              <a:srgbClr val="0000FF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0" name="AutoShape 21"/>
          <p:cNvSpPr>
            <a:spLocks noChangeArrowheads="1"/>
          </p:cNvSpPr>
          <p:nvPr/>
        </p:nvSpPr>
        <p:spPr bwMode="auto">
          <a:xfrm>
            <a:off x="2133599" y="1905000"/>
            <a:ext cx="4343400" cy="609600"/>
          </a:xfrm>
          <a:prstGeom prst="wedgeRoundRectCallout">
            <a:avLst>
              <a:gd name="adj1" fmla="val -54865"/>
              <a:gd name="adj2" fmla="val 8332"/>
              <a:gd name="adj3" fmla="val 16667"/>
            </a:avLst>
          </a:prstGeom>
          <a:noFill/>
          <a:ln w="25400" cap="sq" algn="ctr">
            <a:solidFill>
              <a:srgbClr val="0000FF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 rtl="1"/>
            <a:r>
              <a:rPr lang="en-US" sz="2000" dirty="0" smtClean="0">
                <a:solidFill>
                  <a:srgbClr val="0000FF"/>
                </a:solidFill>
                <a:latin typeface="Cambria" pitchFamily="18" charset="0"/>
              </a:rPr>
              <a:t>DES (</a:t>
            </a:r>
            <a:r>
              <a:rPr lang="en-US" sz="2000" dirty="0" smtClean="0">
                <a:solidFill>
                  <a:srgbClr val="C00000"/>
                </a:solidFill>
                <a:latin typeface="Cambria" pitchFamily="18" charset="0"/>
              </a:rPr>
              <a:t>D</a:t>
            </a:r>
            <a:r>
              <a:rPr lang="en-US" sz="2000" dirty="0" smtClean="0">
                <a:solidFill>
                  <a:srgbClr val="0000FF"/>
                </a:solidFill>
                <a:latin typeface="Cambria" pitchFamily="18" charset="0"/>
              </a:rPr>
              <a:t>etached </a:t>
            </a:r>
            <a:r>
              <a:rPr lang="en-US" sz="2000" dirty="0" smtClean="0">
                <a:solidFill>
                  <a:srgbClr val="C00000"/>
                </a:solidFill>
                <a:latin typeface="Cambria" pitchFamily="18" charset="0"/>
              </a:rPr>
              <a:t>E</a:t>
            </a:r>
            <a:r>
              <a:rPr lang="en-US" sz="2000" dirty="0" smtClean="0">
                <a:solidFill>
                  <a:srgbClr val="0000FF"/>
                </a:solidFill>
                <a:latin typeface="Cambria" pitchFamily="18" charset="0"/>
              </a:rPr>
              <a:t>ddy </a:t>
            </a:r>
            <a:r>
              <a:rPr lang="en-US" sz="2000" dirty="0" smtClean="0">
                <a:solidFill>
                  <a:srgbClr val="C00000"/>
                </a:solidFill>
                <a:latin typeface="Cambria" pitchFamily="18" charset="0"/>
              </a:rPr>
              <a:t>S</a:t>
            </a:r>
            <a:r>
              <a:rPr lang="en-US" sz="2000" dirty="0" smtClean="0">
                <a:solidFill>
                  <a:srgbClr val="0000FF"/>
                </a:solidFill>
                <a:latin typeface="Cambria" pitchFamily="18" charset="0"/>
              </a:rPr>
              <a:t>imulation)</a:t>
            </a:r>
            <a:endParaRPr lang="en-US" sz="2000" dirty="0">
              <a:solidFill>
                <a:srgbClr val="0000FF"/>
              </a:solidFill>
              <a:latin typeface="Cambria" pitchFamily="18" charset="0"/>
            </a:endParaRPr>
          </a:p>
        </p:txBody>
      </p:sp>
      <p:sp>
        <p:nvSpPr>
          <p:cNvPr id="11" name="AutoShape 22"/>
          <p:cNvSpPr>
            <a:spLocks/>
          </p:cNvSpPr>
          <p:nvPr/>
        </p:nvSpPr>
        <p:spPr bwMode="auto">
          <a:xfrm rot="10800000">
            <a:off x="1905000" y="2362200"/>
            <a:ext cx="137160" cy="685800"/>
          </a:xfrm>
          <a:prstGeom prst="leftBrace">
            <a:avLst>
              <a:gd name="adj1" fmla="val 80556"/>
              <a:gd name="adj2" fmla="val 50000"/>
            </a:avLst>
          </a:prstGeom>
          <a:noFill/>
          <a:ln w="25400" cap="sq">
            <a:solidFill>
              <a:srgbClr val="0000FF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2" name="AutoShape 21"/>
          <p:cNvSpPr>
            <a:spLocks noChangeArrowheads="1"/>
          </p:cNvSpPr>
          <p:nvPr/>
        </p:nvSpPr>
        <p:spPr bwMode="auto">
          <a:xfrm>
            <a:off x="2362199" y="2667000"/>
            <a:ext cx="4267201" cy="609600"/>
          </a:xfrm>
          <a:prstGeom prst="wedgeRoundRectCallout">
            <a:avLst>
              <a:gd name="adj1" fmla="val -56185"/>
              <a:gd name="adj2" fmla="val -34525"/>
              <a:gd name="adj3" fmla="val 16667"/>
            </a:avLst>
          </a:prstGeom>
          <a:noFill/>
          <a:ln w="25400" cap="sq" algn="ctr">
            <a:solidFill>
              <a:srgbClr val="0000FF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 rtl="1"/>
            <a:r>
              <a:rPr lang="en-US" sz="2000" dirty="0" smtClean="0">
                <a:solidFill>
                  <a:srgbClr val="0000FF"/>
                </a:solidFill>
                <a:latin typeface="Cambria" pitchFamily="18" charset="0"/>
              </a:rPr>
              <a:t>FDF (</a:t>
            </a:r>
            <a:r>
              <a:rPr lang="en-US" sz="2000" dirty="0" smtClean="0">
                <a:solidFill>
                  <a:srgbClr val="C00000"/>
                </a:solidFill>
                <a:latin typeface="Cambria" pitchFamily="18" charset="0"/>
              </a:rPr>
              <a:t>F</a:t>
            </a:r>
            <a:r>
              <a:rPr lang="en-US" sz="2000" dirty="0" smtClean="0">
                <a:solidFill>
                  <a:srgbClr val="0000FF"/>
                </a:solidFill>
                <a:latin typeface="Cambria" pitchFamily="18" charset="0"/>
              </a:rPr>
              <a:t>iltered </a:t>
            </a:r>
            <a:r>
              <a:rPr lang="en-US" sz="2000" dirty="0" smtClean="0">
                <a:solidFill>
                  <a:srgbClr val="C00000"/>
                </a:solidFill>
                <a:latin typeface="Cambria" pitchFamily="18" charset="0"/>
              </a:rPr>
              <a:t>D</a:t>
            </a:r>
            <a:r>
              <a:rPr lang="en-US" sz="2000" dirty="0" smtClean="0">
                <a:solidFill>
                  <a:srgbClr val="0000FF"/>
                </a:solidFill>
                <a:latin typeface="Cambria" pitchFamily="18" charset="0"/>
              </a:rPr>
              <a:t>ensity </a:t>
            </a:r>
            <a:r>
              <a:rPr lang="en-US" sz="2000" dirty="0" smtClean="0">
                <a:solidFill>
                  <a:srgbClr val="C00000"/>
                </a:solidFill>
                <a:latin typeface="Cambria" pitchFamily="18" charset="0"/>
              </a:rPr>
              <a:t>F</a:t>
            </a:r>
            <a:r>
              <a:rPr lang="en-US" sz="2000" dirty="0" smtClean="0">
                <a:solidFill>
                  <a:srgbClr val="0000FF"/>
                </a:solidFill>
                <a:latin typeface="Cambria" pitchFamily="18" charset="0"/>
              </a:rPr>
              <a:t>unction)</a:t>
            </a:r>
            <a:endParaRPr lang="en-US" sz="2000" dirty="0">
              <a:solidFill>
                <a:srgbClr val="0000FF"/>
              </a:solidFill>
              <a:latin typeface="Cambria" pitchFamily="18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1000" y="1133475"/>
            <a:ext cx="7772400" cy="526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7543800" cy="914400"/>
          </a:xfrm>
        </p:spPr>
        <p:txBody>
          <a:bodyPr/>
          <a:lstStyle/>
          <a:p>
            <a:pPr algn="l"/>
            <a:r>
              <a:rPr lang="en-US" sz="3200" dirty="0" smtClean="0">
                <a:solidFill>
                  <a:srgbClr val="000099"/>
                </a:solidFill>
                <a:latin typeface="Cambria" pitchFamily="18" charset="0"/>
                <a:cs typeface="B Nazanin" pitchFamily="2" charset="-78"/>
              </a:rPr>
              <a:t>Current state of LES simulations</a:t>
            </a:r>
          </a:p>
        </p:txBody>
      </p:sp>
      <p:sp>
        <p:nvSpPr>
          <p:cNvPr id="8" name="Footer Placeholder 26"/>
          <p:cNvSpPr>
            <a:spLocks noGrp="1"/>
          </p:cNvSpPr>
          <p:nvPr>
            <p:ph type="ftr" sz="quarter" idx="11"/>
          </p:nvPr>
        </p:nvSpPr>
        <p:spPr>
          <a:xfrm>
            <a:off x="7162800" y="6400800"/>
            <a:ext cx="1981200" cy="457200"/>
          </a:xfrm>
        </p:spPr>
        <p:txBody>
          <a:bodyPr/>
          <a:lstStyle/>
          <a:p>
            <a:pPr>
              <a:defRPr/>
            </a:pPr>
            <a:r>
              <a:rPr lang="en-US" sz="1600" dirty="0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By E. </a:t>
            </a:r>
            <a:r>
              <a:rPr lang="en-US" sz="1600" dirty="0" err="1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Amani</a:t>
            </a:r>
            <a:endParaRPr lang="en-US" sz="1600" dirty="0">
              <a:solidFill>
                <a:srgbClr val="0066FF"/>
              </a:solidFill>
              <a:latin typeface="Cooper Black" pitchFamily="18" charset="0"/>
              <a:ea typeface="Cambria Math" pitchFamily="18" charset="0"/>
            </a:endParaRPr>
          </a:p>
        </p:txBody>
      </p:sp>
      <p:sp>
        <p:nvSpPr>
          <p:cNvPr id="10" name="Footer Placeholder 26"/>
          <p:cNvSpPr txBox="1">
            <a:spLocks/>
          </p:cNvSpPr>
          <p:nvPr/>
        </p:nvSpPr>
        <p:spPr bwMode="auto">
          <a:xfrm>
            <a:off x="0" y="6400800"/>
            <a:ext cx="220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ooper Black" pitchFamily="18" charset="0"/>
                <a:ea typeface="Cambria Math" pitchFamily="18" charset="0"/>
                <a:cs typeface="Times New Roman" pitchFamily="18" charset="0"/>
              </a:rPr>
              <a:t>I. Introduction</a:t>
            </a: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ooper Black" pitchFamily="18" charset="0"/>
              <a:ea typeface="Cambria Math" pitchFamily="18" charset="0"/>
              <a:cs typeface="Times New Roman" pitchFamily="18" charset="0"/>
            </a:endParaRPr>
          </a:p>
        </p:txBody>
      </p:sp>
      <p:pic>
        <p:nvPicPr>
          <p:cNvPr id="16" name="Content Placeholder 15" descr="M2_Mt015_eddies.jpg"/>
          <p:cNvPicPr>
            <a:picLocks noGrp="1" noChangeAspect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533400" y="1752600"/>
            <a:ext cx="2673319" cy="2286000"/>
          </a:xfrm>
        </p:spPr>
      </p:pic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3276600" y="1676400"/>
            <a:ext cx="4800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952500" lvl="1" indent="-495300" algn="l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kumimoji="1" lang="en-US" sz="2000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From homogeneous shear flows</a:t>
            </a:r>
          </a:p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mbria" pitchFamily="18" charset="0"/>
            </a:endParaRPr>
          </a:p>
        </p:txBody>
      </p:sp>
      <p:pic>
        <p:nvPicPr>
          <p:cNvPr id="18" name="Content Placeholder 17" descr="101_4.gif"/>
          <p:cNvPicPr>
            <a:picLocks noGrp="1" noChangeAspect="1"/>
          </p:cNvPicPr>
          <p:nvPr>
            <p:ph sz="half" idx="1"/>
          </p:nvPr>
        </p:nvPicPr>
        <p:blipFill>
          <a:blip r:embed="rId4" cstate="print"/>
          <a:stretch>
            <a:fillRect/>
          </a:stretch>
        </p:blipFill>
        <p:spPr>
          <a:xfrm>
            <a:off x="3276600" y="2667000"/>
            <a:ext cx="2765146" cy="1371600"/>
          </a:xfrm>
        </p:spPr>
      </p:pic>
      <p:pic>
        <p:nvPicPr>
          <p:cNvPr id="20" name="Picture 19" descr="csd323638fig6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133600" y="4038600"/>
            <a:ext cx="5917191" cy="2286000"/>
          </a:xfrm>
          <a:prstGeom prst="rect">
            <a:avLst/>
          </a:prstGeom>
        </p:spPr>
      </p:pic>
      <p:sp>
        <p:nvSpPr>
          <p:cNvPr id="23" name="Right Arrow 22"/>
          <p:cNvSpPr/>
          <p:nvPr/>
        </p:nvSpPr>
        <p:spPr bwMode="auto">
          <a:xfrm>
            <a:off x="3276600" y="1676400"/>
            <a:ext cx="457200" cy="408432"/>
          </a:xfrm>
          <a:prstGeom prst="rightArrow">
            <a:avLst/>
          </a:prstGeom>
          <a:solidFill>
            <a:srgbClr val="C00000"/>
          </a:solidFill>
          <a:ln w="25400" cap="sq" algn="ctr">
            <a:solidFill>
              <a:srgbClr val="C00000"/>
            </a:solidFill>
            <a:miter lim="800000"/>
            <a:headEnd/>
            <a:tailEnd/>
          </a:ln>
          <a:scene3d>
            <a:camera prst="orthographicFront">
              <a:rot lat="0" lon="0" rev="10800000"/>
            </a:camera>
            <a:lightRig rig="threePt" dir="t"/>
          </a:scene3d>
        </p:spPr>
        <p:txBody>
          <a:bodyPr lIns="90000" tIns="46800" rIns="90000" bIns="46800" rtlCol="0" anchor="ctr"/>
          <a:lstStyle/>
          <a:p>
            <a:pPr algn="l"/>
            <a:endParaRPr lang="en-US" sz="2400" dirty="0" smtClean="0">
              <a:solidFill>
                <a:srgbClr val="0000FF"/>
              </a:solidFill>
              <a:latin typeface="Cambria" pitchFamily="18" charset="0"/>
              <a:ea typeface="Cambria Math" pitchFamily="18" charset="0"/>
              <a:cs typeface="B Nazanin" pitchFamily="2" charset="-78"/>
            </a:endParaRPr>
          </a:p>
        </p:txBody>
      </p:sp>
      <p:sp>
        <p:nvSpPr>
          <p:cNvPr id="25" name="Rectangle 3"/>
          <p:cNvSpPr txBox="1">
            <a:spLocks noChangeArrowheads="1"/>
          </p:cNvSpPr>
          <p:nvPr/>
        </p:nvSpPr>
        <p:spPr bwMode="auto">
          <a:xfrm>
            <a:off x="76200" y="4038600"/>
            <a:ext cx="5105400" cy="23622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vert="horz" wrap="square" lIns="92075" tIns="46038" rIns="685800" bIns="46038" numCol="1" anchor="t" anchorCtr="0" compatLnSpc="1">
            <a:prstTxWarp prst="textNoShape">
              <a:avLst/>
            </a:prstTxWarp>
          </a:bodyPr>
          <a:lstStyle/>
          <a:p>
            <a:pPr marL="952500" lvl="1" indent="-495300" algn="r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endParaRPr kumimoji="1" lang="en-US" sz="2000" i="0" u="none" strike="noStrike" kern="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mbria" pitchFamily="18" charset="0"/>
            </a:endParaRPr>
          </a:p>
          <a:p>
            <a:pPr marL="952500" lvl="1" indent="-495300" algn="r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endParaRPr kumimoji="1" lang="en-US" sz="2000" i="0" u="none" strike="noStrike" kern="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mbria" pitchFamily="18" charset="0"/>
            </a:endParaRPr>
          </a:p>
          <a:p>
            <a:pPr marL="952500" lvl="1" indent="-495300" algn="r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endParaRPr lang="en-US" sz="2000" kern="0" dirty="0" smtClean="0">
              <a:solidFill>
                <a:srgbClr val="000099"/>
              </a:solidFill>
              <a:latin typeface="Cambria" pitchFamily="18" charset="0"/>
            </a:endParaRPr>
          </a:p>
          <a:p>
            <a:pPr marL="952500" lvl="1" indent="-495300" algn="r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endParaRPr lang="en-US" sz="2000" kern="0" dirty="0" smtClean="0">
              <a:solidFill>
                <a:srgbClr val="000099"/>
              </a:solidFill>
              <a:latin typeface="Cambria" pitchFamily="18" charset="0"/>
            </a:endParaRPr>
          </a:p>
          <a:p>
            <a:pPr marL="952500" lvl="1" indent="-495300" algn="r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endParaRPr lang="en-US" sz="1000" kern="0" dirty="0" smtClean="0">
              <a:solidFill>
                <a:srgbClr val="000099"/>
              </a:solidFill>
              <a:latin typeface="Cambria" pitchFamily="18" charset="0"/>
            </a:endParaRPr>
          </a:p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mbria" pitchFamily="18" charset="0"/>
            </a:endParaRPr>
          </a:p>
        </p:txBody>
      </p:sp>
      <p:sp>
        <p:nvSpPr>
          <p:cNvPr id="26" name="Right Arrow 25"/>
          <p:cNvSpPr/>
          <p:nvPr/>
        </p:nvSpPr>
        <p:spPr bwMode="auto">
          <a:xfrm>
            <a:off x="4648200" y="5867400"/>
            <a:ext cx="457200" cy="408432"/>
          </a:xfrm>
          <a:prstGeom prst="rightArrow">
            <a:avLst/>
          </a:prstGeom>
          <a:solidFill>
            <a:srgbClr val="C00000"/>
          </a:solidFill>
          <a:ln w="25400" cap="sq" algn="ctr">
            <a:solidFill>
              <a:srgbClr val="C00000"/>
            </a:solidFill>
            <a:miter lim="800000"/>
            <a:headEnd/>
            <a:tailEnd/>
          </a:ln>
        </p:spPr>
        <p:txBody>
          <a:bodyPr lIns="90000" tIns="46800" rIns="90000" bIns="46800" rtlCol="0" anchor="ctr"/>
          <a:lstStyle/>
          <a:p>
            <a:pPr algn="l"/>
            <a:endParaRPr lang="en-US" sz="2400" dirty="0" smtClean="0">
              <a:solidFill>
                <a:srgbClr val="0000FF"/>
              </a:solidFill>
              <a:latin typeface="Cambria" pitchFamily="18" charset="0"/>
              <a:ea typeface="Cambria Math" pitchFamily="18" charset="0"/>
              <a:cs typeface="B Nazanin" pitchFamily="2" charset="-78"/>
            </a:endParaRPr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152400" y="5715000"/>
            <a:ext cx="4343400" cy="6858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vert="horz" wrap="square" lIns="92075" tIns="46038" rIns="0" bIns="46038" numCol="1" anchor="t" anchorCtr="0" compatLnSpc="1">
            <a:prstTxWarp prst="textNoShape">
              <a:avLst/>
            </a:prstTxWarp>
          </a:bodyPr>
          <a:lstStyle/>
          <a:p>
            <a:pPr marL="952500" lvl="1" indent="-495300" algn="r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kumimoji="1" lang="en-US" sz="2000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To multi-phase</a:t>
            </a:r>
            <a:r>
              <a:rPr kumimoji="1" lang="en-US" sz="2000" i="0" u="none" strike="noStrike" kern="0" cap="none" spc="0" normalizeH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 flow combustion in complex geometries</a:t>
            </a:r>
            <a:endParaRPr kumimoji="1" lang="en-US" sz="2000" i="0" u="none" strike="noStrike" kern="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mbria" pitchFamily="18" charset="0"/>
            </a:endParaRPr>
          </a:p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mbria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1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11269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25400" cap="sq" algn="ctr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7696200" cy="914400"/>
          </a:xfrm>
        </p:spPr>
        <p:txBody>
          <a:bodyPr/>
          <a:lstStyle/>
          <a:p>
            <a:r>
              <a:rPr lang="en-US" sz="3200" dirty="0" smtClean="0">
                <a:solidFill>
                  <a:srgbClr val="000099"/>
                </a:solidFill>
                <a:latin typeface="Cambria" pitchFamily="18" charset="0"/>
              </a:rPr>
              <a:t>Course Outline</a:t>
            </a:r>
          </a:p>
        </p:txBody>
      </p:sp>
      <p:sp>
        <p:nvSpPr>
          <p:cNvPr id="27" name="Footer Placeholder 26"/>
          <p:cNvSpPr>
            <a:spLocks noGrp="1"/>
          </p:cNvSpPr>
          <p:nvPr>
            <p:ph type="ftr" sz="quarter" idx="11"/>
          </p:nvPr>
        </p:nvSpPr>
        <p:spPr>
          <a:xfrm>
            <a:off x="7162800" y="6400800"/>
            <a:ext cx="1981200" cy="457200"/>
          </a:xfrm>
        </p:spPr>
        <p:txBody>
          <a:bodyPr/>
          <a:lstStyle/>
          <a:p>
            <a:pPr>
              <a:defRPr/>
            </a:pPr>
            <a:r>
              <a:rPr lang="en-US" sz="1600" dirty="0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By E. </a:t>
            </a:r>
            <a:r>
              <a:rPr lang="en-US" sz="1600" dirty="0" err="1" smtClean="0">
                <a:solidFill>
                  <a:srgbClr val="0066FF"/>
                </a:solidFill>
                <a:latin typeface="Cooper Black" pitchFamily="18" charset="0"/>
                <a:ea typeface="Cambria Math" pitchFamily="18" charset="0"/>
              </a:rPr>
              <a:t>Amani</a:t>
            </a:r>
            <a:endParaRPr lang="en-US" sz="1600" dirty="0">
              <a:solidFill>
                <a:srgbClr val="0066FF"/>
              </a:solidFill>
              <a:latin typeface="Cooper Black" pitchFamily="18" charset="0"/>
              <a:ea typeface="Cambria Math" pitchFamily="18" charset="0"/>
            </a:endParaRPr>
          </a:p>
        </p:txBody>
      </p:sp>
      <p:sp>
        <p:nvSpPr>
          <p:cNvPr id="24" name="Footer Placeholder 26"/>
          <p:cNvSpPr txBox="1">
            <a:spLocks/>
          </p:cNvSpPr>
          <p:nvPr/>
        </p:nvSpPr>
        <p:spPr bwMode="auto">
          <a:xfrm>
            <a:off x="0" y="6400800"/>
            <a:ext cx="220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ooper Black" pitchFamily="18" charset="0"/>
                <a:ea typeface="Cambria Math" pitchFamily="18" charset="0"/>
                <a:cs typeface="Times New Roman" pitchFamily="18" charset="0"/>
              </a:rPr>
              <a:t>I. Introduction</a:t>
            </a: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ooper Black" pitchFamily="18" charset="0"/>
              <a:ea typeface="Cambria Math" pitchFamily="18" charset="0"/>
              <a:cs typeface="Times New Roman" pitchFamily="18" charset="0"/>
            </a:endParaRPr>
          </a:p>
        </p:txBody>
      </p:sp>
      <p:sp>
        <p:nvSpPr>
          <p:cNvPr id="28" name="Rectangle 3"/>
          <p:cNvSpPr txBox="1">
            <a:spLocks noChangeArrowheads="1"/>
          </p:cNvSpPr>
          <p:nvPr/>
        </p:nvSpPr>
        <p:spPr bwMode="auto">
          <a:xfrm>
            <a:off x="-76200" y="1219200"/>
            <a:ext cx="82296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952500" lvl="1" indent="-495300" algn="l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lang="en-US" sz="2800" kern="0" dirty="0" smtClean="0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Turbulence </a:t>
            </a:r>
            <a:endParaRPr kumimoji="1" lang="en-US" sz="800" b="1" i="0" u="none" strike="noStrike" kern="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ambria" pitchFamily="18" charset="0"/>
            </a:endParaRPr>
          </a:p>
          <a:p>
            <a:pPr marL="952500" lvl="1" indent="-495300" algn="l">
              <a:spcBef>
                <a:spcPct val="20000"/>
              </a:spcBef>
              <a:buClr>
                <a:schemeClr val="bg2"/>
              </a:buClr>
              <a:buSzPct val="75000"/>
              <a:buBlip>
                <a:blip r:embed="rId3"/>
              </a:buBlip>
              <a:defRPr/>
            </a:pPr>
            <a:r>
              <a:rPr kumimoji="1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Governing Equations (Chap</a:t>
            </a:r>
            <a:r>
              <a:rPr kumimoji="1" lang="en-US" sz="2200" b="0" i="0" u="none" strike="noStrike" kern="0" cap="none" spc="0" normalizeH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 II)</a:t>
            </a:r>
            <a:endParaRPr kumimoji="1" lang="en-US" sz="2200" b="0" i="0" u="none" strike="noStrike" kern="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mbria" pitchFamily="18" charset="0"/>
            </a:endParaRPr>
          </a:p>
          <a:p>
            <a:pPr marL="952500" lvl="1" indent="-495300" algn="l">
              <a:spcBef>
                <a:spcPct val="20000"/>
              </a:spcBef>
              <a:buClr>
                <a:schemeClr val="bg2"/>
              </a:buClr>
              <a:buSzPct val="75000"/>
              <a:buBlip>
                <a:blip r:embed="rId3"/>
              </a:buBlip>
              <a:defRPr/>
            </a:pPr>
            <a:r>
              <a:rPr lang="en-US" sz="2200" b="0" kern="0" dirty="0" smtClean="0">
                <a:solidFill>
                  <a:srgbClr val="000099"/>
                </a:solidFill>
                <a:latin typeface="Cambria" pitchFamily="18" charset="0"/>
              </a:rPr>
              <a:t>Mathematical tools for studying turbulence</a:t>
            </a:r>
          </a:p>
          <a:p>
            <a:pPr marL="1409700" lvl="2" indent="-495300" algn="l">
              <a:spcBef>
                <a:spcPct val="20000"/>
              </a:spcBef>
              <a:buClr>
                <a:schemeClr val="bg2"/>
              </a:buClr>
              <a:buSzPct val="75000"/>
              <a:buBlip>
                <a:blip r:embed="rId3"/>
              </a:buBlip>
              <a:defRPr/>
            </a:pPr>
            <a:r>
              <a:rPr kumimoji="1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Statistical (Chap III) versus deterministic</a:t>
            </a:r>
          </a:p>
          <a:p>
            <a:pPr marL="1409700" lvl="2" indent="-495300" algn="l">
              <a:spcBef>
                <a:spcPct val="20000"/>
              </a:spcBef>
              <a:buClr>
                <a:schemeClr val="bg2"/>
              </a:buClr>
              <a:buSzPct val="75000"/>
              <a:buBlip>
                <a:blip r:embed="rId3"/>
              </a:buBlip>
              <a:defRPr/>
            </a:pPr>
            <a:r>
              <a:rPr lang="en-US" sz="2000" b="0" kern="0" dirty="0" smtClean="0">
                <a:solidFill>
                  <a:srgbClr val="000099"/>
                </a:solidFill>
                <a:latin typeface="Cambria" pitchFamily="18" charset="0"/>
              </a:rPr>
              <a:t>Physical space (Chap V) versus spectral space (Chap VI)</a:t>
            </a:r>
          </a:p>
          <a:p>
            <a:pPr marL="952500" lvl="1" indent="-495300" algn="l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lang="en-US" sz="2800" kern="0" dirty="0" smtClean="0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Turbulence Simulation</a:t>
            </a:r>
            <a:endParaRPr lang="en-US" sz="800" kern="0" dirty="0" smtClean="0">
              <a:solidFill>
                <a:schemeClr val="tx2">
                  <a:lumMod val="75000"/>
                </a:schemeClr>
              </a:solidFill>
              <a:latin typeface="Cambria" pitchFamily="18" charset="0"/>
            </a:endParaRPr>
          </a:p>
          <a:p>
            <a:pPr marL="952500" lvl="1" indent="-495300" algn="l">
              <a:spcBef>
                <a:spcPct val="20000"/>
              </a:spcBef>
              <a:buClr>
                <a:schemeClr val="bg2"/>
              </a:buClr>
              <a:buSzPct val="75000"/>
              <a:buBlip>
                <a:blip r:embed="rId3"/>
              </a:buBlip>
              <a:defRPr/>
            </a:pPr>
            <a:r>
              <a:rPr lang="en-US" sz="2200" b="0" kern="0" dirty="0" smtClean="0">
                <a:solidFill>
                  <a:srgbClr val="000099"/>
                </a:solidFill>
                <a:latin typeface="Cambria" pitchFamily="18" charset="0"/>
              </a:rPr>
              <a:t>Overview of different models, esp. RANS (Chap VII)</a:t>
            </a:r>
          </a:p>
          <a:p>
            <a:pPr marL="952500" lvl="1" indent="-495300" algn="l">
              <a:spcBef>
                <a:spcPct val="20000"/>
              </a:spcBef>
              <a:buClr>
                <a:schemeClr val="bg2"/>
              </a:buClr>
              <a:buSzPct val="75000"/>
              <a:buBlip>
                <a:blip r:embed="rId3"/>
              </a:buBlip>
              <a:defRPr/>
            </a:pPr>
            <a:r>
              <a:rPr lang="en-US" sz="2200" b="0" kern="0" dirty="0" smtClean="0">
                <a:solidFill>
                  <a:srgbClr val="000099"/>
                </a:solidFill>
                <a:latin typeface="Cambria" pitchFamily="18" charset="0"/>
              </a:rPr>
              <a:t>LES (Chap VIII)</a:t>
            </a:r>
            <a:endParaRPr lang="en-US" sz="2200" b="0" kern="0" dirty="0" smtClean="0">
              <a:solidFill>
                <a:srgbClr val="C00000"/>
              </a:solidFill>
              <a:latin typeface="Cambria" pitchFamily="18" charset="0"/>
            </a:endParaRPr>
          </a:p>
          <a:p>
            <a:pPr marL="952500" lvl="1" indent="-495300" algn="l">
              <a:spcBef>
                <a:spcPct val="20000"/>
              </a:spcBef>
              <a:buClr>
                <a:schemeClr val="bg2"/>
              </a:buClr>
              <a:buSzPct val="75000"/>
              <a:buBlip>
                <a:blip r:embed="rId3"/>
              </a:buBlip>
              <a:defRPr/>
            </a:pPr>
            <a:r>
              <a:rPr kumimoji="1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Introduction</a:t>
            </a:r>
            <a:r>
              <a:rPr kumimoji="1" lang="en-US" sz="2200" b="0" i="0" u="none" strike="noStrike" kern="0" cap="none" spc="0" normalizeH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mbria" pitchFamily="18" charset="0"/>
              </a:rPr>
              <a:t> to PDF </a:t>
            </a:r>
            <a:r>
              <a:rPr lang="en-US" sz="2000" b="0" kern="0" dirty="0" smtClean="0">
                <a:solidFill>
                  <a:srgbClr val="000099"/>
                </a:solidFill>
                <a:latin typeface="Cambria" pitchFamily="18" charset="0"/>
              </a:rPr>
              <a:t>(Chap IX) *</a:t>
            </a:r>
            <a:endParaRPr kumimoji="1" 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mbria" pitchFamily="18" charset="0"/>
            </a:endParaRPr>
          </a:p>
          <a:p>
            <a:pPr marL="952500" marR="0" lvl="1" indent="-4953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  <a:tabLst/>
              <a:defRPr/>
            </a:pPr>
            <a:endParaRPr kumimoji="1" lang="en-US" sz="20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mbria" pitchFamily="18" charset="0"/>
            </a:endParaRPr>
          </a:p>
        </p:txBody>
      </p:sp>
      <p:sp>
        <p:nvSpPr>
          <p:cNvPr id="8" name="5-Point Star 7"/>
          <p:cNvSpPr/>
          <p:nvPr/>
        </p:nvSpPr>
        <p:spPr bwMode="auto">
          <a:xfrm>
            <a:off x="2895600" y="4221480"/>
            <a:ext cx="274320" cy="274320"/>
          </a:xfrm>
          <a:prstGeom prst="star5">
            <a:avLst/>
          </a:prstGeom>
          <a:solidFill>
            <a:srgbClr val="009900"/>
          </a:solidFill>
          <a:ln w="25400" cap="sq" algn="ctr">
            <a:noFill/>
            <a:miter lim="800000"/>
            <a:headEnd/>
            <a:tailEnd/>
          </a:ln>
        </p:spPr>
        <p:txBody>
          <a:bodyPr lIns="90000" tIns="46800" rIns="90000" bIns="46800" rtlCol="0" anchor="ctr"/>
          <a:lstStyle/>
          <a:p>
            <a:pPr algn="l"/>
            <a:endParaRPr lang="en-US" sz="2400" dirty="0" smtClean="0">
              <a:solidFill>
                <a:srgbClr val="0000FF"/>
              </a:solidFill>
              <a:latin typeface="Cambria" pitchFamily="18" charset="0"/>
              <a:ea typeface="Cambria Math" pitchFamily="18" charset="0"/>
              <a:cs typeface="B Nazanin" pitchFamily="2" charset="-78"/>
            </a:endParaRPr>
          </a:p>
        </p:txBody>
      </p:sp>
      <p:sp>
        <p:nvSpPr>
          <p:cNvPr id="9" name="5-Point Star 8"/>
          <p:cNvSpPr/>
          <p:nvPr/>
        </p:nvSpPr>
        <p:spPr bwMode="auto">
          <a:xfrm>
            <a:off x="3154680" y="4221480"/>
            <a:ext cx="274320" cy="274320"/>
          </a:xfrm>
          <a:prstGeom prst="star5">
            <a:avLst/>
          </a:prstGeom>
          <a:solidFill>
            <a:srgbClr val="009900"/>
          </a:solidFill>
          <a:ln w="25400" cap="sq" algn="ctr">
            <a:noFill/>
            <a:miter lim="800000"/>
            <a:headEnd/>
            <a:tailEnd/>
          </a:ln>
        </p:spPr>
        <p:txBody>
          <a:bodyPr lIns="90000" tIns="46800" rIns="90000" bIns="46800" rtlCol="0" anchor="ctr"/>
          <a:lstStyle/>
          <a:p>
            <a:pPr algn="l"/>
            <a:endParaRPr lang="en-US" sz="2400" dirty="0" smtClean="0">
              <a:solidFill>
                <a:srgbClr val="0000FF"/>
              </a:solidFill>
              <a:latin typeface="Cambria" pitchFamily="18" charset="0"/>
              <a:ea typeface="Cambria Math" pitchFamily="18" charset="0"/>
              <a:cs typeface="B Nazanin" pitchFamily="2" charset="-78"/>
            </a:endParaRPr>
          </a:p>
        </p:txBody>
      </p:sp>
      <p:sp>
        <p:nvSpPr>
          <p:cNvPr id="10" name="5-Point Star 9"/>
          <p:cNvSpPr/>
          <p:nvPr/>
        </p:nvSpPr>
        <p:spPr bwMode="auto">
          <a:xfrm>
            <a:off x="3429000" y="4221480"/>
            <a:ext cx="274320" cy="274320"/>
          </a:xfrm>
          <a:prstGeom prst="star5">
            <a:avLst/>
          </a:prstGeom>
          <a:solidFill>
            <a:srgbClr val="009900"/>
          </a:solidFill>
          <a:ln w="25400" cap="sq" algn="ctr">
            <a:noFill/>
            <a:miter lim="800000"/>
            <a:headEnd/>
            <a:tailEnd/>
          </a:ln>
        </p:spPr>
        <p:txBody>
          <a:bodyPr lIns="90000" tIns="46800" rIns="90000" bIns="46800" rtlCol="0" anchor="ctr"/>
          <a:lstStyle/>
          <a:p>
            <a:pPr algn="l"/>
            <a:endParaRPr lang="en-US" sz="2400" dirty="0" smtClean="0">
              <a:solidFill>
                <a:srgbClr val="0000FF"/>
              </a:solidFill>
              <a:latin typeface="Cambria" pitchFamily="18" charset="0"/>
              <a:ea typeface="Cambria Math" pitchFamily="18" charset="0"/>
              <a:cs typeface="B Nazanin" pitchFamily="2" charset="-78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Default Design">
  <a:themeElements>
    <a:clrScheme name="Custom 1">
      <a:dk1>
        <a:srgbClr val="009999"/>
      </a:dk1>
      <a:lt1>
        <a:srgbClr val="FFFFFF"/>
      </a:lt1>
      <a:dk2>
        <a:srgbClr val="336699"/>
      </a:dk2>
      <a:lt2>
        <a:srgbClr val="010000"/>
      </a:lt2>
      <a:accent1>
        <a:srgbClr val="CCECFF"/>
      </a:accent1>
      <a:accent2>
        <a:srgbClr val="FFFFCC"/>
      </a:accent2>
      <a:accent3>
        <a:srgbClr val="FFFFFF"/>
      </a:accent3>
      <a:accent4>
        <a:srgbClr val="008282"/>
      </a:accent4>
      <a:accent5>
        <a:srgbClr val="E2F4FF"/>
      </a:accent5>
      <a:accent6>
        <a:srgbClr val="E7E7B9"/>
      </a:accent6>
      <a:hlink>
        <a:srgbClr val="00B050"/>
      </a:hlink>
      <a:folHlink>
        <a:srgbClr val="FFFFCC"/>
      </a:folHlink>
    </a:clrScheme>
    <a:fontScheme name="Default Design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sq" algn="ctr">
          <a:solidFill>
            <a:srgbClr val="0000FF"/>
          </a:solidFill>
          <a:miter lim="800000"/>
          <a:headEnd/>
          <a:tailEnd/>
        </a:ln>
      </a:spPr>
      <a:bodyPr lIns="90000" tIns="46800" rIns="90000" bIns="46800"/>
      <a:lstStyle>
        <a:defPPr algn="l">
          <a:defRPr sz="2400" dirty="0" smtClean="0">
            <a:solidFill>
              <a:srgbClr val="0000FF"/>
            </a:solidFill>
            <a:latin typeface="Cambria" pitchFamily="18" charset="0"/>
            <a:ea typeface="Cambria Math" pitchFamily="18" charset="0"/>
            <a:cs typeface="B Nazanin" pitchFamily="2" charset="-7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00"/>
        </a:solidFill>
        <a:ln w="25400" cap="sq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18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Script" pitchFamily="66"/>
            <a:cs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9999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8282"/>
        </a:accent4>
        <a:accent5>
          <a:srgbClr val="E2F4FF"/>
        </a:accent5>
        <a:accent6>
          <a:srgbClr val="E7E7B9"/>
        </a:accent6>
        <a:hlink>
          <a:srgbClr val="FF9966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800000"/>
        </a:dk1>
        <a:lt1>
          <a:srgbClr val="FFFFFF"/>
        </a:lt1>
        <a:dk2>
          <a:srgbClr val="000000"/>
        </a:dk2>
        <a:lt2>
          <a:srgbClr val="FFFFCC"/>
        </a:lt2>
        <a:accent1>
          <a:srgbClr val="000000"/>
        </a:accent1>
        <a:accent2>
          <a:srgbClr val="000099"/>
        </a:accent2>
        <a:accent3>
          <a:srgbClr val="AAAAAA"/>
        </a:accent3>
        <a:accent4>
          <a:srgbClr val="DADADA"/>
        </a:accent4>
        <a:accent5>
          <a:srgbClr val="AAAAAA"/>
        </a:accent5>
        <a:accent6>
          <a:srgbClr val="00008A"/>
        </a:accent6>
        <a:hlink>
          <a:srgbClr val="800000"/>
        </a:hlink>
        <a:folHlink>
          <a:srgbClr val="00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C0C0C0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C8C8C8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Generic</Template>
  <TotalTime>12259</TotalTime>
  <Words>535</Words>
  <Application>Microsoft Office PowerPoint</Application>
  <PresentationFormat>On-screen Show (4:3)</PresentationFormat>
  <Paragraphs>160</Paragraphs>
  <Slides>13</Slides>
  <Notes>12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Default Design</vt:lpstr>
      <vt:lpstr>Equation</vt:lpstr>
      <vt:lpstr>CHAP I. Introduction</vt:lpstr>
      <vt:lpstr>Turbulence</vt:lpstr>
      <vt:lpstr>Techniques for Turbulence Simulation</vt:lpstr>
      <vt:lpstr>Techniques for Turbulence Simulation</vt:lpstr>
      <vt:lpstr>Techniques for Turbulence Simulation</vt:lpstr>
      <vt:lpstr>Techniques for Turbulence Simulation</vt:lpstr>
      <vt:lpstr>Techniques for Turbulence Simulation</vt:lpstr>
      <vt:lpstr>Techniques for Turbulence Simulation</vt:lpstr>
      <vt:lpstr>Slide 9</vt:lpstr>
      <vt:lpstr>Techniques for Turbulence Simulation</vt:lpstr>
      <vt:lpstr>Techniques for Turbulence Simulation</vt:lpstr>
      <vt:lpstr>Current state of LES simulations</vt:lpstr>
      <vt:lpstr>Course Outline</vt:lpstr>
    </vt:vector>
  </TitlesOfParts>
  <Company>University of Kentucky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goes here</dc:title>
  <dc:creator>walters</dc:creator>
  <cp:lastModifiedBy>PARAND</cp:lastModifiedBy>
  <cp:revision>1098</cp:revision>
  <cp:lastPrinted>1998-11-16T01:39:37Z</cp:lastPrinted>
  <dcterms:created xsi:type="dcterms:W3CDTF">1998-09-29T16:04:35Z</dcterms:created>
  <dcterms:modified xsi:type="dcterms:W3CDTF">2013-09-08T19:11:26Z</dcterms:modified>
</cp:coreProperties>
</file>